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2C_E491A74.xml" ContentType="application/vnd.ms-powerpoint.comments+xml"/>
  <Override PartName="/ppt/notesSlides/notesSlide7.xml" ContentType="application/vnd.openxmlformats-officedocument.presentationml.notesSlide+xml"/>
  <Override PartName="/ppt/comments/modernComment_13C_54748BC7.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31_AC501D08.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35_9915D96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4"/>
  </p:sldMasterIdLst>
  <p:notesMasterIdLst>
    <p:notesMasterId r:id="rId27"/>
  </p:notesMasterIdLst>
  <p:sldIdLst>
    <p:sldId id="322" r:id="rId5"/>
    <p:sldId id="296" r:id="rId6"/>
    <p:sldId id="288" r:id="rId7"/>
    <p:sldId id="258" r:id="rId8"/>
    <p:sldId id="298" r:id="rId9"/>
    <p:sldId id="299" r:id="rId10"/>
    <p:sldId id="300" r:id="rId11"/>
    <p:sldId id="316" r:id="rId12"/>
    <p:sldId id="303" r:id="rId13"/>
    <p:sldId id="304" r:id="rId14"/>
    <p:sldId id="305" r:id="rId15"/>
    <p:sldId id="306" r:id="rId16"/>
    <p:sldId id="308" r:id="rId17"/>
    <p:sldId id="320" r:id="rId18"/>
    <p:sldId id="310" r:id="rId19"/>
    <p:sldId id="311" r:id="rId20"/>
    <p:sldId id="312" r:id="rId21"/>
    <p:sldId id="319" r:id="rId22"/>
    <p:sldId id="317" r:id="rId23"/>
    <p:sldId id="318" r:id="rId24"/>
    <p:sldId id="321" r:id="rId25"/>
    <p:sldId id="309" r:id="rId26"/>
  </p:sldIdLst>
  <p:sldSz cx="12192000" cy="6858000"/>
  <p:notesSz cx="6807200" cy="99393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4" userDrawn="1">
          <p15:clr>
            <a:srgbClr val="A4A3A4"/>
          </p15:clr>
        </p15:guide>
        <p15:guide id="2" pos="166">
          <p15:clr>
            <a:srgbClr val="A4A3A4"/>
          </p15:clr>
        </p15:guide>
        <p15:guide id="3" pos="1271">
          <p15:clr>
            <a:srgbClr val="A4A3A4"/>
          </p15:clr>
        </p15:guide>
        <p15:guide id="4" orient="horz" pos="4247">
          <p15:clr>
            <a:srgbClr val="A4A3A4"/>
          </p15:clr>
        </p15:guide>
        <p15:guide id="5" orient="horz" pos="482">
          <p15:clr>
            <a:srgbClr val="A4A3A4"/>
          </p15:clr>
        </p15:guide>
        <p15:guide id="6" orient="horz" pos="1280">
          <p15:clr>
            <a:srgbClr val="A4A3A4"/>
          </p15:clr>
        </p15:guide>
        <p15:guide id="7" orient="horz" pos="799">
          <p15:clr>
            <a:srgbClr val="A4A3A4"/>
          </p15:clr>
        </p15:guide>
      </p15:sldGuideLst>
    </p:ext>
    <p:ext uri="{2D200454-40CA-4A62-9FC3-DE9A4176ACB9}">
      <p15:notesGuideLst xmlns:p15="http://schemas.microsoft.com/office/powerpoint/2012/main">
        <p15:guide id="1" orient="horz" pos="3131">
          <p15:clr>
            <a:srgbClr val="A4A3A4"/>
          </p15:clr>
        </p15:guide>
        <p15:guide id="2" pos="2145">
          <p15:clr>
            <a:srgbClr val="A4A3A4"/>
          </p15:clr>
        </p15:guide>
      </p15:notes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2" roundtripDataSignature="AMtx7mjjLadHqMIiphYAwzpEX8auZJ6O0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1F250B-7AF7-6F6A-1832-5AC97AD76E8F}" name="5I28 藤本 瑛太【鈴鹿】" initials="藤5" userId="S::r03i30@ed.cc.suzuka-ct.ac.jp::543708ce-56f0-4656-a691-13e7f3e8f464" providerId="AD"/>
  <p188:author id="{51A3FA2A-1C11-D25D-F93A-B66DC7C2E320}" name="辛川　友斗【佐世保学生】" initials="辛川" userId="S::s2109@sasebo.kosen-ac.jp::56308e68-2c97-4787-b09b-96cc3e474057" providerId="AD"/>
  <p188:author id="{A3368384-447B-3926-2C36-338A06195733}" name="5I24 野下 航輝【鈴鹿】" initials="5航" userId="S::r03i26@ed.cc.suzuka-ct.ac.jp::e3d47e70-bf56-4767-89ad-362d8c7c0f8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FFFF"/>
    <a:srgbClr val="A70000"/>
    <a:srgbClr val="54C1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0F3A1-CACD-534F-B686-B8B13B876A33}" v="158" dt="2025-04-29T07:36:44.376"/>
    <p1510:client id="{E53A5D6A-64C8-485E-B96C-17B9CEE3DE35}" v="1187" dt="2025-04-29T14:07:19.032"/>
  </p1510:revLst>
</p1510:revInfo>
</file>

<file path=ppt/tableStyles.xml><?xml version="1.0" encoding="utf-8"?>
<a:tblStyleLst xmlns:a="http://schemas.openxmlformats.org/drawingml/2006/main" def="{5FA7AA36-D1FC-4EAE-9539-4A473F75BAE8}">
  <a:tblStyle styleId="{5FA7AA36-D1FC-4EAE-9539-4A473F75BAE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719"/>
  </p:normalViewPr>
  <p:slideViewPr>
    <p:cSldViewPr snapToGrid="0">
      <p:cViewPr varScale="1">
        <p:scale>
          <a:sx n="120" d="100"/>
          <a:sy n="120" d="100"/>
        </p:scale>
        <p:origin x="256" y="176"/>
      </p:cViewPr>
      <p:guideLst>
        <p:guide orient="horz" pos="414"/>
        <p:guide pos="166"/>
        <p:guide pos="1271"/>
        <p:guide orient="horz" pos="4247"/>
        <p:guide orient="horz" pos="482"/>
        <p:guide orient="horz" pos="1280"/>
        <p:guide orient="horz" pos="799"/>
      </p:guideLst>
    </p:cSldViewPr>
  </p:slideViewPr>
  <p:notesTextViewPr>
    <p:cViewPr>
      <p:scale>
        <a:sx n="1" d="1"/>
        <a:sy n="1" d="1"/>
      </p:scale>
      <p:origin x="0" y="0"/>
    </p:cViewPr>
  </p:notesTextViewPr>
  <p:notesViewPr>
    <p:cSldViewPr snapToGrid="0">
      <p:cViewPr>
        <p:scale>
          <a:sx n="1" d="2"/>
          <a:sy n="1" d="2"/>
        </p:scale>
        <p:origin x="0" y="0"/>
      </p:cViewPr>
      <p:guideLst>
        <p:guide orient="horz" pos="3131"/>
        <p:guide pos="214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42" Type="http://customschemas.google.com/relationships/presentationmetadata" Target="metadata"/><Relationship Id="rId47"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4.xml"/></Relationships>
</file>

<file path=ppt/comments/modernComment_12C_E491A74.xml><?xml version="1.0" encoding="utf-8"?>
<p188:cmLst xmlns:a="http://schemas.openxmlformats.org/drawingml/2006/main" xmlns:r="http://schemas.openxmlformats.org/officeDocument/2006/relationships" xmlns:p188="http://schemas.microsoft.com/office/powerpoint/2018/8/main">
  <p188:cm id="{4C3295BB-1526-6B49-954D-0F86697EAB77}" authorId="{A3368384-447B-3926-2C36-338A06195733}" created="2025-04-18T05:13:35.156">
    <ac:txMkLst xmlns:ac="http://schemas.microsoft.com/office/drawing/2013/main/command">
      <pc:docMk xmlns:pc="http://schemas.microsoft.com/office/powerpoint/2013/main/command"/>
      <pc:sldMk xmlns:pc="http://schemas.microsoft.com/office/powerpoint/2013/main/command" cId="3725400774" sldId="273"/>
      <ac:spMk id="6" creationId="{F69216CE-6C3B-8CEF-C0EE-DF222CBBC683}"/>
      <ac:txMk cp="0" len="360">
        <ac:context len="362" hash="4056904494"/>
      </ac:txMk>
    </ac:txMkLst>
    <p188:txBody>
      <a:bodyPr/>
      <a:lstStyle/>
      <a:p>
        <a:r>
          <a:rPr lang="ja-JP" altLang="en-US"/>
          <a:t>従来の渦電流センサ・・・正弦波電流
パルス渦電流センサ・・・パルス電流
海底の泥の中に隠れた金属ゴミを探知する。
非接触で探知可能（ワイヤレス？）
水中でも使用可能
パルス渦電流センサのメリット
深さ方向の検出が可能
パルスを流した後の渦電流の減衰パターンを解析することで、金属がどれくらい深くにあるかを推定できる。
→ 砂や泥に部分的に埋もれた沈殿物でも検出可能。
腐食や減肉（劣化）の検知にも強い
特にインフラ点検などで使われており、腐食箇所の特定や厚み変化の計測ができる。
視界や光に依存しない
海中の濁りや暗さに左右されず、非接触で金属を検出できる。
多層構造の検査に適している
たとえば、コンクリート中の鉄筋、塗装の下の腐食など**“覆われた金属”**の検知に対応。
💡 どんな場面に向いている？
パルス渦電流センサは、以下のような場面に非常に適しています：
泥・砂に半分埋もれている沈没物の探査
海底に長期間沈んで腐食が進んだ金属物の検知
構造物の下にある金属製異物の探査
</a:t>
        </a:r>
      </a:p>
    </p188:txBody>
  </p188:cm>
</p188:cmLst>
</file>

<file path=ppt/comments/modernComment_13C_54748BC7.xml><?xml version="1.0" encoding="utf-8"?>
<p188:cmLst xmlns:a="http://schemas.openxmlformats.org/drawingml/2006/main" xmlns:r="http://schemas.openxmlformats.org/officeDocument/2006/relationships" xmlns:p188="http://schemas.microsoft.com/office/powerpoint/2018/8/main">
  <p188:cm id="{CAB78C91-D606-478E-BC38-45340AC8149B}" authorId="{51A3FA2A-1C11-D25D-F93A-B66DC7C2E320}" created="2025-04-28T08:18:05.905">
    <pc:sldMkLst xmlns:pc="http://schemas.microsoft.com/office/powerpoint/2013/main/command">
      <pc:docMk/>
      <pc:sldMk cId="1416924103" sldId="316"/>
    </pc:sldMkLst>
    <p188:txBody>
      <a:bodyPr/>
      <a:lstStyle/>
      <a:p>
        <a:r>
          <a:rPr lang="en-US"/>
          <a:t>5Gは障害物に弱いが転送可能なデータ量が多い</a:t>
        </a:r>
      </a:p>
    </p188:txBody>
  </p188:cm>
</p188:cmLst>
</file>

<file path=ppt/comments/modernComment_131_AC501D08.xml><?xml version="1.0" encoding="utf-8"?>
<p188:cmLst xmlns:a="http://schemas.openxmlformats.org/drawingml/2006/main" xmlns:r="http://schemas.openxmlformats.org/officeDocument/2006/relationships" xmlns:p188="http://schemas.microsoft.com/office/powerpoint/2018/8/main">
  <p188:cm id="{49B73B85-06A7-1E46-A6F1-B751BAC0C3AF}" authorId="{A3368384-447B-3926-2C36-338A06195733}" created="2025-04-25T05:21:44.215">
    <pc:sldMkLst xmlns:pc="http://schemas.microsoft.com/office/powerpoint/2013/main/command">
      <pc:docMk/>
      <pc:sldMk cId="1944597447" sldId="284"/>
    </pc:sldMkLst>
    <p188:replyLst>
      <p188:reply id="{A7F1C95D-F39D-384B-BAB8-742C1A4A3C23}" authorId="{A3368384-447B-3926-2C36-338A06195733}" created="2025-04-25T05:22:10.064">
        <p188:txBody>
          <a:bodyPr/>
          <a:lstStyle/>
          <a:p>
            <a:r>
              <a:rPr lang="ja-JP" altLang="en-US"/>
              <a:t>Pythonはセンサーデータ処理やAWS Lambdaとの相性が良く、短時間で実装可能
Node.jsはリアルタイム性が必要なWebサービスに向いており、MQTTとの連携も容易
Node-REDを使えば、エンジニアでなくても可視化画面の構築が可能で、開発効率が高い</a:t>
            </a:r>
          </a:p>
        </p188:txBody>
      </p188:reply>
    </p188:replyLst>
    <p188:txBody>
      <a:bodyPr/>
      <a:lstStyle/>
      <a:p>
        <a:r>
          <a:rPr lang="ja-JP" altLang="en-US"/>
          <a:t>3. データの流れ（End-to-End）
水中ドローンが金属反応信号や位置情報を取得
データをMQTTプロトコルで送信（例：Wi-Fi経由でゲートウェイへ）
ゲートウェイがAWS IoT CoreにMQTTで送信
AWS Lambdaがデータを受け取り、必要に応じて整形・分類
加工後のデータをDynamoDBやS3に保存
API GatewayやNode-RED UIでリアルタイム表示・地図上にプロット</a:t>
        </a:r>
      </a:p>
    </p188:txBody>
  </p188:cm>
</p188:cmLst>
</file>

<file path=ppt/comments/modernComment_135_9915D968.xml><?xml version="1.0" encoding="utf-8"?>
<p188:cmLst xmlns:a="http://schemas.openxmlformats.org/drawingml/2006/main" xmlns:r="http://schemas.openxmlformats.org/officeDocument/2006/relationships" xmlns:p188="http://schemas.microsoft.com/office/powerpoint/2018/8/main">
  <p188:cm id="{BE403279-EB04-4F3F-97A1-F6CEAA73A7E0}" authorId="{011F250B-7AF7-6F6A-1832-5AC97AD76E8F}" created="2025-04-25T06:43:05.991">
    <pc:sldMkLst xmlns:pc="http://schemas.microsoft.com/office/powerpoint/2013/main/command">
      <pc:docMk/>
      <pc:sldMk cId="3858531282" sldId="274"/>
    </pc:sldMkLst>
    <p188:replyLst>
      <p188:reply id="{08F0AE70-E6D5-4FB5-9A23-3F4C44494915}" authorId="{011F250B-7AF7-6F6A-1832-5AC97AD76E8F}" created="2025-04-25T06:43:57.609">
        <p188:txBody>
          <a:bodyPr/>
          <a:lstStyle/>
          <a:p>
            <a:r>
              <a:rPr lang="ja-JP" altLang="en-US"/>
              <a:t>実際に書くときは、
・水中ドローン
・金属探知センサ
・ペリカンケース開発費用
・クラウド(AWS)利用費
・パソコン
・実験場レンタル費用
くらいの項目に絞って表を書くと、きれいに(かつ細かいところで悩む必要なく)できるよ</a:t>
            </a:r>
          </a:p>
        </p188:txBody>
      </p188:reply>
    </p188:replyLst>
    <p188:txBody>
      <a:bodyPr/>
      <a:lstStyle/>
      <a:p>
        <a:r>
          <a:rPr lang="ja-JP" altLang="en-US"/>
          <a:t>必要なもの(スライドを見る感じ)
・水中ドローン
・金属探知センサ
・ペリカンケース
　・テザーケーブル
　・テザーインターフェース
　・ラズパイ
　　・GPSモジュール
　　・4G通信モジュール
　・バッテリー的なやつ？
・クラウド (AWS、従量課金？)
・パソコン (プログラミング用など、必要なものにカウントするかは謎)
・うみらぼの実験場レンタル費用 (5000円/人日)
サッとスライドを流しただけだから、細かいところとか、専門的な部分が欠けてるかもしれないのはご了承を</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0"/>
            <a:ext cx="2949787" cy="496967"/>
          </a:xfrm>
          <a:prstGeom prst="rect">
            <a:avLst/>
          </a:prstGeom>
          <a:noFill/>
          <a:ln>
            <a:noFill/>
          </a:ln>
        </p:spPr>
        <p:txBody>
          <a:bodyPr spcFirstLastPara="1" wrap="square" lIns="92225" tIns="46100" rIns="92225" bIns="461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5839" y="0"/>
            <a:ext cx="2949787" cy="496967"/>
          </a:xfrm>
          <a:prstGeom prst="rect">
            <a:avLst/>
          </a:prstGeom>
          <a:noFill/>
          <a:ln>
            <a:noFill/>
          </a:ln>
        </p:spPr>
        <p:txBody>
          <a:bodyPr spcFirstLastPara="1" wrap="square" lIns="92225" tIns="46100" rIns="92225" bIns="46100" anchor="t" anchorCtr="0">
            <a:noAutofit/>
          </a:bodyPr>
          <a:lstStyle>
            <a:lvl1pPr marR="0" lvl="0" algn="r" rtl="0">
              <a:spcBef>
                <a:spcPts val="0"/>
              </a:spcBef>
              <a:spcAft>
                <a:spcPts val="0"/>
              </a:spcAft>
              <a:buSzPts val="1400"/>
              <a:buNone/>
              <a:defRPr sz="1400" b="0" i="0" u="none" strike="noStrike" cap="none">
                <a:solidFill>
                  <a:schemeClr val="dk1"/>
                </a:solidFill>
                <a:latin typeface="MS PGothic"/>
                <a:ea typeface="MS PGothic"/>
                <a:cs typeface="MS PGothic"/>
                <a:sym typeface="MS P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721" y="4721188"/>
            <a:ext cx="5445760" cy="4472702"/>
          </a:xfrm>
          <a:prstGeom prst="rect">
            <a:avLst/>
          </a:prstGeom>
          <a:noFill/>
          <a:ln>
            <a:noFill/>
          </a:ln>
        </p:spPr>
        <p:txBody>
          <a:bodyPr spcFirstLastPara="1" wrap="square" lIns="92225" tIns="46100" rIns="92225" bIns="461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440646"/>
            <a:ext cx="2949787" cy="496967"/>
          </a:xfrm>
          <a:prstGeom prst="rect">
            <a:avLst/>
          </a:prstGeom>
          <a:noFill/>
          <a:ln>
            <a:noFill/>
          </a:ln>
        </p:spPr>
        <p:txBody>
          <a:bodyPr spcFirstLastPara="1" wrap="square" lIns="92225" tIns="46100" rIns="92225" bIns="461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5839" y="9440646"/>
            <a:ext cx="2949787" cy="496967"/>
          </a:xfrm>
          <a:prstGeom prst="rect">
            <a:avLst/>
          </a:prstGeom>
          <a:noFill/>
          <a:ln>
            <a:noFill/>
          </a:ln>
        </p:spPr>
        <p:txBody>
          <a:bodyPr spcFirstLastPara="1" wrap="square" lIns="92225" tIns="46100" rIns="92225" bIns="46100" anchor="b" anchorCtr="0">
            <a:noAutofit/>
          </a:bodyPr>
          <a:lstStyle/>
          <a:p>
            <a:pPr marL="0" marR="0" lvl="0" indent="0" algn="r" rtl="0">
              <a:spcBef>
                <a:spcPts val="0"/>
              </a:spcBef>
              <a:spcAft>
                <a:spcPts val="0"/>
              </a:spcAft>
              <a:buNone/>
            </a:pPr>
            <a:fld id="{00000000-1234-1234-1234-123412341234}" type="slidenum">
              <a:rPr lang="en-US" alt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78" name="Google Shape;78;p1: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A97F4F8-BFCD-B588-6657-5648F5587425}"/>
            </a:ext>
          </a:extLst>
        </p:cNvPr>
        <p:cNvGrpSpPr/>
        <p:nvPr/>
      </p:nvGrpSpPr>
      <p:grpSpPr>
        <a:xfrm>
          <a:off x="0" y="0"/>
          <a:ext cx="0" cy="0"/>
          <a:chOff x="0" y="0"/>
          <a:chExt cx="0" cy="0"/>
        </a:xfrm>
      </p:grpSpPr>
      <p:sp>
        <p:nvSpPr>
          <p:cNvPr id="87" name="Google Shape;87;p2:notes">
            <a:extLst>
              <a:ext uri="{FF2B5EF4-FFF2-40B4-BE49-F238E27FC236}">
                <a16:creationId xmlns:a16="http://schemas.microsoft.com/office/drawing/2014/main" id="{40372D17-6262-92C2-5AD0-68D36840F063}"/>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88" name="Google Shape;88;p2:notes">
            <a:extLst>
              <a:ext uri="{FF2B5EF4-FFF2-40B4-BE49-F238E27FC236}">
                <a16:creationId xmlns:a16="http://schemas.microsoft.com/office/drawing/2014/main" id="{6DBF524B-BB07-C6CB-476A-6F963FD71B35}"/>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537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4:notes"/>
          <p:cNvSpPr txBox="1">
            <a:spLocks noGrp="1"/>
          </p:cNvSpPr>
          <p:nvPr>
            <p:ph type="body" idx="1"/>
          </p:nvPr>
        </p:nvSpPr>
        <p:spPr>
          <a:xfrm>
            <a:off x="680721" y="4721188"/>
            <a:ext cx="5445760" cy="4472702"/>
          </a:xfrm>
          <a:prstGeom prst="rect">
            <a:avLst/>
          </a:prstGeom>
          <a:noFill/>
          <a:ln>
            <a:noFill/>
          </a:ln>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21" name="Google Shape;121;p4:notes"/>
          <p:cNvSpPr txBox="1">
            <a:spLocks noGrp="1"/>
          </p:cNvSpPr>
          <p:nvPr>
            <p:ph type="dt" idx="10"/>
          </p:nvPr>
        </p:nvSpPr>
        <p:spPr>
          <a:xfrm>
            <a:off x="3855839" y="0"/>
            <a:ext cx="2949787" cy="496967"/>
          </a:xfrm>
          <a:prstGeom prst="rect">
            <a:avLst/>
          </a:prstGeom>
          <a:noFill/>
          <a:ln>
            <a:noFill/>
          </a:ln>
        </p:spPr>
        <p:txBody>
          <a:bodyPr spcFirstLastPara="1" wrap="square" lIns="92225" tIns="46100" rIns="92225" bIns="461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MS PGothic"/>
              <a:buNone/>
              <a:tabLst/>
              <a:defRPr/>
            </a:pPr>
            <a:r>
              <a:rPr kumimoji="0" lang="ja-JP" altLang="en-US" sz="1400" b="0" i="0" u="none" strike="noStrike" kern="0" cap="none" spc="0" normalizeH="0" baseline="0" noProof="0">
                <a:ln>
                  <a:noFill/>
                </a:ln>
                <a:solidFill>
                  <a:srgbClr val="000000"/>
                </a:solidFill>
                <a:effectLst/>
                <a:uLnTx/>
                <a:uFillTx/>
                <a:latin typeface="MS PGothic"/>
                <a:ea typeface="MS PGothic"/>
                <a:cs typeface="MS PGothic"/>
                <a:sym typeface="MS PGothic"/>
              </a:rPr>
              <a:t>機密性○</a:t>
            </a:r>
            <a:endParaRPr kumimoji="0" sz="1400" b="0" i="0" u="none" strike="noStrike" kern="0" cap="none" spc="0" normalizeH="0" baseline="0" noProof="0">
              <a:ln>
                <a:noFill/>
              </a:ln>
              <a:solidFill>
                <a:srgbClr val="000000"/>
              </a:solidFill>
              <a:effectLst/>
              <a:uLnTx/>
              <a:uFillTx/>
              <a:latin typeface="MS PGothic"/>
              <a:ea typeface="MS PGothic"/>
              <a:cs typeface="MS PGothic"/>
              <a:sym typeface="MS PGothic"/>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73E74B9-8E0A-3A6D-AC5D-D913F460E780}"/>
            </a:ext>
          </a:extLst>
        </p:cNvPr>
        <p:cNvGrpSpPr/>
        <p:nvPr/>
      </p:nvGrpSpPr>
      <p:grpSpPr>
        <a:xfrm>
          <a:off x="0" y="0"/>
          <a:ext cx="0" cy="0"/>
          <a:chOff x="0" y="0"/>
          <a:chExt cx="0" cy="0"/>
        </a:xfrm>
      </p:grpSpPr>
      <p:sp>
        <p:nvSpPr>
          <p:cNvPr id="130" name="Google Shape;130;p5:notes">
            <a:extLst>
              <a:ext uri="{FF2B5EF4-FFF2-40B4-BE49-F238E27FC236}">
                <a16:creationId xmlns:a16="http://schemas.microsoft.com/office/drawing/2014/main" id="{8A68E66B-76CD-507E-E916-301871803294}"/>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31" name="Google Shape;131;p5:notes">
            <a:extLst>
              <a:ext uri="{FF2B5EF4-FFF2-40B4-BE49-F238E27FC236}">
                <a16:creationId xmlns:a16="http://schemas.microsoft.com/office/drawing/2014/main" id="{8A41D7E1-F527-1B2B-43D2-2BCDE3289459}"/>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34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49A04975-FB18-716A-585D-2C9A29CE9422}"/>
            </a:ext>
          </a:extLst>
        </p:cNvPr>
        <p:cNvGrpSpPr/>
        <p:nvPr/>
      </p:nvGrpSpPr>
      <p:grpSpPr>
        <a:xfrm>
          <a:off x="0" y="0"/>
          <a:ext cx="0" cy="0"/>
          <a:chOff x="0" y="0"/>
          <a:chExt cx="0" cy="0"/>
        </a:xfrm>
      </p:grpSpPr>
      <p:sp>
        <p:nvSpPr>
          <p:cNvPr id="150" name="Google Shape;150;p6:notes">
            <a:extLst>
              <a:ext uri="{FF2B5EF4-FFF2-40B4-BE49-F238E27FC236}">
                <a16:creationId xmlns:a16="http://schemas.microsoft.com/office/drawing/2014/main" id="{DD9662AF-2C35-A0F9-9F32-D5D3DD1DD029}"/>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a:extLst>
              <a:ext uri="{FF2B5EF4-FFF2-40B4-BE49-F238E27FC236}">
                <a16:creationId xmlns:a16="http://schemas.microsoft.com/office/drawing/2014/main" id="{473FAAD2-19D1-EA02-F4DF-999FE1E7B371}"/>
              </a:ext>
            </a:extLst>
          </p:cNvPr>
          <p:cNvSpPr txBox="1">
            <a:spLocks noGrp="1"/>
          </p:cNvSpPr>
          <p:nvPr>
            <p:ph type="body" idx="1"/>
          </p:nvPr>
        </p:nvSpPr>
        <p:spPr>
          <a:xfrm>
            <a:off x="680721" y="4721188"/>
            <a:ext cx="5445760" cy="4472702"/>
          </a:xfrm>
          <a:prstGeom prst="rect">
            <a:avLst/>
          </a:prstGeom>
          <a:noFill/>
          <a:ln>
            <a:noFill/>
          </a:ln>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52" name="Google Shape;152;p6:notes">
            <a:extLst>
              <a:ext uri="{FF2B5EF4-FFF2-40B4-BE49-F238E27FC236}">
                <a16:creationId xmlns:a16="http://schemas.microsoft.com/office/drawing/2014/main" id="{868D15F0-6938-D8C2-A8AF-3A6708533F80}"/>
              </a:ext>
            </a:extLst>
          </p:cNvPr>
          <p:cNvSpPr txBox="1">
            <a:spLocks noGrp="1"/>
          </p:cNvSpPr>
          <p:nvPr>
            <p:ph type="dt" idx="10"/>
          </p:nvPr>
        </p:nvSpPr>
        <p:spPr>
          <a:xfrm>
            <a:off x="3855839" y="0"/>
            <a:ext cx="2949787" cy="496967"/>
          </a:xfrm>
          <a:prstGeom prst="rect">
            <a:avLst/>
          </a:prstGeom>
          <a:noFill/>
          <a:ln>
            <a:noFill/>
          </a:ln>
        </p:spPr>
        <p:txBody>
          <a:bodyPr spcFirstLastPara="1" wrap="square" lIns="92225" tIns="46100" rIns="92225" bIns="461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MS PGothic"/>
              <a:buNone/>
              <a:tabLst/>
              <a:defRPr/>
            </a:pPr>
            <a:r>
              <a:rPr kumimoji="0" lang="ja-JP" altLang="en-US" sz="1400" b="0" i="0" u="none" strike="noStrike" kern="0" cap="none" spc="0" normalizeH="0" baseline="0" noProof="0">
                <a:ln>
                  <a:noFill/>
                </a:ln>
                <a:solidFill>
                  <a:srgbClr val="000000"/>
                </a:solidFill>
                <a:effectLst/>
                <a:uLnTx/>
                <a:uFillTx/>
                <a:latin typeface="MS PGothic"/>
                <a:ea typeface="MS PGothic"/>
                <a:cs typeface="MS PGothic"/>
                <a:sym typeface="MS PGothic"/>
              </a:rPr>
              <a:t>機密性○</a:t>
            </a:r>
            <a:endParaRPr kumimoji="0" sz="1400" b="0" i="0" u="none" strike="noStrike" kern="0" cap="none" spc="0" normalizeH="0" baseline="0" noProof="0">
              <a:ln>
                <a:noFill/>
              </a:ln>
              <a:solidFill>
                <a:srgbClr val="000000"/>
              </a:solidFill>
              <a:effectLst/>
              <a:uLnTx/>
              <a:uFillTx/>
              <a:latin typeface="MS PGothic"/>
              <a:ea typeface="MS PGothic"/>
              <a:cs typeface="MS PGothic"/>
              <a:sym typeface="MS PGothic"/>
            </a:endParaRPr>
          </a:p>
        </p:txBody>
      </p:sp>
    </p:spTree>
    <p:extLst>
      <p:ext uri="{BB962C8B-B14F-4D97-AF65-F5344CB8AC3E}">
        <p14:creationId xmlns:p14="http://schemas.microsoft.com/office/powerpoint/2010/main" val="133662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4639A131-CC41-3937-86FF-E7BED3B9A904}"/>
            </a:ext>
          </a:extLst>
        </p:cNvPr>
        <p:cNvGrpSpPr/>
        <p:nvPr/>
      </p:nvGrpSpPr>
      <p:grpSpPr>
        <a:xfrm>
          <a:off x="0" y="0"/>
          <a:ext cx="0" cy="0"/>
          <a:chOff x="0" y="0"/>
          <a:chExt cx="0" cy="0"/>
        </a:xfrm>
      </p:grpSpPr>
      <p:sp>
        <p:nvSpPr>
          <p:cNvPr id="150" name="Google Shape;150;p6:notes">
            <a:extLst>
              <a:ext uri="{FF2B5EF4-FFF2-40B4-BE49-F238E27FC236}">
                <a16:creationId xmlns:a16="http://schemas.microsoft.com/office/drawing/2014/main" id="{3A2F7C99-47E5-9F19-1CEE-F6A1E3824F79}"/>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a:extLst>
              <a:ext uri="{FF2B5EF4-FFF2-40B4-BE49-F238E27FC236}">
                <a16:creationId xmlns:a16="http://schemas.microsoft.com/office/drawing/2014/main" id="{FECCAAB3-9621-8A7A-D543-A4787FB98F3F}"/>
              </a:ext>
            </a:extLst>
          </p:cNvPr>
          <p:cNvSpPr txBox="1">
            <a:spLocks noGrp="1"/>
          </p:cNvSpPr>
          <p:nvPr>
            <p:ph type="body" idx="1"/>
          </p:nvPr>
        </p:nvSpPr>
        <p:spPr>
          <a:xfrm>
            <a:off x="680721" y="4721188"/>
            <a:ext cx="5445760" cy="4472702"/>
          </a:xfrm>
          <a:prstGeom prst="rect">
            <a:avLst/>
          </a:prstGeom>
          <a:noFill/>
          <a:ln>
            <a:noFill/>
          </a:ln>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52" name="Google Shape;152;p6:notes">
            <a:extLst>
              <a:ext uri="{FF2B5EF4-FFF2-40B4-BE49-F238E27FC236}">
                <a16:creationId xmlns:a16="http://schemas.microsoft.com/office/drawing/2014/main" id="{F79B1E45-6EC5-11E0-2F8B-874935548797}"/>
              </a:ext>
            </a:extLst>
          </p:cNvPr>
          <p:cNvSpPr txBox="1">
            <a:spLocks noGrp="1"/>
          </p:cNvSpPr>
          <p:nvPr>
            <p:ph type="dt" idx="10"/>
          </p:nvPr>
        </p:nvSpPr>
        <p:spPr>
          <a:xfrm>
            <a:off x="3855839" y="0"/>
            <a:ext cx="2949787" cy="496967"/>
          </a:xfrm>
          <a:prstGeom prst="rect">
            <a:avLst/>
          </a:prstGeom>
          <a:noFill/>
          <a:ln>
            <a:noFill/>
          </a:ln>
        </p:spPr>
        <p:txBody>
          <a:bodyPr spcFirstLastPara="1" wrap="square" lIns="92225" tIns="46100" rIns="92225" bIns="461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MS PGothic"/>
              <a:buNone/>
              <a:tabLst/>
              <a:defRPr/>
            </a:pPr>
            <a:r>
              <a:rPr kumimoji="0" lang="ja-JP" altLang="en-US" sz="1400" b="0" i="0" u="none" strike="noStrike" kern="0" cap="none" spc="0" normalizeH="0" baseline="0" noProof="0">
                <a:ln>
                  <a:noFill/>
                </a:ln>
                <a:solidFill>
                  <a:srgbClr val="000000"/>
                </a:solidFill>
                <a:effectLst/>
                <a:uLnTx/>
                <a:uFillTx/>
                <a:latin typeface="MS PGothic"/>
                <a:ea typeface="MS PGothic"/>
                <a:cs typeface="MS PGothic"/>
                <a:sym typeface="MS PGothic"/>
              </a:rPr>
              <a:t>機密性○</a:t>
            </a:r>
            <a:endParaRPr kumimoji="0" sz="1400" b="0" i="0" u="none" strike="noStrike" kern="0" cap="none" spc="0" normalizeH="0" baseline="0" noProof="0">
              <a:ln>
                <a:noFill/>
              </a:ln>
              <a:solidFill>
                <a:srgbClr val="000000"/>
              </a:solidFill>
              <a:effectLst/>
              <a:uLnTx/>
              <a:uFillTx/>
              <a:latin typeface="MS PGothic"/>
              <a:ea typeface="MS PGothic"/>
              <a:cs typeface="MS PGothic"/>
              <a:sym typeface="MS PGothic"/>
            </a:endParaRPr>
          </a:p>
        </p:txBody>
      </p:sp>
    </p:spTree>
    <p:extLst>
      <p:ext uri="{BB962C8B-B14F-4D97-AF65-F5344CB8AC3E}">
        <p14:creationId xmlns:p14="http://schemas.microsoft.com/office/powerpoint/2010/main" val="2315616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E18DEDE1-E3EF-0A6A-AC5F-E7D56AEE9723}"/>
            </a:ext>
          </a:extLst>
        </p:cNvPr>
        <p:cNvGrpSpPr/>
        <p:nvPr/>
      </p:nvGrpSpPr>
      <p:grpSpPr>
        <a:xfrm>
          <a:off x="0" y="0"/>
          <a:ext cx="0" cy="0"/>
          <a:chOff x="0" y="0"/>
          <a:chExt cx="0" cy="0"/>
        </a:xfrm>
      </p:grpSpPr>
      <p:sp>
        <p:nvSpPr>
          <p:cNvPr id="167" name="Google Shape;167;p7:notes">
            <a:extLst>
              <a:ext uri="{FF2B5EF4-FFF2-40B4-BE49-F238E27FC236}">
                <a16:creationId xmlns:a16="http://schemas.microsoft.com/office/drawing/2014/main" id="{F964C602-CC8A-AA16-7739-47686B80E9F0}"/>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68" name="Google Shape;168;p7:notes">
            <a:extLst>
              <a:ext uri="{FF2B5EF4-FFF2-40B4-BE49-F238E27FC236}">
                <a16:creationId xmlns:a16="http://schemas.microsoft.com/office/drawing/2014/main" id="{A35295AF-A186-F09F-C854-2D237B720A77}"/>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5995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6561D903-279C-1312-72E5-71AB625A518F}"/>
            </a:ext>
          </a:extLst>
        </p:cNvPr>
        <p:cNvGrpSpPr/>
        <p:nvPr/>
      </p:nvGrpSpPr>
      <p:grpSpPr>
        <a:xfrm>
          <a:off x="0" y="0"/>
          <a:ext cx="0" cy="0"/>
          <a:chOff x="0" y="0"/>
          <a:chExt cx="0" cy="0"/>
        </a:xfrm>
      </p:grpSpPr>
      <p:sp>
        <p:nvSpPr>
          <p:cNvPr id="187" name="Google Shape;187;p8:notes">
            <a:extLst>
              <a:ext uri="{FF2B5EF4-FFF2-40B4-BE49-F238E27FC236}">
                <a16:creationId xmlns:a16="http://schemas.microsoft.com/office/drawing/2014/main" id="{F1D9D9E7-48CD-2031-AFC0-2480D1C283D1}"/>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88" name="Google Shape;188;p8:notes">
            <a:extLst>
              <a:ext uri="{FF2B5EF4-FFF2-40B4-BE49-F238E27FC236}">
                <a16:creationId xmlns:a16="http://schemas.microsoft.com/office/drawing/2014/main" id="{B13B6FEF-C9DA-AE5C-3E6A-985A5893BA1B}"/>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764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1D5C334B-26EB-4F03-2218-B4D16DC57DCA}"/>
            </a:ext>
          </a:extLst>
        </p:cNvPr>
        <p:cNvGrpSpPr/>
        <p:nvPr/>
      </p:nvGrpSpPr>
      <p:grpSpPr>
        <a:xfrm>
          <a:off x="0" y="0"/>
          <a:ext cx="0" cy="0"/>
          <a:chOff x="0" y="0"/>
          <a:chExt cx="0" cy="0"/>
        </a:xfrm>
      </p:grpSpPr>
      <p:sp>
        <p:nvSpPr>
          <p:cNvPr id="187" name="Google Shape;187;p8:notes">
            <a:extLst>
              <a:ext uri="{FF2B5EF4-FFF2-40B4-BE49-F238E27FC236}">
                <a16:creationId xmlns:a16="http://schemas.microsoft.com/office/drawing/2014/main" id="{F9A4D872-2EB0-80B6-530E-41DF69ECCB73}"/>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88" name="Google Shape;188;p8:notes">
            <a:extLst>
              <a:ext uri="{FF2B5EF4-FFF2-40B4-BE49-F238E27FC236}">
                <a16:creationId xmlns:a16="http://schemas.microsoft.com/office/drawing/2014/main" id="{82A47FD3-6D77-A4ED-EC57-A969D08733A8}"/>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4222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34EEFD45-D212-2533-93D0-4B0039BCF266}"/>
            </a:ext>
          </a:extLst>
        </p:cNvPr>
        <p:cNvGrpSpPr/>
        <p:nvPr/>
      </p:nvGrpSpPr>
      <p:grpSpPr>
        <a:xfrm>
          <a:off x="0" y="0"/>
          <a:ext cx="0" cy="0"/>
          <a:chOff x="0" y="0"/>
          <a:chExt cx="0" cy="0"/>
        </a:xfrm>
      </p:grpSpPr>
      <p:sp>
        <p:nvSpPr>
          <p:cNvPr id="187" name="Google Shape;187;p8:notes">
            <a:extLst>
              <a:ext uri="{FF2B5EF4-FFF2-40B4-BE49-F238E27FC236}">
                <a16:creationId xmlns:a16="http://schemas.microsoft.com/office/drawing/2014/main" id="{83AC6BD3-ACDA-7B15-6554-B4620405162E}"/>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188" name="Google Shape;188;p8:notes">
            <a:extLst>
              <a:ext uri="{FF2B5EF4-FFF2-40B4-BE49-F238E27FC236}">
                <a16:creationId xmlns:a16="http://schemas.microsoft.com/office/drawing/2014/main" id="{D3A20740-D419-0C4F-BFE8-7A5C17B6BAAA}"/>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9856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id="{B212DEF8-2B07-B696-AE1B-B1C792625BE4}"/>
            </a:ext>
          </a:extLst>
        </p:cNvPr>
        <p:cNvGrpSpPr/>
        <p:nvPr/>
      </p:nvGrpSpPr>
      <p:grpSpPr>
        <a:xfrm>
          <a:off x="0" y="0"/>
          <a:ext cx="0" cy="0"/>
          <a:chOff x="0" y="0"/>
          <a:chExt cx="0" cy="0"/>
        </a:xfrm>
      </p:grpSpPr>
      <p:sp>
        <p:nvSpPr>
          <p:cNvPr id="217" name="Google Shape;217;p10:notes">
            <a:extLst>
              <a:ext uri="{FF2B5EF4-FFF2-40B4-BE49-F238E27FC236}">
                <a16:creationId xmlns:a16="http://schemas.microsoft.com/office/drawing/2014/main" id="{C9D38583-B9D3-0563-F74F-12ACE1BB3A07}"/>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18" name="Google Shape;218;p10:notes">
            <a:extLst>
              <a:ext uri="{FF2B5EF4-FFF2-40B4-BE49-F238E27FC236}">
                <a16:creationId xmlns:a16="http://schemas.microsoft.com/office/drawing/2014/main" id="{7019AE93-22E4-4E97-2808-05D7EE6DF81E}"/>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7812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59D35966-1E1B-713B-41AF-0EE62425EA0A}"/>
            </a:ext>
          </a:extLst>
        </p:cNvPr>
        <p:cNvGrpSpPr/>
        <p:nvPr/>
      </p:nvGrpSpPr>
      <p:grpSpPr>
        <a:xfrm>
          <a:off x="0" y="0"/>
          <a:ext cx="0" cy="0"/>
          <a:chOff x="0" y="0"/>
          <a:chExt cx="0" cy="0"/>
        </a:xfrm>
      </p:grpSpPr>
      <p:sp>
        <p:nvSpPr>
          <p:cNvPr id="226" name="Google Shape;226;p11:notes">
            <a:extLst>
              <a:ext uri="{FF2B5EF4-FFF2-40B4-BE49-F238E27FC236}">
                <a16:creationId xmlns:a16="http://schemas.microsoft.com/office/drawing/2014/main" id="{9005EE4B-00EE-FE12-69E8-9E1FA22B911B}"/>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27" name="Google Shape;227;p11:notes">
            <a:extLst>
              <a:ext uri="{FF2B5EF4-FFF2-40B4-BE49-F238E27FC236}">
                <a16:creationId xmlns:a16="http://schemas.microsoft.com/office/drawing/2014/main" id="{19DB2FA4-1881-48C7-CB1D-66E9EF579ECB}"/>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258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42" name="Google Shape;242;p12: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8984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3:notes"/>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58" name="Google Shape;258;p13: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662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6F77BBD9-9481-2092-83E6-8550892C16A2}"/>
            </a:ext>
          </a:extLst>
        </p:cNvPr>
        <p:cNvGrpSpPr/>
        <p:nvPr/>
      </p:nvGrpSpPr>
      <p:grpSpPr>
        <a:xfrm>
          <a:off x="0" y="0"/>
          <a:ext cx="0" cy="0"/>
          <a:chOff x="0" y="0"/>
          <a:chExt cx="0" cy="0"/>
        </a:xfrm>
      </p:grpSpPr>
      <p:sp>
        <p:nvSpPr>
          <p:cNvPr id="257" name="Google Shape;257;p13:notes">
            <a:extLst>
              <a:ext uri="{FF2B5EF4-FFF2-40B4-BE49-F238E27FC236}">
                <a16:creationId xmlns:a16="http://schemas.microsoft.com/office/drawing/2014/main" id="{CB66E85A-C562-CA07-6454-09A61C652740}"/>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58" name="Google Shape;258;p13:notes">
            <a:extLst>
              <a:ext uri="{FF2B5EF4-FFF2-40B4-BE49-F238E27FC236}">
                <a16:creationId xmlns:a16="http://schemas.microsoft.com/office/drawing/2014/main" id="{268E90D2-7751-A9D9-CBDD-0140D23E6805}"/>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012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A2A93556-A77B-CDAD-C008-141F8E1D95D2}"/>
            </a:ext>
          </a:extLst>
        </p:cNvPr>
        <p:cNvGrpSpPr/>
        <p:nvPr/>
      </p:nvGrpSpPr>
      <p:grpSpPr>
        <a:xfrm>
          <a:off x="0" y="0"/>
          <a:ext cx="0" cy="0"/>
          <a:chOff x="0" y="0"/>
          <a:chExt cx="0" cy="0"/>
        </a:xfrm>
      </p:grpSpPr>
      <p:sp>
        <p:nvSpPr>
          <p:cNvPr id="271" name="Google Shape;271;p14:notes">
            <a:extLst>
              <a:ext uri="{FF2B5EF4-FFF2-40B4-BE49-F238E27FC236}">
                <a16:creationId xmlns:a16="http://schemas.microsoft.com/office/drawing/2014/main" id="{8CF11A85-ECCC-ED73-3685-ADF96F4726F6}"/>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72" name="Google Shape;272;p14:notes">
            <a:extLst>
              <a:ext uri="{FF2B5EF4-FFF2-40B4-BE49-F238E27FC236}">
                <a16:creationId xmlns:a16="http://schemas.microsoft.com/office/drawing/2014/main" id="{10096232-F5DB-BB7A-8F37-8AE241DDBC99}"/>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8270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89DDB39A-FB7D-153B-4291-20537CD1E10C}"/>
            </a:ext>
          </a:extLst>
        </p:cNvPr>
        <p:cNvGrpSpPr/>
        <p:nvPr/>
      </p:nvGrpSpPr>
      <p:grpSpPr>
        <a:xfrm>
          <a:off x="0" y="0"/>
          <a:ext cx="0" cy="0"/>
          <a:chOff x="0" y="0"/>
          <a:chExt cx="0" cy="0"/>
        </a:xfrm>
      </p:grpSpPr>
      <p:sp>
        <p:nvSpPr>
          <p:cNvPr id="271" name="Google Shape;271;p14:notes">
            <a:extLst>
              <a:ext uri="{FF2B5EF4-FFF2-40B4-BE49-F238E27FC236}">
                <a16:creationId xmlns:a16="http://schemas.microsoft.com/office/drawing/2014/main" id="{71A16F53-3A58-D713-80A0-6E13AD55CB45}"/>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72" name="Google Shape;272;p14:notes">
            <a:extLst>
              <a:ext uri="{FF2B5EF4-FFF2-40B4-BE49-F238E27FC236}">
                <a16:creationId xmlns:a16="http://schemas.microsoft.com/office/drawing/2014/main" id="{5E29B5FF-1228-119A-6A3A-FC63D454EBDE}"/>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343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78" name="Google Shape;78;p1: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3956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407BEBB0-8A3D-4C33-2741-5315884CF653}"/>
            </a:ext>
          </a:extLst>
        </p:cNvPr>
        <p:cNvGrpSpPr/>
        <p:nvPr/>
      </p:nvGrpSpPr>
      <p:grpSpPr>
        <a:xfrm>
          <a:off x="0" y="0"/>
          <a:ext cx="0" cy="0"/>
          <a:chOff x="0" y="0"/>
          <a:chExt cx="0" cy="0"/>
        </a:xfrm>
      </p:grpSpPr>
      <p:sp>
        <p:nvSpPr>
          <p:cNvPr id="226" name="Google Shape;226;p11:notes">
            <a:extLst>
              <a:ext uri="{FF2B5EF4-FFF2-40B4-BE49-F238E27FC236}">
                <a16:creationId xmlns:a16="http://schemas.microsoft.com/office/drawing/2014/main" id="{1AF14044-4750-00A7-7EE9-444AC0E2F0B3}"/>
              </a:ext>
            </a:extLst>
          </p:cNvPr>
          <p:cNvSpPr txBox="1">
            <a:spLocks noGrp="1"/>
          </p:cNvSpPr>
          <p:nvPr>
            <p:ph type="body" idx="1"/>
          </p:nvPr>
        </p:nvSpPr>
        <p:spPr>
          <a:xfrm>
            <a:off x="680721" y="4721188"/>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227" name="Google Shape;227;p11:notes">
            <a:extLst>
              <a:ext uri="{FF2B5EF4-FFF2-40B4-BE49-F238E27FC236}">
                <a16:creationId xmlns:a16="http://schemas.microsoft.com/office/drawing/2014/main" id="{E3520D33-3361-5596-D992-4F7A32B36A5C}"/>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3028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ユーザー設定レイアウト">
  <p:cSld name="2_ユーザー設定レイアウト">
    <p:spTree>
      <p:nvGrpSpPr>
        <p:cNvPr id="1"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ユーザー設定レイアウト">
  <p:cSld name="1_ユーザー設定レイアウト">
    <p:spTree>
      <p:nvGrpSpPr>
        <p:cNvPr id="1" name="Shape 14"/>
        <p:cNvGrpSpPr/>
        <p:nvPr/>
      </p:nvGrpSpPr>
      <p:grpSpPr>
        <a:xfrm>
          <a:off x="0" y="0"/>
          <a:ext cx="0" cy="0"/>
          <a:chOff x="0" y="0"/>
          <a:chExt cx="0" cy="0"/>
        </a:xfrm>
      </p:grpSpPr>
      <p:sp>
        <p:nvSpPr>
          <p:cNvPr id="15" name="Google Shape;15;p17"/>
          <p:cNvSpPr txBox="1">
            <a:spLocks noGrp="1"/>
          </p:cNvSpPr>
          <p:nvPr>
            <p:ph type="sldNum" idx="12"/>
          </p:nvPr>
        </p:nvSpPr>
        <p:spPr>
          <a:xfrm>
            <a:off x="9418506" y="658402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rgbClr val="243653"/>
                </a:solidFill>
                <a:latin typeface="Arial"/>
                <a:ea typeface="Arial"/>
                <a:cs typeface="Arial"/>
                <a:sym typeface="Arial"/>
              </a:defRPr>
            </a:lvl1pPr>
            <a:lvl2pPr marL="0" marR="0" lvl="1" indent="0" algn="r" rtl="0">
              <a:spcBef>
                <a:spcPts val="0"/>
              </a:spcBef>
              <a:buNone/>
              <a:defRPr sz="1100" b="0" i="0" u="none" strike="noStrike" cap="none">
                <a:solidFill>
                  <a:srgbClr val="243653"/>
                </a:solidFill>
                <a:latin typeface="Arial"/>
                <a:ea typeface="Arial"/>
                <a:cs typeface="Arial"/>
                <a:sym typeface="Arial"/>
              </a:defRPr>
            </a:lvl2pPr>
            <a:lvl3pPr marL="0" marR="0" lvl="2" indent="0" algn="r" rtl="0">
              <a:spcBef>
                <a:spcPts val="0"/>
              </a:spcBef>
              <a:buNone/>
              <a:defRPr sz="1100" b="0" i="0" u="none" strike="noStrike" cap="none">
                <a:solidFill>
                  <a:srgbClr val="243653"/>
                </a:solidFill>
                <a:latin typeface="Arial"/>
                <a:ea typeface="Arial"/>
                <a:cs typeface="Arial"/>
                <a:sym typeface="Arial"/>
              </a:defRPr>
            </a:lvl3pPr>
            <a:lvl4pPr marL="0" marR="0" lvl="3" indent="0" algn="r" rtl="0">
              <a:spcBef>
                <a:spcPts val="0"/>
              </a:spcBef>
              <a:buNone/>
              <a:defRPr sz="1100" b="0" i="0" u="none" strike="noStrike" cap="none">
                <a:solidFill>
                  <a:srgbClr val="243653"/>
                </a:solidFill>
                <a:latin typeface="Arial"/>
                <a:ea typeface="Arial"/>
                <a:cs typeface="Arial"/>
                <a:sym typeface="Arial"/>
              </a:defRPr>
            </a:lvl4pPr>
            <a:lvl5pPr marL="0" marR="0" lvl="4" indent="0" algn="r" rtl="0">
              <a:spcBef>
                <a:spcPts val="0"/>
              </a:spcBef>
              <a:buNone/>
              <a:defRPr sz="1100" b="0" i="0" u="none" strike="noStrike" cap="none">
                <a:solidFill>
                  <a:srgbClr val="243653"/>
                </a:solidFill>
                <a:latin typeface="Arial"/>
                <a:ea typeface="Arial"/>
                <a:cs typeface="Arial"/>
                <a:sym typeface="Arial"/>
              </a:defRPr>
            </a:lvl5pPr>
            <a:lvl6pPr marL="0" marR="0" lvl="5" indent="0" algn="r" rtl="0">
              <a:spcBef>
                <a:spcPts val="0"/>
              </a:spcBef>
              <a:buNone/>
              <a:defRPr sz="1100" b="0" i="0" u="none" strike="noStrike" cap="none">
                <a:solidFill>
                  <a:srgbClr val="243653"/>
                </a:solidFill>
                <a:latin typeface="Arial"/>
                <a:ea typeface="Arial"/>
                <a:cs typeface="Arial"/>
                <a:sym typeface="Arial"/>
              </a:defRPr>
            </a:lvl6pPr>
            <a:lvl7pPr marL="0" marR="0" lvl="6" indent="0" algn="r" rtl="0">
              <a:spcBef>
                <a:spcPts val="0"/>
              </a:spcBef>
              <a:buNone/>
              <a:defRPr sz="1100" b="0" i="0" u="none" strike="noStrike" cap="none">
                <a:solidFill>
                  <a:srgbClr val="243653"/>
                </a:solidFill>
                <a:latin typeface="Arial"/>
                <a:ea typeface="Arial"/>
                <a:cs typeface="Arial"/>
                <a:sym typeface="Arial"/>
              </a:defRPr>
            </a:lvl7pPr>
            <a:lvl8pPr marL="0" marR="0" lvl="7" indent="0" algn="r" rtl="0">
              <a:spcBef>
                <a:spcPts val="0"/>
              </a:spcBef>
              <a:buNone/>
              <a:defRPr sz="1100" b="0" i="0" u="none" strike="noStrike" cap="none">
                <a:solidFill>
                  <a:srgbClr val="243653"/>
                </a:solidFill>
                <a:latin typeface="Arial"/>
                <a:ea typeface="Arial"/>
                <a:cs typeface="Arial"/>
                <a:sym typeface="Arial"/>
              </a:defRPr>
            </a:lvl8pPr>
            <a:lvl9pPr marL="0" marR="0" lvl="8" indent="0" algn="r" rtl="0">
              <a:spcBef>
                <a:spcPts val="0"/>
              </a:spcBef>
              <a:buNone/>
              <a:defRPr sz="1100" b="0" i="0" u="none" strike="noStrike" cap="none">
                <a:solidFill>
                  <a:srgbClr val="243653"/>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ja-JP"/>
              <a:t>‹#›</a:t>
            </a:fld>
            <a:endParaRPr/>
          </a:p>
        </p:txBody>
      </p:sp>
      <p:sp>
        <p:nvSpPr>
          <p:cNvPr id="16" name="Google Shape;16;p17"/>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243653"/>
              </a:buClr>
              <a:buSzPts val="1723"/>
              <a:buFont typeface="Arial"/>
              <a:buNone/>
              <a:defRPr sz="1723">
                <a:solidFill>
                  <a:srgbClr val="24365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Google Shape;29;p16">
            <a:extLst>
              <a:ext uri="{FF2B5EF4-FFF2-40B4-BE49-F238E27FC236}">
                <a16:creationId xmlns:a16="http://schemas.microsoft.com/office/drawing/2014/main" id="{A820C031-145A-2B9A-E5E8-47663A922F2C}"/>
              </a:ext>
            </a:extLst>
          </p:cNvPr>
          <p:cNvSpPr txBox="1"/>
          <p:nvPr userDrawn="1"/>
        </p:nvSpPr>
        <p:spPr>
          <a:xfrm>
            <a:off x="3076547" y="6543656"/>
            <a:ext cx="6052283" cy="365125"/>
          </a:xfrm>
          <a:prstGeom prst="rect">
            <a:avLst/>
          </a:prstGeom>
          <a:noFill/>
          <a:ln>
            <a:noFill/>
          </a:ln>
        </p:spPr>
        <p:txBody>
          <a:bodyPr spcFirstLastPara="1" wrap="square" lIns="112525" tIns="56250" rIns="112525" bIns="56250" anchor="ctr" anchorCtr="0">
            <a:noAutofit/>
          </a:bodyPr>
          <a:lstStyle/>
          <a:p>
            <a:pPr marL="0" marR="0" lvl="0" indent="0" algn="ctr" rtl="0">
              <a:spcBef>
                <a:spcPts val="0"/>
              </a:spcBef>
              <a:spcAft>
                <a:spcPts val="0"/>
              </a:spcAft>
              <a:buNone/>
            </a:pPr>
            <a:r>
              <a:rPr lang="ja-JP" sz="985" b="0" i="0" u="none" strike="noStrike" cap="none">
                <a:solidFill>
                  <a:srgbClr val="243653"/>
                </a:solidFill>
                <a:latin typeface="Arial"/>
                <a:ea typeface="Arial"/>
                <a:cs typeface="Arial"/>
                <a:sym typeface="Arial"/>
              </a:rPr>
              <a:t>様式1： WiCON202</a:t>
            </a:r>
            <a:r>
              <a:rPr lang="en-US" altLang="ja-JP" sz="985" b="0" i="0" u="none" strike="noStrike" cap="none">
                <a:solidFill>
                  <a:srgbClr val="243653"/>
                </a:solidFill>
                <a:latin typeface="Arial"/>
                <a:ea typeface="Arial"/>
                <a:cs typeface="Arial"/>
                <a:sym typeface="Arial"/>
              </a:rPr>
              <a:t>5</a:t>
            </a:r>
            <a:r>
              <a:rPr lang="ja-JP" sz="985" b="0" i="0" u="none" strike="noStrike" cap="none">
                <a:solidFill>
                  <a:srgbClr val="243653"/>
                </a:solidFill>
                <a:latin typeface="Arial"/>
                <a:ea typeface="Arial"/>
                <a:cs typeface="Arial"/>
                <a:sym typeface="Arial"/>
              </a:rPr>
              <a:t>提案内容説明書　ワイヤレス</a:t>
            </a:r>
            <a:r>
              <a:rPr lang="ja-JP" altLang="en-US" sz="985" b="0" i="0" u="none" strike="noStrike" cap="none">
                <a:solidFill>
                  <a:srgbClr val="243653"/>
                </a:solidFill>
                <a:latin typeface="Arial"/>
                <a:ea typeface="Arial"/>
                <a:cs typeface="Arial"/>
                <a:sym typeface="Arial"/>
              </a:rPr>
              <a:t>利活用</a:t>
            </a:r>
            <a:r>
              <a:rPr lang="ja-JP" sz="985" b="0" i="0" u="none" strike="noStrike" cap="none">
                <a:solidFill>
                  <a:srgbClr val="243653"/>
                </a:solidFill>
                <a:latin typeface="Arial"/>
                <a:ea typeface="Arial"/>
                <a:cs typeface="Arial"/>
                <a:sym typeface="Arial"/>
              </a:rPr>
              <a:t>部門</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4">
          <p15:clr>
            <a:srgbClr val="FBAE40"/>
          </p15:clr>
        </p15:guide>
        <p15:guide id="4" pos="7606">
          <p15:clr>
            <a:srgbClr val="FBAE40"/>
          </p15:clr>
        </p15:guide>
        <p15:guide id="5" orient="horz" pos="315">
          <p15:clr>
            <a:srgbClr val="FBAE40"/>
          </p15:clr>
        </p15:guide>
        <p15:guide id="6" orient="horz" pos="4171">
          <p15:clr>
            <a:srgbClr val="FBAE40"/>
          </p15:clr>
        </p15:guide>
        <p15:guide id="7" pos="18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ユーザー設定レイアウト">
  <p:cSld name="7_ユーザー設定レイアウト">
    <p:spTree>
      <p:nvGrpSpPr>
        <p:cNvPr id="1" name="Shape 17"/>
        <p:cNvGrpSpPr/>
        <p:nvPr/>
      </p:nvGrpSpPr>
      <p:grpSpPr>
        <a:xfrm>
          <a:off x="0" y="0"/>
          <a:ext cx="0" cy="0"/>
          <a:chOff x="0" y="0"/>
          <a:chExt cx="0" cy="0"/>
        </a:xfrm>
      </p:grpSpPr>
      <p:sp>
        <p:nvSpPr>
          <p:cNvPr id="18" name="Google Shape;18;p18"/>
          <p:cNvSpPr/>
          <p:nvPr/>
        </p:nvSpPr>
        <p:spPr>
          <a:xfrm>
            <a:off x="246735" y="136952"/>
            <a:ext cx="56270" cy="252000"/>
          </a:xfrm>
          <a:prstGeom prst="rect">
            <a:avLst/>
          </a:prstGeom>
          <a:solidFill>
            <a:srgbClr val="24365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15" b="0" i="0" u="none" strike="noStrike" cap="none">
              <a:solidFill>
                <a:schemeClr val="dk1"/>
              </a:solidFill>
              <a:latin typeface="Calibri"/>
              <a:ea typeface="Calibri"/>
              <a:cs typeface="Calibri"/>
              <a:sym typeface="Calibri"/>
            </a:endParaRPr>
          </a:p>
        </p:txBody>
      </p:sp>
      <p:sp>
        <p:nvSpPr>
          <p:cNvPr id="19" name="Google Shape;19;p18"/>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243653"/>
              </a:buClr>
              <a:buSzPts val="1723"/>
              <a:buFont typeface="Arial"/>
              <a:buNone/>
              <a:defRPr sz="1723">
                <a:solidFill>
                  <a:srgbClr val="24365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9418506" y="658402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rgbClr val="243653"/>
                </a:solidFill>
                <a:latin typeface="Arial"/>
                <a:ea typeface="Arial"/>
                <a:cs typeface="Arial"/>
                <a:sym typeface="Arial"/>
              </a:defRPr>
            </a:lvl1pPr>
            <a:lvl2pPr marL="0" marR="0" lvl="1" indent="0" algn="r" rtl="0">
              <a:spcBef>
                <a:spcPts val="0"/>
              </a:spcBef>
              <a:buNone/>
              <a:defRPr sz="1100" b="0" i="0" u="none" strike="noStrike" cap="none">
                <a:solidFill>
                  <a:srgbClr val="243653"/>
                </a:solidFill>
                <a:latin typeface="Arial"/>
                <a:ea typeface="Arial"/>
                <a:cs typeface="Arial"/>
                <a:sym typeface="Arial"/>
              </a:defRPr>
            </a:lvl2pPr>
            <a:lvl3pPr marL="0" marR="0" lvl="2" indent="0" algn="r" rtl="0">
              <a:spcBef>
                <a:spcPts val="0"/>
              </a:spcBef>
              <a:buNone/>
              <a:defRPr sz="1100" b="0" i="0" u="none" strike="noStrike" cap="none">
                <a:solidFill>
                  <a:srgbClr val="243653"/>
                </a:solidFill>
                <a:latin typeface="Arial"/>
                <a:ea typeface="Arial"/>
                <a:cs typeface="Arial"/>
                <a:sym typeface="Arial"/>
              </a:defRPr>
            </a:lvl3pPr>
            <a:lvl4pPr marL="0" marR="0" lvl="3" indent="0" algn="r" rtl="0">
              <a:spcBef>
                <a:spcPts val="0"/>
              </a:spcBef>
              <a:buNone/>
              <a:defRPr sz="1100" b="0" i="0" u="none" strike="noStrike" cap="none">
                <a:solidFill>
                  <a:srgbClr val="243653"/>
                </a:solidFill>
                <a:latin typeface="Arial"/>
                <a:ea typeface="Arial"/>
                <a:cs typeface="Arial"/>
                <a:sym typeface="Arial"/>
              </a:defRPr>
            </a:lvl4pPr>
            <a:lvl5pPr marL="0" marR="0" lvl="4" indent="0" algn="r" rtl="0">
              <a:spcBef>
                <a:spcPts val="0"/>
              </a:spcBef>
              <a:buNone/>
              <a:defRPr sz="1100" b="0" i="0" u="none" strike="noStrike" cap="none">
                <a:solidFill>
                  <a:srgbClr val="243653"/>
                </a:solidFill>
                <a:latin typeface="Arial"/>
                <a:ea typeface="Arial"/>
                <a:cs typeface="Arial"/>
                <a:sym typeface="Arial"/>
              </a:defRPr>
            </a:lvl5pPr>
            <a:lvl6pPr marL="0" marR="0" lvl="5" indent="0" algn="r" rtl="0">
              <a:spcBef>
                <a:spcPts val="0"/>
              </a:spcBef>
              <a:buNone/>
              <a:defRPr sz="1100" b="0" i="0" u="none" strike="noStrike" cap="none">
                <a:solidFill>
                  <a:srgbClr val="243653"/>
                </a:solidFill>
                <a:latin typeface="Arial"/>
                <a:ea typeface="Arial"/>
                <a:cs typeface="Arial"/>
                <a:sym typeface="Arial"/>
              </a:defRPr>
            </a:lvl6pPr>
            <a:lvl7pPr marL="0" marR="0" lvl="6" indent="0" algn="r" rtl="0">
              <a:spcBef>
                <a:spcPts val="0"/>
              </a:spcBef>
              <a:buNone/>
              <a:defRPr sz="1100" b="0" i="0" u="none" strike="noStrike" cap="none">
                <a:solidFill>
                  <a:srgbClr val="243653"/>
                </a:solidFill>
                <a:latin typeface="Arial"/>
                <a:ea typeface="Arial"/>
                <a:cs typeface="Arial"/>
                <a:sym typeface="Arial"/>
              </a:defRPr>
            </a:lvl7pPr>
            <a:lvl8pPr marL="0" marR="0" lvl="7" indent="0" algn="r" rtl="0">
              <a:spcBef>
                <a:spcPts val="0"/>
              </a:spcBef>
              <a:buNone/>
              <a:defRPr sz="1100" b="0" i="0" u="none" strike="noStrike" cap="none">
                <a:solidFill>
                  <a:srgbClr val="243653"/>
                </a:solidFill>
                <a:latin typeface="Arial"/>
                <a:ea typeface="Arial"/>
                <a:cs typeface="Arial"/>
                <a:sym typeface="Arial"/>
              </a:defRPr>
            </a:lvl8pPr>
            <a:lvl9pPr marL="0" marR="0" lvl="8" indent="0" algn="r" rtl="0">
              <a:spcBef>
                <a:spcPts val="0"/>
              </a:spcBef>
              <a:buNone/>
              <a:defRPr sz="1100" b="0" i="0" u="none" strike="noStrike" cap="none">
                <a:solidFill>
                  <a:srgbClr val="243653"/>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ja-JP"/>
              <a:t>‹#›</a:t>
            </a:fld>
            <a:endParaRPr/>
          </a:p>
        </p:txBody>
      </p:sp>
      <p:sp>
        <p:nvSpPr>
          <p:cNvPr id="2" name="Google Shape;29;p16">
            <a:extLst>
              <a:ext uri="{FF2B5EF4-FFF2-40B4-BE49-F238E27FC236}">
                <a16:creationId xmlns:a16="http://schemas.microsoft.com/office/drawing/2014/main" id="{44BDF1D5-4301-E27F-0A1C-F389F11A0339}"/>
              </a:ext>
            </a:extLst>
          </p:cNvPr>
          <p:cNvSpPr txBox="1"/>
          <p:nvPr userDrawn="1"/>
        </p:nvSpPr>
        <p:spPr>
          <a:xfrm>
            <a:off x="3076547" y="6543656"/>
            <a:ext cx="6052283" cy="365125"/>
          </a:xfrm>
          <a:prstGeom prst="rect">
            <a:avLst/>
          </a:prstGeom>
          <a:noFill/>
          <a:ln>
            <a:noFill/>
          </a:ln>
        </p:spPr>
        <p:txBody>
          <a:bodyPr spcFirstLastPara="1" wrap="square" lIns="112525" tIns="56250" rIns="112525" bIns="56250" anchor="ctr" anchorCtr="0">
            <a:noAutofit/>
          </a:bodyPr>
          <a:lstStyle/>
          <a:p>
            <a:pPr marL="0" marR="0" lvl="0" indent="0" algn="ctr" rtl="0">
              <a:spcBef>
                <a:spcPts val="0"/>
              </a:spcBef>
              <a:spcAft>
                <a:spcPts val="0"/>
              </a:spcAft>
              <a:buNone/>
            </a:pPr>
            <a:r>
              <a:rPr lang="ja-JP" sz="985" b="0" i="0" u="none" strike="noStrike" cap="none">
                <a:solidFill>
                  <a:srgbClr val="243653"/>
                </a:solidFill>
                <a:latin typeface="Arial"/>
                <a:ea typeface="Arial"/>
                <a:cs typeface="Arial"/>
                <a:sym typeface="Arial"/>
              </a:rPr>
              <a:t>様式1： WiCON202</a:t>
            </a:r>
            <a:r>
              <a:rPr lang="en-US" altLang="ja-JP" sz="985" b="0" i="0" u="none" strike="noStrike" cap="none">
                <a:solidFill>
                  <a:srgbClr val="243653"/>
                </a:solidFill>
                <a:latin typeface="Arial"/>
                <a:ea typeface="Arial"/>
                <a:cs typeface="Arial"/>
                <a:sym typeface="Arial"/>
              </a:rPr>
              <a:t>5</a:t>
            </a:r>
            <a:r>
              <a:rPr lang="ja-JP" sz="985" b="0" i="0" u="none" strike="noStrike" cap="none">
                <a:solidFill>
                  <a:srgbClr val="243653"/>
                </a:solidFill>
                <a:latin typeface="Arial"/>
                <a:ea typeface="Arial"/>
                <a:cs typeface="Arial"/>
                <a:sym typeface="Arial"/>
              </a:rPr>
              <a:t>提案内容説明書　ワイヤレス</a:t>
            </a:r>
            <a:r>
              <a:rPr lang="ja-JP" altLang="en-US" sz="985" b="0" i="0" u="none" strike="noStrike" cap="none">
                <a:solidFill>
                  <a:srgbClr val="243653"/>
                </a:solidFill>
                <a:latin typeface="Arial"/>
                <a:ea typeface="Arial"/>
                <a:cs typeface="Arial"/>
                <a:sym typeface="Arial"/>
              </a:rPr>
              <a:t>利活用</a:t>
            </a:r>
            <a:r>
              <a:rPr lang="ja-JP" sz="985" b="0" i="0" u="none" strike="noStrike" cap="none">
                <a:solidFill>
                  <a:srgbClr val="243653"/>
                </a:solidFill>
                <a:latin typeface="Arial"/>
                <a:ea typeface="Arial"/>
                <a:cs typeface="Arial"/>
                <a:sym typeface="Arial"/>
              </a:rPr>
              <a:t>部門</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4">
          <p15:clr>
            <a:srgbClr val="FBAE40"/>
          </p15:clr>
        </p15:guide>
        <p15:guide id="4" pos="760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8_ユーザー設定レイアウト">
  <p:cSld name="8_ユーザー設定レイアウト">
    <p:spTree>
      <p:nvGrpSpPr>
        <p:cNvPr id="1" name="Shape 21"/>
        <p:cNvGrpSpPr/>
        <p:nvPr/>
      </p:nvGrpSpPr>
      <p:grpSpPr>
        <a:xfrm>
          <a:off x="0" y="0"/>
          <a:ext cx="0" cy="0"/>
          <a:chOff x="0" y="0"/>
          <a:chExt cx="0" cy="0"/>
        </a:xfrm>
      </p:grpSpPr>
      <p:sp>
        <p:nvSpPr>
          <p:cNvPr id="23" name="Google Shape;23;p19"/>
          <p:cNvSpPr/>
          <p:nvPr/>
        </p:nvSpPr>
        <p:spPr>
          <a:xfrm>
            <a:off x="246735" y="136952"/>
            <a:ext cx="56270" cy="252000"/>
          </a:xfrm>
          <a:prstGeom prst="rect">
            <a:avLst/>
          </a:prstGeom>
          <a:solidFill>
            <a:srgbClr val="54C1D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15" b="0" i="0" u="none" strike="noStrike" cap="none">
              <a:solidFill>
                <a:schemeClr val="dk1"/>
              </a:solidFill>
              <a:latin typeface="Calibri"/>
              <a:ea typeface="Calibri"/>
              <a:cs typeface="Calibri"/>
              <a:sym typeface="Calibri"/>
            </a:endParaRPr>
          </a:p>
        </p:txBody>
      </p:sp>
      <p:sp>
        <p:nvSpPr>
          <p:cNvPr id="24" name="Google Shape;24;p19"/>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243653"/>
              </a:buClr>
              <a:buSzPts val="1723"/>
              <a:buFont typeface="Arial"/>
              <a:buNone/>
              <a:defRPr sz="1723">
                <a:solidFill>
                  <a:srgbClr val="24365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9418506" y="658402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rgbClr val="243653"/>
                </a:solidFill>
                <a:latin typeface="Arial"/>
                <a:ea typeface="Arial"/>
                <a:cs typeface="Arial"/>
                <a:sym typeface="Arial"/>
              </a:defRPr>
            </a:lvl1pPr>
            <a:lvl2pPr marL="0" marR="0" lvl="1" indent="0" algn="r" rtl="0">
              <a:spcBef>
                <a:spcPts val="0"/>
              </a:spcBef>
              <a:buNone/>
              <a:defRPr sz="1100" b="0" i="0" u="none" strike="noStrike" cap="none">
                <a:solidFill>
                  <a:srgbClr val="243653"/>
                </a:solidFill>
                <a:latin typeface="Arial"/>
                <a:ea typeface="Arial"/>
                <a:cs typeface="Arial"/>
                <a:sym typeface="Arial"/>
              </a:defRPr>
            </a:lvl2pPr>
            <a:lvl3pPr marL="0" marR="0" lvl="2" indent="0" algn="r" rtl="0">
              <a:spcBef>
                <a:spcPts val="0"/>
              </a:spcBef>
              <a:buNone/>
              <a:defRPr sz="1100" b="0" i="0" u="none" strike="noStrike" cap="none">
                <a:solidFill>
                  <a:srgbClr val="243653"/>
                </a:solidFill>
                <a:latin typeface="Arial"/>
                <a:ea typeface="Arial"/>
                <a:cs typeface="Arial"/>
                <a:sym typeface="Arial"/>
              </a:defRPr>
            </a:lvl3pPr>
            <a:lvl4pPr marL="0" marR="0" lvl="3" indent="0" algn="r" rtl="0">
              <a:spcBef>
                <a:spcPts val="0"/>
              </a:spcBef>
              <a:buNone/>
              <a:defRPr sz="1100" b="0" i="0" u="none" strike="noStrike" cap="none">
                <a:solidFill>
                  <a:srgbClr val="243653"/>
                </a:solidFill>
                <a:latin typeface="Arial"/>
                <a:ea typeface="Arial"/>
                <a:cs typeface="Arial"/>
                <a:sym typeface="Arial"/>
              </a:defRPr>
            </a:lvl4pPr>
            <a:lvl5pPr marL="0" marR="0" lvl="4" indent="0" algn="r" rtl="0">
              <a:spcBef>
                <a:spcPts val="0"/>
              </a:spcBef>
              <a:buNone/>
              <a:defRPr sz="1100" b="0" i="0" u="none" strike="noStrike" cap="none">
                <a:solidFill>
                  <a:srgbClr val="243653"/>
                </a:solidFill>
                <a:latin typeface="Arial"/>
                <a:ea typeface="Arial"/>
                <a:cs typeface="Arial"/>
                <a:sym typeface="Arial"/>
              </a:defRPr>
            </a:lvl5pPr>
            <a:lvl6pPr marL="0" marR="0" lvl="5" indent="0" algn="r" rtl="0">
              <a:spcBef>
                <a:spcPts val="0"/>
              </a:spcBef>
              <a:buNone/>
              <a:defRPr sz="1100" b="0" i="0" u="none" strike="noStrike" cap="none">
                <a:solidFill>
                  <a:srgbClr val="243653"/>
                </a:solidFill>
                <a:latin typeface="Arial"/>
                <a:ea typeface="Arial"/>
                <a:cs typeface="Arial"/>
                <a:sym typeface="Arial"/>
              </a:defRPr>
            </a:lvl6pPr>
            <a:lvl7pPr marL="0" marR="0" lvl="6" indent="0" algn="r" rtl="0">
              <a:spcBef>
                <a:spcPts val="0"/>
              </a:spcBef>
              <a:buNone/>
              <a:defRPr sz="1100" b="0" i="0" u="none" strike="noStrike" cap="none">
                <a:solidFill>
                  <a:srgbClr val="243653"/>
                </a:solidFill>
                <a:latin typeface="Arial"/>
                <a:ea typeface="Arial"/>
                <a:cs typeface="Arial"/>
                <a:sym typeface="Arial"/>
              </a:defRPr>
            </a:lvl7pPr>
            <a:lvl8pPr marL="0" marR="0" lvl="7" indent="0" algn="r" rtl="0">
              <a:spcBef>
                <a:spcPts val="0"/>
              </a:spcBef>
              <a:buNone/>
              <a:defRPr sz="1100" b="0" i="0" u="none" strike="noStrike" cap="none">
                <a:solidFill>
                  <a:srgbClr val="243653"/>
                </a:solidFill>
                <a:latin typeface="Arial"/>
                <a:ea typeface="Arial"/>
                <a:cs typeface="Arial"/>
                <a:sym typeface="Arial"/>
              </a:defRPr>
            </a:lvl8pPr>
            <a:lvl9pPr marL="0" marR="0" lvl="8" indent="0" algn="r" rtl="0">
              <a:spcBef>
                <a:spcPts val="0"/>
              </a:spcBef>
              <a:buNone/>
              <a:defRPr sz="1100" b="0" i="0" u="none" strike="noStrike" cap="none">
                <a:solidFill>
                  <a:srgbClr val="243653"/>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ja-JP"/>
              <a:t>‹#›</a:t>
            </a:fld>
            <a:endParaRPr/>
          </a:p>
        </p:txBody>
      </p:sp>
      <p:sp>
        <p:nvSpPr>
          <p:cNvPr id="2" name="Google Shape;29;p16">
            <a:extLst>
              <a:ext uri="{FF2B5EF4-FFF2-40B4-BE49-F238E27FC236}">
                <a16:creationId xmlns:a16="http://schemas.microsoft.com/office/drawing/2014/main" id="{91FC8CB9-B150-CA31-1066-4722608011AC}"/>
              </a:ext>
            </a:extLst>
          </p:cNvPr>
          <p:cNvSpPr txBox="1"/>
          <p:nvPr userDrawn="1"/>
        </p:nvSpPr>
        <p:spPr>
          <a:xfrm>
            <a:off x="3076547" y="6543656"/>
            <a:ext cx="6052283" cy="365125"/>
          </a:xfrm>
          <a:prstGeom prst="rect">
            <a:avLst/>
          </a:prstGeom>
          <a:noFill/>
          <a:ln>
            <a:noFill/>
          </a:ln>
        </p:spPr>
        <p:txBody>
          <a:bodyPr spcFirstLastPara="1" wrap="square" lIns="112525" tIns="56250" rIns="112525" bIns="56250" anchor="ctr" anchorCtr="0">
            <a:noAutofit/>
          </a:bodyPr>
          <a:lstStyle/>
          <a:p>
            <a:pPr marL="0" marR="0" lvl="0" indent="0" algn="ctr" rtl="0">
              <a:spcBef>
                <a:spcPts val="0"/>
              </a:spcBef>
              <a:spcAft>
                <a:spcPts val="0"/>
              </a:spcAft>
              <a:buNone/>
            </a:pPr>
            <a:r>
              <a:rPr lang="ja-JP" sz="985" b="0" i="0" u="none" strike="noStrike" cap="none">
                <a:solidFill>
                  <a:srgbClr val="243653"/>
                </a:solidFill>
                <a:latin typeface="Arial"/>
                <a:ea typeface="Arial"/>
                <a:cs typeface="Arial"/>
                <a:sym typeface="Arial"/>
              </a:rPr>
              <a:t>様式1： WiCON202</a:t>
            </a:r>
            <a:r>
              <a:rPr lang="en-US" altLang="ja-JP" sz="985" b="0" i="0" u="none" strike="noStrike" cap="none">
                <a:solidFill>
                  <a:srgbClr val="243653"/>
                </a:solidFill>
                <a:latin typeface="Arial"/>
                <a:ea typeface="Arial"/>
                <a:cs typeface="Arial"/>
                <a:sym typeface="Arial"/>
              </a:rPr>
              <a:t>5</a:t>
            </a:r>
            <a:r>
              <a:rPr lang="ja-JP" sz="985" b="0" i="0" u="none" strike="noStrike" cap="none">
                <a:solidFill>
                  <a:srgbClr val="243653"/>
                </a:solidFill>
                <a:latin typeface="Arial"/>
                <a:ea typeface="Arial"/>
                <a:cs typeface="Arial"/>
                <a:sym typeface="Arial"/>
              </a:rPr>
              <a:t>提案内容説明書　ワイヤレス</a:t>
            </a:r>
            <a:r>
              <a:rPr lang="ja-JP" altLang="en-US" sz="985" b="0" i="0" u="none" strike="noStrike" cap="none">
                <a:solidFill>
                  <a:srgbClr val="243653"/>
                </a:solidFill>
                <a:latin typeface="Arial"/>
                <a:ea typeface="Arial"/>
                <a:cs typeface="Arial"/>
                <a:sym typeface="Arial"/>
              </a:rPr>
              <a:t>利活用</a:t>
            </a:r>
            <a:r>
              <a:rPr lang="ja-JP" sz="985" b="0" i="0" u="none" strike="noStrike" cap="none">
                <a:solidFill>
                  <a:srgbClr val="243653"/>
                </a:solidFill>
                <a:latin typeface="Arial"/>
                <a:ea typeface="Arial"/>
                <a:cs typeface="Arial"/>
                <a:sym typeface="Arial"/>
              </a:rPr>
              <a:t>部門</a:t>
            </a:r>
            <a:endParaRPr/>
          </a:p>
        </p:txBody>
      </p:sp>
      <p:sp>
        <p:nvSpPr>
          <p:cNvPr id="7" name="正方形/長方形 6">
            <a:extLst>
              <a:ext uri="{FF2B5EF4-FFF2-40B4-BE49-F238E27FC236}">
                <a16:creationId xmlns:a16="http://schemas.microsoft.com/office/drawing/2014/main" id="{00576A4A-D240-7508-6917-6462E3916F9E}"/>
              </a:ext>
            </a:extLst>
          </p:cNvPr>
          <p:cNvSpPr/>
          <p:nvPr userDrawn="1"/>
        </p:nvSpPr>
        <p:spPr>
          <a:xfrm>
            <a:off x="261793" y="555172"/>
            <a:ext cx="11688989" cy="6026381"/>
          </a:xfrm>
          <a:prstGeom prst="rect">
            <a:avLst/>
          </a:prstGeom>
          <a:noFill/>
          <a:ln w="38100">
            <a:solidFill>
              <a:srgbClr val="54C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4">
          <p15:clr>
            <a:srgbClr val="FBAE40"/>
          </p15:clr>
        </p15:guide>
        <p15:guide id="4" pos="760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ユーザー設定レイアウト">
  <p:cSld name="3_ユーザー設定レイアウト">
    <p:spTree>
      <p:nvGrpSpPr>
        <p:cNvPr id="1" name="Shape 26"/>
        <p:cNvGrpSpPr/>
        <p:nvPr/>
      </p:nvGrpSpPr>
      <p:grpSpPr>
        <a:xfrm>
          <a:off x="0" y="0"/>
          <a:ext cx="0" cy="0"/>
          <a:chOff x="0" y="0"/>
          <a:chExt cx="0" cy="0"/>
        </a:xfrm>
      </p:grpSpPr>
      <p:sp>
        <p:nvSpPr>
          <p:cNvPr id="27" name="Google Shape;27;p20"/>
          <p:cNvSpPr/>
          <p:nvPr/>
        </p:nvSpPr>
        <p:spPr>
          <a:xfrm>
            <a:off x="246735" y="136952"/>
            <a:ext cx="56270" cy="252000"/>
          </a:xfrm>
          <a:prstGeom prst="rect">
            <a:avLst/>
          </a:prstGeom>
          <a:solidFill>
            <a:srgbClr val="54C1D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15" b="0" i="0" u="none" strike="noStrike" cap="none">
              <a:solidFill>
                <a:schemeClr val="dk1"/>
              </a:solidFill>
              <a:latin typeface="Calibri"/>
              <a:ea typeface="Calibri"/>
              <a:cs typeface="Calibri"/>
              <a:sym typeface="Calibri"/>
            </a:endParaRPr>
          </a:p>
        </p:txBody>
      </p:sp>
      <p:sp>
        <p:nvSpPr>
          <p:cNvPr id="28" name="Google Shape;28;p20"/>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243653"/>
              </a:buClr>
              <a:buSzPts val="1723"/>
              <a:buFont typeface="Arial"/>
              <a:buNone/>
              <a:defRPr sz="1723">
                <a:solidFill>
                  <a:srgbClr val="24365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0"/>
          <p:cNvSpPr txBox="1">
            <a:spLocks noGrp="1"/>
          </p:cNvSpPr>
          <p:nvPr>
            <p:ph type="sldNum" idx="12"/>
          </p:nvPr>
        </p:nvSpPr>
        <p:spPr>
          <a:xfrm>
            <a:off x="9418506" y="658402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rgbClr val="243653"/>
                </a:solidFill>
                <a:latin typeface="Arial"/>
                <a:ea typeface="Arial"/>
                <a:cs typeface="Arial"/>
                <a:sym typeface="Arial"/>
              </a:defRPr>
            </a:lvl1pPr>
            <a:lvl2pPr marL="0" marR="0" lvl="1" indent="0" algn="r" rtl="0">
              <a:spcBef>
                <a:spcPts val="0"/>
              </a:spcBef>
              <a:buNone/>
              <a:defRPr sz="1100" b="0" i="0" u="none" strike="noStrike" cap="none">
                <a:solidFill>
                  <a:srgbClr val="243653"/>
                </a:solidFill>
                <a:latin typeface="Arial"/>
                <a:ea typeface="Arial"/>
                <a:cs typeface="Arial"/>
                <a:sym typeface="Arial"/>
              </a:defRPr>
            </a:lvl2pPr>
            <a:lvl3pPr marL="0" marR="0" lvl="2" indent="0" algn="r" rtl="0">
              <a:spcBef>
                <a:spcPts val="0"/>
              </a:spcBef>
              <a:buNone/>
              <a:defRPr sz="1100" b="0" i="0" u="none" strike="noStrike" cap="none">
                <a:solidFill>
                  <a:srgbClr val="243653"/>
                </a:solidFill>
                <a:latin typeface="Arial"/>
                <a:ea typeface="Arial"/>
                <a:cs typeface="Arial"/>
                <a:sym typeface="Arial"/>
              </a:defRPr>
            </a:lvl3pPr>
            <a:lvl4pPr marL="0" marR="0" lvl="3" indent="0" algn="r" rtl="0">
              <a:spcBef>
                <a:spcPts val="0"/>
              </a:spcBef>
              <a:buNone/>
              <a:defRPr sz="1100" b="0" i="0" u="none" strike="noStrike" cap="none">
                <a:solidFill>
                  <a:srgbClr val="243653"/>
                </a:solidFill>
                <a:latin typeface="Arial"/>
                <a:ea typeface="Arial"/>
                <a:cs typeface="Arial"/>
                <a:sym typeface="Arial"/>
              </a:defRPr>
            </a:lvl4pPr>
            <a:lvl5pPr marL="0" marR="0" lvl="4" indent="0" algn="r" rtl="0">
              <a:spcBef>
                <a:spcPts val="0"/>
              </a:spcBef>
              <a:buNone/>
              <a:defRPr sz="1100" b="0" i="0" u="none" strike="noStrike" cap="none">
                <a:solidFill>
                  <a:srgbClr val="243653"/>
                </a:solidFill>
                <a:latin typeface="Arial"/>
                <a:ea typeface="Arial"/>
                <a:cs typeface="Arial"/>
                <a:sym typeface="Arial"/>
              </a:defRPr>
            </a:lvl5pPr>
            <a:lvl6pPr marL="0" marR="0" lvl="5" indent="0" algn="r" rtl="0">
              <a:spcBef>
                <a:spcPts val="0"/>
              </a:spcBef>
              <a:buNone/>
              <a:defRPr sz="1100" b="0" i="0" u="none" strike="noStrike" cap="none">
                <a:solidFill>
                  <a:srgbClr val="243653"/>
                </a:solidFill>
                <a:latin typeface="Arial"/>
                <a:ea typeface="Arial"/>
                <a:cs typeface="Arial"/>
                <a:sym typeface="Arial"/>
              </a:defRPr>
            </a:lvl6pPr>
            <a:lvl7pPr marL="0" marR="0" lvl="6" indent="0" algn="r" rtl="0">
              <a:spcBef>
                <a:spcPts val="0"/>
              </a:spcBef>
              <a:buNone/>
              <a:defRPr sz="1100" b="0" i="0" u="none" strike="noStrike" cap="none">
                <a:solidFill>
                  <a:srgbClr val="243653"/>
                </a:solidFill>
                <a:latin typeface="Arial"/>
                <a:ea typeface="Arial"/>
                <a:cs typeface="Arial"/>
                <a:sym typeface="Arial"/>
              </a:defRPr>
            </a:lvl7pPr>
            <a:lvl8pPr marL="0" marR="0" lvl="7" indent="0" algn="r" rtl="0">
              <a:spcBef>
                <a:spcPts val="0"/>
              </a:spcBef>
              <a:buNone/>
              <a:defRPr sz="1100" b="0" i="0" u="none" strike="noStrike" cap="none">
                <a:solidFill>
                  <a:srgbClr val="243653"/>
                </a:solidFill>
                <a:latin typeface="Arial"/>
                <a:ea typeface="Arial"/>
                <a:cs typeface="Arial"/>
                <a:sym typeface="Arial"/>
              </a:defRPr>
            </a:lvl8pPr>
            <a:lvl9pPr marL="0" marR="0" lvl="8" indent="0" algn="r" rtl="0">
              <a:spcBef>
                <a:spcPts val="0"/>
              </a:spcBef>
              <a:buNone/>
              <a:defRPr sz="1100" b="0" i="0" u="none" strike="noStrike" cap="none">
                <a:solidFill>
                  <a:srgbClr val="243653"/>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ja-JP"/>
              <a:t>‹#›</a:t>
            </a:fld>
            <a:endParaRPr/>
          </a:p>
        </p:txBody>
      </p:sp>
      <p:sp>
        <p:nvSpPr>
          <p:cNvPr id="2" name="Google Shape;29;p16">
            <a:extLst>
              <a:ext uri="{FF2B5EF4-FFF2-40B4-BE49-F238E27FC236}">
                <a16:creationId xmlns:a16="http://schemas.microsoft.com/office/drawing/2014/main" id="{36C75DF4-BCF7-1E51-ED58-88A6F3FA5C7C}"/>
              </a:ext>
            </a:extLst>
          </p:cNvPr>
          <p:cNvSpPr txBox="1"/>
          <p:nvPr userDrawn="1"/>
        </p:nvSpPr>
        <p:spPr>
          <a:xfrm>
            <a:off x="3076547" y="6543656"/>
            <a:ext cx="6052283" cy="365125"/>
          </a:xfrm>
          <a:prstGeom prst="rect">
            <a:avLst/>
          </a:prstGeom>
          <a:noFill/>
          <a:ln>
            <a:noFill/>
          </a:ln>
        </p:spPr>
        <p:txBody>
          <a:bodyPr spcFirstLastPara="1" wrap="square" lIns="112525" tIns="56250" rIns="112525" bIns="56250" anchor="ctr" anchorCtr="0">
            <a:noAutofit/>
          </a:bodyPr>
          <a:lstStyle/>
          <a:p>
            <a:pPr marL="0" marR="0" lvl="0" indent="0" algn="ctr" rtl="0">
              <a:spcBef>
                <a:spcPts val="0"/>
              </a:spcBef>
              <a:spcAft>
                <a:spcPts val="0"/>
              </a:spcAft>
              <a:buNone/>
            </a:pPr>
            <a:r>
              <a:rPr lang="ja-JP" sz="985" b="0" i="0" u="none" strike="noStrike" cap="none">
                <a:solidFill>
                  <a:srgbClr val="243653"/>
                </a:solidFill>
                <a:latin typeface="Arial"/>
                <a:ea typeface="Arial"/>
                <a:cs typeface="Arial"/>
                <a:sym typeface="Arial"/>
              </a:rPr>
              <a:t>様式1： WiCON202</a:t>
            </a:r>
            <a:r>
              <a:rPr lang="en-US" altLang="ja-JP" sz="985" b="0" i="0" u="none" strike="noStrike" cap="none">
                <a:solidFill>
                  <a:srgbClr val="243653"/>
                </a:solidFill>
                <a:latin typeface="Arial"/>
                <a:ea typeface="Arial"/>
                <a:cs typeface="Arial"/>
                <a:sym typeface="Arial"/>
              </a:rPr>
              <a:t>5</a:t>
            </a:r>
            <a:r>
              <a:rPr lang="ja-JP" sz="985" b="0" i="0" u="none" strike="noStrike" cap="none">
                <a:solidFill>
                  <a:srgbClr val="243653"/>
                </a:solidFill>
                <a:latin typeface="Arial"/>
                <a:ea typeface="Arial"/>
                <a:cs typeface="Arial"/>
                <a:sym typeface="Arial"/>
              </a:rPr>
              <a:t>提案内容説明書　ワイヤレス</a:t>
            </a:r>
            <a:r>
              <a:rPr lang="ja-JP" altLang="en-US" sz="985" b="0" i="0" u="none" strike="noStrike" cap="none">
                <a:solidFill>
                  <a:srgbClr val="243653"/>
                </a:solidFill>
                <a:latin typeface="Arial"/>
                <a:ea typeface="Arial"/>
                <a:cs typeface="Arial"/>
                <a:sym typeface="Arial"/>
              </a:rPr>
              <a:t>利活用</a:t>
            </a:r>
            <a:r>
              <a:rPr lang="ja-JP" sz="985" b="0" i="0" u="none" strike="noStrike" cap="none">
                <a:solidFill>
                  <a:srgbClr val="243653"/>
                </a:solidFill>
                <a:latin typeface="Arial"/>
                <a:ea typeface="Arial"/>
                <a:cs typeface="Arial"/>
                <a:sym typeface="Arial"/>
              </a:rPr>
              <a:t>部門</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4">
          <p15:clr>
            <a:srgbClr val="FBAE40"/>
          </p15:clr>
        </p15:guide>
        <p15:guide id="4" pos="760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spTree>
      <p:nvGrpSpPr>
        <p:cNvPr id="1" name="Shape 15"/>
        <p:cNvGrpSpPr/>
        <p:nvPr/>
      </p:nvGrpSpPr>
      <p:grpSpPr>
        <a:xfrm>
          <a:off x="0" y="0"/>
          <a:ext cx="0" cy="0"/>
          <a:chOff x="0" y="0"/>
          <a:chExt cx="0" cy="0"/>
        </a:xfrm>
      </p:grpSpPr>
      <p:grpSp>
        <p:nvGrpSpPr>
          <p:cNvPr id="16" name="Google Shape;16;p15"/>
          <p:cNvGrpSpPr/>
          <p:nvPr/>
        </p:nvGrpSpPr>
        <p:grpSpPr>
          <a:xfrm>
            <a:off x="0" y="398065"/>
            <a:ext cx="12192000" cy="182734"/>
            <a:chOff x="0" y="389273"/>
            <a:chExt cx="9906000" cy="182734"/>
          </a:xfrm>
        </p:grpSpPr>
        <p:cxnSp>
          <p:nvCxnSpPr>
            <p:cNvPr id="17" name="Google Shape;17;p15"/>
            <p:cNvCxnSpPr/>
            <p:nvPr/>
          </p:nvCxnSpPr>
          <p:spPr>
            <a:xfrm>
              <a:off x="0" y="480640"/>
              <a:ext cx="9302238" cy="0"/>
            </a:xfrm>
            <a:prstGeom prst="straightConnector1">
              <a:avLst/>
            </a:prstGeom>
            <a:noFill/>
            <a:ln w="19050" cap="flat" cmpd="sng">
              <a:solidFill>
                <a:srgbClr val="F5913F"/>
              </a:solidFill>
              <a:prstDash val="solid"/>
              <a:round/>
              <a:headEnd type="none" w="sm" len="sm"/>
              <a:tailEnd type="none" w="sm" len="sm"/>
            </a:ln>
          </p:spPr>
        </p:cxnSp>
        <p:cxnSp>
          <p:nvCxnSpPr>
            <p:cNvPr id="18" name="Google Shape;18;p15"/>
            <p:cNvCxnSpPr/>
            <p:nvPr/>
          </p:nvCxnSpPr>
          <p:spPr>
            <a:xfrm rot="10800000" flipH="1">
              <a:off x="9301532" y="389273"/>
              <a:ext cx="16001" cy="91367"/>
            </a:xfrm>
            <a:prstGeom prst="straightConnector1">
              <a:avLst/>
            </a:prstGeom>
            <a:noFill/>
            <a:ln w="19050" cap="flat" cmpd="sng">
              <a:solidFill>
                <a:srgbClr val="F5913F"/>
              </a:solidFill>
              <a:prstDash val="solid"/>
              <a:round/>
              <a:headEnd type="none" w="sm" len="sm"/>
              <a:tailEnd type="none" w="sm" len="sm"/>
            </a:ln>
          </p:spPr>
        </p:cxnSp>
        <p:cxnSp>
          <p:nvCxnSpPr>
            <p:cNvPr id="19" name="Google Shape;19;p15"/>
            <p:cNvCxnSpPr/>
            <p:nvPr/>
          </p:nvCxnSpPr>
          <p:spPr>
            <a:xfrm rot="10800000">
              <a:off x="9317989" y="389273"/>
              <a:ext cx="32003" cy="182734"/>
            </a:xfrm>
            <a:prstGeom prst="straightConnector1">
              <a:avLst/>
            </a:prstGeom>
            <a:noFill/>
            <a:ln w="19050" cap="flat" cmpd="sng">
              <a:solidFill>
                <a:srgbClr val="F5913F"/>
              </a:solidFill>
              <a:prstDash val="solid"/>
              <a:round/>
              <a:headEnd type="none" w="sm" len="sm"/>
              <a:tailEnd type="none" w="sm" len="sm"/>
            </a:ln>
          </p:spPr>
        </p:cxnSp>
        <p:cxnSp>
          <p:nvCxnSpPr>
            <p:cNvPr id="20" name="Google Shape;20;p15"/>
            <p:cNvCxnSpPr/>
            <p:nvPr/>
          </p:nvCxnSpPr>
          <p:spPr>
            <a:xfrm rot="10800000" flipH="1">
              <a:off x="9350570" y="389273"/>
              <a:ext cx="32003" cy="182734"/>
            </a:xfrm>
            <a:prstGeom prst="straightConnector1">
              <a:avLst/>
            </a:prstGeom>
            <a:noFill/>
            <a:ln w="19050" cap="flat" cmpd="sng">
              <a:solidFill>
                <a:srgbClr val="F5913F"/>
              </a:solidFill>
              <a:prstDash val="solid"/>
              <a:round/>
              <a:headEnd type="none" w="sm" len="sm"/>
              <a:tailEnd type="none" w="sm" len="sm"/>
            </a:ln>
          </p:spPr>
        </p:cxnSp>
        <p:cxnSp>
          <p:nvCxnSpPr>
            <p:cNvPr id="21" name="Google Shape;21;p15"/>
            <p:cNvCxnSpPr/>
            <p:nvPr/>
          </p:nvCxnSpPr>
          <p:spPr>
            <a:xfrm rot="10800000">
              <a:off x="9382572" y="389273"/>
              <a:ext cx="27221" cy="155433"/>
            </a:xfrm>
            <a:prstGeom prst="straightConnector1">
              <a:avLst/>
            </a:prstGeom>
            <a:noFill/>
            <a:ln w="19050" cap="flat" cmpd="sng">
              <a:solidFill>
                <a:srgbClr val="F5913F"/>
              </a:solidFill>
              <a:prstDash val="solid"/>
              <a:round/>
              <a:headEnd type="none" w="sm" len="sm"/>
              <a:tailEnd type="none" w="sm" len="sm"/>
            </a:ln>
          </p:spPr>
        </p:cxnSp>
        <p:cxnSp>
          <p:nvCxnSpPr>
            <p:cNvPr id="22" name="Google Shape;22;p15"/>
            <p:cNvCxnSpPr/>
            <p:nvPr/>
          </p:nvCxnSpPr>
          <p:spPr>
            <a:xfrm rot="10800000" flipH="1">
              <a:off x="9409794" y="481249"/>
              <a:ext cx="11113" cy="63457"/>
            </a:xfrm>
            <a:prstGeom prst="straightConnector1">
              <a:avLst/>
            </a:prstGeom>
            <a:noFill/>
            <a:ln w="19050" cap="flat" cmpd="sng">
              <a:solidFill>
                <a:srgbClr val="F5913F"/>
              </a:solidFill>
              <a:prstDash val="solid"/>
              <a:round/>
              <a:headEnd type="none" w="sm" len="sm"/>
              <a:tailEnd type="none" w="sm" len="sm"/>
            </a:ln>
          </p:spPr>
        </p:cxnSp>
        <p:cxnSp>
          <p:nvCxnSpPr>
            <p:cNvPr id="23" name="Google Shape;23;p15"/>
            <p:cNvCxnSpPr/>
            <p:nvPr/>
          </p:nvCxnSpPr>
          <p:spPr>
            <a:xfrm>
              <a:off x="9420907" y="480640"/>
              <a:ext cx="485093" cy="0"/>
            </a:xfrm>
            <a:prstGeom prst="straightConnector1">
              <a:avLst/>
            </a:prstGeom>
            <a:noFill/>
            <a:ln w="19050" cap="flat" cmpd="sng">
              <a:solidFill>
                <a:srgbClr val="F5913F"/>
              </a:solidFill>
              <a:prstDash val="solid"/>
              <a:round/>
              <a:headEnd type="none" w="sm" len="sm"/>
              <a:tailEnd type="none" w="sm" len="sm"/>
            </a:ln>
          </p:spPr>
        </p:cxnSp>
      </p:grpSp>
      <p:sp>
        <p:nvSpPr>
          <p:cNvPr id="24" name="Google Shape;24;p15"/>
          <p:cNvSpPr txBox="1">
            <a:spLocks noGrp="1"/>
          </p:cNvSpPr>
          <p:nvPr>
            <p:ph type="sldNum" idx="12"/>
          </p:nvPr>
        </p:nvSpPr>
        <p:spPr>
          <a:xfrm>
            <a:off x="9360363" y="6534139"/>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Arial"/>
                <a:ea typeface="Arial"/>
                <a:cs typeface="Arial"/>
                <a:sym typeface="Arial"/>
              </a:defRPr>
            </a:lvl1pPr>
            <a:lvl2pPr marL="0" lvl="1" indent="0" algn="r">
              <a:spcBef>
                <a:spcPts val="0"/>
              </a:spcBef>
              <a:buNone/>
              <a:defRPr sz="1400" b="0" i="0" u="none" strike="noStrike" cap="none">
                <a:solidFill>
                  <a:schemeClr val="dk1"/>
                </a:solidFill>
                <a:latin typeface="Arial"/>
                <a:ea typeface="Arial"/>
                <a:cs typeface="Arial"/>
                <a:sym typeface="Arial"/>
              </a:defRPr>
            </a:lvl2pPr>
            <a:lvl3pPr marL="0" lvl="2" indent="0" algn="r">
              <a:spcBef>
                <a:spcPts val="0"/>
              </a:spcBef>
              <a:buNone/>
              <a:defRPr sz="1400" b="0" i="0" u="none" strike="noStrike" cap="none">
                <a:solidFill>
                  <a:schemeClr val="dk1"/>
                </a:solidFill>
                <a:latin typeface="Arial"/>
                <a:ea typeface="Arial"/>
                <a:cs typeface="Arial"/>
                <a:sym typeface="Arial"/>
              </a:defRPr>
            </a:lvl3pPr>
            <a:lvl4pPr marL="0" lvl="3" indent="0" algn="r">
              <a:spcBef>
                <a:spcPts val="0"/>
              </a:spcBef>
              <a:buNone/>
              <a:defRPr sz="1400" b="0" i="0" u="none" strike="noStrike" cap="none">
                <a:solidFill>
                  <a:schemeClr val="dk1"/>
                </a:solidFill>
                <a:latin typeface="Arial"/>
                <a:ea typeface="Arial"/>
                <a:cs typeface="Arial"/>
                <a:sym typeface="Arial"/>
              </a:defRPr>
            </a:lvl4pPr>
            <a:lvl5pPr marL="0" lvl="4" indent="0" algn="r">
              <a:spcBef>
                <a:spcPts val="0"/>
              </a:spcBef>
              <a:buNone/>
              <a:defRPr sz="1400" b="0" i="0" u="none" strike="noStrike" cap="none">
                <a:solidFill>
                  <a:schemeClr val="dk1"/>
                </a:solidFill>
                <a:latin typeface="Arial"/>
                <a:ea typeface="Arial"/>
                <a:cs typeface="Arial"/>
                <a:sym typeface="Arial"/>
              </a:defRPr>
            </a:lvl5pPr>
            <a:lvl6pPr marL="0" lvl="5" indent="0" algn="r">
              <a:spcBef>
                <a:spcPts val="0"/>
              </a:spcBef>
              <a:buNone/>
              <a:defRPr sz="1400" b="0" i="0" u="none" strike="noStrike" cap="none">
                <a:solidFill>
                  <a:schemeClr val="dk1"/>
                </a:solidFill>
                <a:latin typeface="Arial"/>
                <a:ea typeface="Arial"/>
                <a:cs typeface="Arial"/>
                <a:sym typeface="Arial"/>
              </a:defRPr>
            </a:lvl6pPr>
            <a:lvl7pPr marL="0" lvl="6" indent="0" algn="r">
              <a:spcBef>
                <a:spcPts val="0"/>
              </a:spcBef>
              <a:buNone/>
              <a:defRPr sz="1400" b="0" i="0" u="none" strike="noStrike" cap="none">
                <a:solidFill>
                  <a:schemeClr val="dk1"/>
                </a:solidFill>
                <a:latin typeface="Arial"/>
                <a:ea typeface="Arial"/>
                <a:cs typeface="Arial"/>
                <a:sym typeface="Arial"/>
              </a:defRPr>
            </a:lvl7pPr>
            <a:lvl8pPr marL="0" lvl="7" indent="0" algn="r">
              <a:spcBef>
                <a:spcPts val="0"/>
              </a:spcBef>
              <a:buNone/>
              <a:defRPr sz="1400" b="0" i="0" u="none" strike="noStrike" cap="none">
                <a:solidFill>
                  <a:schemeClr val="dk1"/>
                </a:solidFill>
                <a:latin typeface="Arial"/>
                <a:ea typeface="Arial"/>
                <a:cs typeface="Arial"/>
                <a:sym typeface="Arial"/>
              </a:defRPr>
            </a:lvl8pPr>
            <a:lvl9pPr marL="0" lvl="8" indent="0" algn="r">
              <a:spcBef>
                <a:spcPts val="0"/>
              </a:spcBef>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ja-JP"/>
              <a:pPr marL="0" lvl="0" indent="0" algn="r" rtl="0">
                <a:spcBef>
                  <a:spcPts val="0"/>
                </a:spcBef>
                <a:spcAft>
                  <a:spcPts val="0"/>
                </a:spcAft>
                <a:buNone/>
              </a:pPr>
              <a:t>‹#›</a:t>
            </a:fld>
            <a:endParaRPr/>
          </a:p>
        </p:txBody>
      </p:sp>
    </p:spTree>
    <p:extLst>
      <p:ext uri="{BB962C8B-B14F-4D97-AF65-F5344CB8AC3E}">
        <p14:creationId xmlns:p14="http://schemas.microsoft.com/office/powerpoint/2010/main" val="2197862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2191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246185" y="274639"/>
            <a:ext cx="11654768" cy="38258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2954"/>
              <a:buFont typeface="Arial"/>
              <a:buNone/>
              <a:defRPr sz="2954"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246184" y="800709"/>
            <a:ext cx="11654768" cy="686764"/>
          </a:xfrm>
          <a:prstGeom prst="rect">
            <a:avLst/>
          </a:prstGeom>
          <a:noFill/>
          <a:ln>
            <a:noFill/>
          </a:ln>
        </p:spPr>
        <p:txBody>
          <a:bodyPr spcFirstLastPara="1" wrap="square" lIns="216000" tIns="108000" rIns="216000" bIns="108000" anchor="t" anchorCtr="0">
            <a:spAutoFit/>
          </a:bodyPr>
          <a:lstStyle>
            <a:lvl1pPr marL="457200" marR="0" lvl="0" indent="-384937" algn="l" rtl="0">
              <a:spcBef>
                <a:spcPts val="738"/>
              </a:spcBef>
              <a:spcAft>
                <a:spcPts val="0"/>
              </a:spcAft>
              <a:buClr>
                <a:srgbClr val="002060"/>
              </a:buClr>
              <a:buSzPts val="2462"/>
              <a:buFont typeface="Noto Sans Symbols"/>
              <a:buChar char="●"/>
              <a:defRPr sz="2462" b="0" i="0" u="none" strike="noStrike" cap="none">
                <a:solidFill>
                  <a:schemeClr val="dk1"/>
                </a:solidFill>
                <a:latin typeface="Arial"/>
                <a:ea typeface="Arial"/>
                <a:cs typeface="Arial"/>
                <a:sym typeface="Arial"/>
              </a:defRPr>
            </a:lvl1pPr>
            <a:lvl2pPr marL="914400" marR="0" lvl="1" indent="-338010" algn="l" rtl="0">
              <a:spcBef>
                <a:spcPts val="738"/>
              </a:spcBef>
              <a:spcAft>
                <a:spcPts val="0"/>
              </a:spcAft>
              <a:buClr>
                <a:schemeClr val="dk1"/>
              </a:buClr>
              <a:buSzPts val="1723"/>
              <a:buFont typeface="Arial"/>
              <a:buChar char="–"/>
              <a:defRPr sz="1723" b="0" i="0" u="none" strike="noStrike" cap="none">
                <a:solidFill>
                  <a:schemeClr val="dk1"/>
                </a:solidFill>
                <a:latin typeface="Arial"/>
                <a:ea typeface="Arial"/>
                <a:cs typeface="Arial"/>
                <a:sym typeface="Arial"/>
              </a:defRPr>
            </a:lvl2pPr>
            <a:lvl3pPr marL="1371600" marR="0" lvl="2" indent="-310642" algn="l" rtl="0">
              <a:spcBef>
                <a:spcPts val="738"/>
              </a:spcBef>
              <a:spcAft>
                <a:spcPts val="0"/>
              </a:spcAft>
              <a:buClr>
                <a:schemeClr val="dk1"/>
              </a:buClr>
              <a:buSzPts val="1292"/>
              <a:buFont typeface="Arial"/>
              <a:buChar char="•"/>
              <a:defRPr sz="1292" b="0" i="0" u="none" strike="noStrike" cap="none">
                <a:solidFill>
                  <a:schemeClr val="dk1"/>
                </a:solidFill>
                <a:latin typeface="Arial"/>
                <a:ea typeface="Arial"/>
                <a:cs typeface="Arial"/>
                <a:sym typeface="Arial"/>
              </a:defRPr>
            </a:lvl3pPr>
            <a:lvl4pPr marL="1828800" marR="0" lvl="3" indent="-384936" algn="l" rtl="0">
              <a:spcBef>
                <a:spcPts val="738"/>
              </a:spcBef>
              <a:spcAft>
                <a:spcPts val="0"/>
              </a:spcAft>
              <a:buClr>
                <a:schemeClr val="dk1"/>
              </a:buClr>
              <a:buSzPts val="2462"/>
              <a:buFont typeface="Arial"/>
              <a:buChar char="–"/>
              <a:defRPr sz="2462" b="0" i="0" u="none" strike="noStrike" cap="none">
                <a:solidFill>
                  <a:schemeClr val="dk1"/>
                </a:solidFill>
                <a:latin typeface="Arial"/>
                <a:ea typeface="Arial"/>
                <a:cs typeface="Arial"/>
                <a:sym typeface="Arial"/>
              </a:defRPr>
            </a:lvl4pPr>
            <a:lvl5pPr marL="2286000" marR="0" lvl="4" indent="-384936" algn="l" rtl="0">
              <a:spcBef>
                <a:spcPts val="492"/>
              </a:spcBef>
              <a:spcAft>
                <a:spcPts val="0"/>
              </a:spcAft>
              <a:buClr>
                <a:schemeClr val="dk1"/>
              </a:buClr>
              <a:buSzPts val="2462"/>
              <a:buFont typeface="Arial"/>
              <a:buChar char="»"/>
              <a:defRPr sz="2462" b="0" i="0" u="none" strike="noStrike" cap="none">
                <a:solidFill>
                  <a:schemeClr val="dk1"/>
                </a:solidFill>
                <a:latin typeface="Arial"/>
                <a:ea typeface="Arial"/>
                <a:cs typeface="Arial"/>
                <a:sym typeface="Arial"/>
              </a:defRPr>
            </a:lvl5pPr>
            <a:lvl6pPr marL="2743200" marR="0" lvl="5" indent="-384936" algn="l" rtl="0">
              <a:spcBef>
                <a:spcPts val="492"/>
              </a:spcBef>
              <a:spcAft>
                <a:spcPts val="0"/>
              </a:spcAft>
              <a:buClr>
                <a:schemeClr val="dk1"/>
              </a:buClr>
              <a:buSzPts val="2462"/>
              <a:buFont typeface="Arial"/>
              <a:buChar char="•"/>
              <a:defRPr sz="2462" b="0" i="0" u="none" strike="noStrike" cap="none">
                <a:solidFill>
                  <a:schemeClr val="dk1"/>
                </a:solidFill>
                <a:latin typeface="Calibri"/>
                <a:ea typeface="Calibri"/>
                <a:cs typeface="Calibri"/>
                <a:sym typeface="Calibri"/>
              </a:defRPr>
            </a:lvl6pPr>
            <a:lvl7pPr marL="3200400" marR="0" lvl="6" indent="-384936" algn="l" rtl="0">
              <a:spcBef>
                <a:spcPts val="492"/>
              </a:spcBef>
              <a:spcAft>
                <a:spcPts val="0"/>
              </a:spcAft>
              <a:buClr>
                <a:schemeClr val="dk1"/>
              </a:buClr>
              <a:buSzPts val="2462"/>
              <a:buFont typeface="Arial"/>
              <a:buChar char="•"/>
              <a:defRPr sz="2462" b="0" i="0" u="none" strike="noStrike" cap="none">
                <a:solidFill>
                  <a:schemeClr val="dk1"/>
                </a:solidFill>
                <a:latin typeface="Calibri"/>
                <a:ea typeface="Calibri"/>
                <a:cs typeface="Calibri"/>
                <a:sym typeface="Calibri"/>
              </a:defRPr>
            </a:lvl7pPr>
            <a:lvl8pPr marL="3657600" marR="0" lvl="7" indent="-384936" algn="l" rtl="0">
              <a:spcBef>
                <a:spcPts val="492"/>
              </a:spcBef>
              <a:spcAft>
                <a:spcPts val="0"/>
              </a:spcAft>
              <a:buClr>
                <a:schemeClr val="dk1"/>
              </a:buClr>
              <a:buSzPts val="2462"/>
              <a:buFont typeface="Arial"/>
              <a:buChar char="•"/>
              <a:defRPr sz="2462" b="0" i="0" u="none" strike="noStrike" cap="none">
                <a:solidFill>
                  <a:schemeClr val="dk1"/>
                </a:solidFill>
                <a:latin typeface="Calibri"/>
                <a:ea typeface="Calibri"/>
                <a:cs typeface="Calibri"/>
                <a:sym typeface="Calibri"/>
              </a:defRPr>
            </a:lvl8pPr>
            <a:lvl9pPr marL="4114800" marR="0" lvl="8" indent="-384936" algn="l" rtl="0">
              <a:spcBef>
                <a:spcPts val="492"/>
              </a:spcBef>
              <a:spcAft>
                <a:spcPts val="0"/>
              </a:spcAft>
              <a:buClr>
                <a:schemeClr val="dk1"/>
              </a:buClr>
              <a:buSzPts val="2462"/>
              <a:buFont typeface="Arial"/>
              <a:buChar char="•"/>
              <a:defRPr sz="2462" b="0" i="0" u="none" strike="noStrike" cap="none">
                <a:solidFill>
                  <a:schemeClr val="dk1"/>
                </a:solidFill>
                <a:latin typeface="Calibri"/>
                <a:ea typeface="Calibri"/>
                <a:cs typeface="Calibri"/>
                <a:sym typeface="Calibri"/>
              </a:defRPr>
            </a:lvl9pPr>
          </a:lstStyle>
          <a:p>
            <a:endParaRPr/>
          </a:p>
        </p:txBody>
      </p:sp>
      <p:pic>
        <p:nvPicPr>
          <p:cNvPr id="5" name="図 4">
            <a:extLst>
              <a:ext uri="{FF2B5EF4-FFF2-40B4-BE49-F238E27FC236}">
                <a16:creationId xmlns:a16="http://schemas.microsoft.com/office/drawing/2014/main" id="{43B2DD82-67F6-D8EE-8273-96BEADFC693A}"/>
              </a:ext>
            </a:extLst>
          </p:cNvPr>
          <p:cNvPicPr>
            <a:picLocks noChangeAspect="1"/>
          </p:cNvPicPr>
          <p:nvPr userDrawn="1"/>
        </p:nvPicPr>
        <p:blipFill>
          <a:blip r:embed="rId9"/>
          <a:stretch>
            <a:fillRect/>
          </a:stretch>
        </p:blipFill>
        <p:spPr>
          <a:xfrm>
            <a:off x="10520854" y="97661"/>
            <a:ext cx="1568888" cy="392761"/>
          </a:xfrm>
          <a:prstGeom prst="rect">
            <a:avLst/>
          </a:prstGeom>
        </p:spPr>
      </p:pic>
      <p:sp>
        <p:nvSpPr>
          <p:cNvPr id="6" name="Google Shape;29;p16">
            <a:extLst>
              <a:ext uri="{FF2B5EF4-FFF2-40B4-BE49-F238E27FC236}">
                <a16:creationId xmlns:a16="http://schemas.microsoft.com/office/drawing/2014/main" id="{7F410D85-C74D-16A3-3122-E5EC291FBAD0}"/>
              </a:ext>
            </a:extLst>
          </p:cNvPr>
          <p:cNvSpPr txBox="1"/>
          <p:nvPr userDrawn="1"/>
        </p:nvSpPr>
        <p:spPr>
          <a:xfrm>
            <a:off x="3076547" y="6543656"/>
            <a:ext cx="6052283" cy="365125"/>
          </a:xfrm>
          <a:prstGeom prst="rect">
            <a:avLst/>
          </a:prstGeom>
          <a:noFill/>
          <a:ln>
            <a:noFill/>
          </a:ln>
        </p:spPr>
        <p:txBody>
          <a:bodyPr spcFirstLastPara="1" wrap="square" lIns="112525" tIns="56250" rIns="112525" bIns="56250" anchor="ctr" anchorCtr="0">
            <a:noAutofit/>
          </a:bodyPr>
          <a:lstStyle/>
          <a:p>
            <a:pPr marL="0" marR="0" lvl="0" indent="0" algn="ctr" rtl="0">
              <a:spcBef>
                <a:spcPts val="0"/>
              </a:spcBef>
              <a:spcAft>
                <a:spcPts val="0"/>
              </a:spcAft>
              <a:buNone/>
            </a:pPr>
            <a:r>
              <a:rPr lang="ja-JP" sz="985" b="0" i="0" u="none" strike="noStrike" cap="none">
                <a:solidFill>
                  <a:srgbClr val="243653"/>
                </a:solidFill>
                <a:latin typeface="Arial"/>
                <a:ea typeface="Arial"/>
                <a:cs typeface="Arial"/>
                <a:sym typeface="Arial"/>
              </a:rPr>
              <a:t>様式1： WiCON202</a:t>
            </a:r>
            <a:r>
              <a:rPr lang="en-US" altLang="ja-JP" sz="985" b="0" i="0" u="none" strike="noStrike" cap="none">
                <a:solidFill>
                  <a:srgbClr val="243653"/>
                </a:solidFill>
                <a:latin typeface="Arial"/>
                <a:ea typeface="Arial"/>
                <a:cs typeface="Arial"/>
                <a:sym typeface="Arial"/>
              </a:rPr>
              <a:t>5</a:t>
            </a:r>
            <a:r>
              <a:rPr lang="ja-JP" sz="985" b="0" i="0" u="none" strike="noStrike" cap="none">
                <a:solidFill>
                  <a:srgbClr val="243653"/>
                </a:solidFill>
                <a:latin typeface="Arial"/>
                <a:ea typeface="Arial"/>
                <a:cs typeface="Arial"/>
                <a:sym typeface="Arial"/>
              </a:rPr>
              <a:t>提案内容説明書　ワイヤレス</a:t>
            </a:r>
            <a:r>
              <a:rPr lang="ja-JP" altLang="en-US" sz="985" b="0" i="0" u="none" strike="noStrike" cap="none">
                <a:solidFill>
                  <a:srgbClr val="243653"/>
                </a:solidFill>
                <a:latin typeface="Arial"/>
                <a:ea typeface="Arial"/>
                <a:cs typeface="Arial"/>
                <a:sym typeface="Arial"/>
              </a:rPr>
              <a:t>利活用</a:t>
            </a:r>
            <a:r>
              <a:rPr lang="ja-JP" sz="985" b="0" i="0" u="none" strike="noStrike" cap="none">
                <a:solidFill>
                  <a:srgbClr val="243653"/>
                </a:solidFill>
                <a:latin typeface="Arial"/>
                <a:ea typeface="Arial"/>
                <a:cs typeface="Arial"/>
                <a:sym typeface="Arial"/>
              </a:rPr>
              <a:t>部門</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Hiragino Sans W7" panose="020B0400000000000000" pitchFamily="34" charset="-128"/>
          <a:ea typeface="Hiragino Sans W7" panose="020B04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iragino Sans W4" panose="020B0400000000000000" pitchFamily="34" charset="-128"/>
          <a:ea typeface="Hiragino Sans W4" panose="020B04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jpe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15.jpe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3.xml"/><Relationship Id="rId16"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8.png"/><Relationship Id="rId10"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8.png"/><Relationship Id="rId14" Type="http://schemas.openxmlformats.org/officeDocument/2006/relationships/image" Target="../media/image1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jpe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8.svg"/><Relationship Id="rId18" Type="http://schemas.openxmlformats.org/officeDocument/2006/relationships/image" Target="../media/image24.jpeg"/><Relationship Id="rId3" Type="http://schemas.microsoft.com/office/2018/10/relationships/comments" Target="../comments/modernComment_12C_E491A74.xml"/><Relationship Id="rId21" Type="http://schemas.openxmlformats.org/officeDocument/2006/relationships/image" Target="../media/image35.png"/><Relationship Id="rId7" Type="http://schemas.openxmlformats.org/officeDocument/2006/relationships/image" Target="../media/image7.svg"/><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notesSlide" Target="../notesSlides/notesSlide6.xml"/><Relationship Id="rId16" Type="http://schemas.openxmlformats.org/officeDocument/2006/relationships/image" Target="../media/image31.png"/><Relationship Id="rId20" Type="http://schemas.openxmlformats.org/officeDocument/2006/relationships/image" Target="../media/image34.jpeg"/><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26.jpeg"/><Relationship Id="rId5" Type="http://schemas.openxmlformats.org/officeDocument/2006/relationships/image" Target="../media/image5.svg"/><Relationship Id="rId15" Type="http://schemas.openxmlformats.org/officeDocument/2006/relationships/image" Target="../media/image30.svg"/><Relationship Id="rId23" Type="http://schemas.openxmlformats.org/officeDocument/2006/relationships/image" Target="../media/image37.png"/><Relationship Id="rId10" Type="http://schemas.openxmlformats.org/officeDocument/2006/relationships/image" Target="../media/image3.jpeg"/><Relationship Id="rId19" Type="http://schemas.openxmlformats.org/officeDocument/2006/relationships/image" Target="../media/image33.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29.png"/><Relationship Id="rId22" Type="http://schemas.openxmlformats.org/officeDocument/2006/relationships/image" Target="../media/image36.svg"/></Relationships>
</file>

<file path=ppt/slides/_rels/slide8.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10.png"/><Relationship Id="rId18" Type="http://schemas.openxmlformats.org/officeDocument/2006/relationships/image" Target="../media/image50.svg"/><Relationship Id="rId26" Type="http://schemas.openxmlformats.org/officeDocument/2006/relationships/image" Target="../media/image56.png"/><Relationship Id="rId3" Type="http://schemas.microsoft.com/office/2018/10/relationships/comments" Target="../comments/modernComment_13C_54748BC7.xml"/><Relationship Id="rId21" Type="http://schemas.openxmlformats.org/officeDocument/2006/relationships/image" Target="../media/image53.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49.png"/><Relationship Id="rId25" Type="http://schemas.openxmlformats.org/officeDocument/2006/relationships/image" Target="../media/image55.svg"/><Relationship Id="rId2" Type="http://schemas.openxmlformats.org/officeDocument/2006/relationships/notesSlide" Target="../notesSlides/notesSlide7.xml"/><Relationship Id="rId16" Type="http://schemas.openxmlformats.org/officeDocument/2006/relationships/image" Target="../media/image48.svg"/><Relationship Id="rId20" Type="http://schemas.openxmlformats.org/officeDocument/2006/relationships/image" Target="../media/image52.svg"/><Relationship Id="rId1" Type="http://schemas.openxmlformats.org/officeDocument/2006/relationships/slideLayout" Target="../slideLayouts/slideLayout4.xml"/><Relationship Id="rId6" Type="http://schemas.openxmlformats.org/officeDocument/2006/relationships/image" Target="../media/image40.svg"/><Relationship Id="rId11" Type="http://schemas.openxmlformats.org/officeDocument/2006/relationships/image" Target="../media/image45.png"/><Relationship Id="rId24" Type="http://schemas.openxmlformats.org/officeDocument/2006/relationships/image" Target="../media/image54.png"/><Relationship Id="rId5" Type="http://schemas.openxmlformats.org/officeDocument/2006/relationships/image" Target="../media/image39.png"/><Relationship Id="rId15" Type="http://schemas.openxmlformats.org/officeDocument/2006/relationships/image" Target="../media/image47.png"/><Relationship Id="rId23" Type="http://schemas.openxmlformats.org/officeDocument/2006/relationships/image" Target="../media/image19.svg"/><Relationship Id="rId10" Type="http://schemas.openxmlformats.org/officeDocument/2006/relationships/image" Target="../media/image44.jpeg"/><Relationship Id="rId19" Type="http://schemas.openxmlformats.org/officeDocument/2006/relationships/image" Target="../media/image51.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11.svg"/><Relationship Id="rId22" Type="http://schemas.openxmlformats.org/officeDocument/2006/relationships/image" Target="../media/image18.png"/><Relationship Id="rId27" Type="http://schemas.openxmlformats.org/officeDocument/2006/relationships/image" Target="../media/image57.svg"/></Relationships>
</file>

<file path=ppt/slides/_rels/slide9.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14.jpeg"/><Relationship Id="rId3" Type="http://schemas.openxmlformats.org/officeDocument/2006/relationships/image" Target="../media/image58.png"/><Relationship Id="rId7" Type="http://schemas.openxmlformats.org/officeDocument/2006/relationships/image" Target="../media/image62.png"/><Relationship Id="rId12" Type="http://schemas.microsoft.com/office/2007/relationships/hdphoto" Target="../media/hdphoto1.wdp"/><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1.jpeg"/><Relationship Id="rId11" Type="http://schemas.openxmlformats.org/officeDocument/2006/relationships/image" Target="../media/image66.png"/><Relationship Id="rId5" Type="http://schemas.openxmlformats.org/officeDocument/2006/relationships/image" Target="../media/image60.svg"/><Relationship Id="rId10" Type="http://schemas.openxmlformats.org/officeDocument/2006/relationships/image" Target="../media/image65.sv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5.sv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67.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64.png"/><Relationship Id="rId3" Type="http://schemas.microsoft.com/office/2018/10/relationships/comments" Target="../comments/modernComment_131_AC501D08.xml"/><Relationship Id="rId7"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70.jpeg"/><Relationship Id="rId11" Type="http://schemas.openxmlformats.org/officeDocument/2006/relationships/image" Target="../media/image63.svg"/><Relationship Id="rId5" Type="http://schemas.openxmlformats.org/officeDocument/2006/relationships/image" Target="../media/image69.png"/><Relationship Id="rId10" Type="http://schemas.openxmlformats.org/officeDocument/2006/relationships/image" Target="../media/image62.png"/><Relationship Id="rId4" Type="http://schemas.openxmlformats.org/officeDocument/2006/relationships/image" Target="../media/image68.jpeg"/><Relationship Id="rId9" Type="http://schemas.openxmlformats.org/officeDocument/2006/relationships/image" Target="../media/image65.svg"/></Relationships>
</file>

<file path=ppt/slides/_rels/slide1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7.svg"/><Relationship Id="rId11" Type="http://schemas.openxmlformats.org/officeDocument/2006/relationships/image" Target="../media/image72.jpeg"/><Relationship Id="rId5" Type="http://schemas.openxmlformats.org/officeDocument/2006/relationships/image" Target="../media/image6.png"/><Relationship Id="rId10" Type="http://schemas.openxmlformats.org/officeDocument/2006/relationships/image" Target="../media/image63.svg"/><Relationship Id="rId4" Type="http://schemas.openxmlformats.org/officeDocument/2006/relationships/image" Target="../media/image5.svg"/><Relationship Id="rId9" Type="http://schemas.openxmlformats.org/officeDocument/2006/relationships/image" Target="../media/image6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8.jpeg"/><Relationship Id="rId7" Type="http://schemas.openxmlformats.org/officeDocument/2006/relationships/image" Target="../media/image73.jpe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71.png"/><Relationship Id="rId11" Type="http://schemas.openxmlformats.org/officeDocument/2006/relationships/image" Target="../media/image74.svg"/><Relationship Id="rId5" Type="http://schemas.openxmlformats.org/officeDocument/2006/relationships/image" Target="../media/image70.jpeg"/><Relationship Id="rId10" Type="http://schemas.openxmlformats.org/officeDocument/2006/relationships/image" Target="../media/image4.png"/><Relationship Id="rId4" Type="http://schemas.openxmlformats.org/officeDocument/2006/relationships/image" Target="../media/image69.png"/><Relationship Id="rId9"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76.jpeg"/><Relationship Id="rId5" Type="http://schemas.openxmlformats.org/officeDocument/2006/relationships/image" Target="../media/image72.jpeg"/><Relationship Id="rId4" Type="http://schemas.openxmlformats.org/officeDocument/2006/relationships/image" Target="../media/image75.png"/></Relationships>
</file>

<file path=ppt/slides/_rels/slide1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78.png"/></Relationships>
</file>

<file path=ppt/slides/_rels/slide1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2.jpeg"/><Relationship Id="rId1" Type="http://schemas.openxmlformats.org/officeDocument/2006/relationships/slideLayout" Target="../slideLayouts/slideLayout5.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35_9915D968.xml"/><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C2DC33F-5DDC-9A3D-E626-997E2D63EC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t>0</a:t>
            </a:fld>
            <a:endParaRPr lang="en-US"/>
          </a:p>
        </p:txBody>
      </p:sp>
      <p:sp>
        <p:nvSpPr>
          <p:cNvPr id="3" name="タイトル 2">
            <a:extLst>
              <a:ext uri="{FF2B5EF4-FFF2-40B4-BE49-F238E27FC236}">
                <a16:creationId xmlns:a16="http://schemas.microsoft.com/office/drawing/2014/main" id="{66D40FD4-33D9-03CF-D6BE-B435AE0B5DE4}"/>
              </a:ext>
            </a:extLst>
          </p:cNvPr>
          <p:cNvSpPr>
            <a:spLocks noGrp="1"/>
          </p:cNvSpPr>
          <p:nvPr>
            <p:ph type="title"/>
          </p:nvPr>
        </p:nvSpPr>
        <p:spPr>
          <a:xfrm>
            <a:off x="3225280" y="2567483"/>
            <a:ext cx="5567846" cy="382587"/>
          </a:xfrm>
        </p:spPr>
        <p:txBody>
          <a:bodyPr/>
          <a:lstStyle/>
          <a:p>
            <a:r>
              <a:rPr kumimoji="1" lang="ja-JP" altLang="en-US" sz="4800">
                <a:solidFill>
                  <a:srgbClr val="0070C0"/>
                </a:solidFill>
                <a:latin typeface="HG創英角ｺﾞｼｯｸUB" panose="020B0909000000000000" pitchFamily="49" charset="-128"/>
                <a:ea typeface="HG創英角ｺﾞｼｯｸUB" panose="020B0909000000000000" pitchFamily="49" charset="-128"/>
              </a:rPr>
              <a:t>ブルーシーカーズ</a:t>
            </a:r>
          </a:p>
        </p:txBody>
      </p:sp>
      <p:pic>
        <p:nvPicPr>
          <p:cNvPr id="1026" name="Picture 2">
            <a:extLst>
              <a:ext uri="{FF2B5EF4-FFF2-40B4-BE49-F238E27FC236}">
                <a16:creationId xmlns:a16="http://schemas.microsoft.com/office/drawing/2014/main" id="{AC953289-BA81-EFC4-7E20-ACCFF5E7F5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32" t="21222" r="2764" b="27333"/>
          <a:stretch/>
        </p:blipFill>
        <p:spPr bwMode="auto">
          <a:xfrm>
            <a:off x="1009650" y="4382173"/>
            <a:ext cx="4184650" cy="1949857"/>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82;p1">
            <a:extLst>
              <a:ext uri="{FF2B5EF4-FFF2-40B4-BE49-F238E27FC236}">
                <a16:creationId xmlns:a16="http://schemas.microsoft.com/office/drawing/2014/main" id="{49AA2ACC-7B34-A0D7-3308-D10829436AF6}"/>
              </a:ext>
            </a:extLst>
          </p:cNvPr>
          <p:cNvSpPr txBox="1"/>
          <p:nvPr/>
        </p:nvSpPr>
        <p:spPr>
          <a:xfrm>
            <a:off x="212422" y="152276"/>
            <a:ext cx="5204128" cy="762124"/>
          </a:xfrm>
          <a:prstGeom prst="rect">
            <a:avLst/>
          </a:prstGeom>
          <a:solidFill>
            <a:srgbClr val="54C1D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400" b="1" i="0" u="none" strike="noStrike" kern="0" cap="none" spc="0" normalizeH="0" baseline="0" noProof="0">
                <a:ln>
                  <a:noFill/>
                </a:ln>
                <a:solidFill>
                  <a:srgbClr val="243653"/>
                </a:solidFill>
                <a:effectLst/>
                <a:uLnTx/>
                <a:uFillTx/>
                <a:latin typeface="Arial"/>
                <a:ea typeface="Arial"/>
                <a:cs typeface="Arial"/>
                <a:sym typeface="Arial"/>
              </a:rPr>
              <a:t>WiCON2025 </a:t>
            </a:r>
            <a:r>
              <a:rPr kumimoji="0" lang="ja-JP" altLang="en-US" sz="2400" b="1" i="0" u="none" strike="noStrike" kern="0" cap="none" spc="0" normalizeH="0" baseline="0" noProof="0">
                <a:ln>
                  <a:noFill/>
                </a:ln>
                <a:solidFill>
                  <a:srgbClr val="243653"/>
                </a:solidFill>
                <a:effectLst/>
                <a:uLnTx/>
                <a:uFillTx/>
                <a:latin typeface="Arial"/>
                <a:ea typeface="Arial"/>
                <a:cs typeface="Arial"/>
                <a:sym typeface="Arial"/>
              </a:rPr>
              <a:t>ワイヤレス</a:t>
            </a:r>
            <a:r>
              <a:rPr kumimoji="0" lang="ja-JP" altLang="en-US" sz="2400" b="1" i="0" u="none" strike="noStrike" kern="0" cap="none" spc="0" normalizeH="0" baseline="0" noProof="0">
                <a:ln>
                  <a:noFill/>
                </a:ln>
                <a:solidFill>
                  <a:srgbClr val="F9F57A"/>
                </a:solidFill>
                <a:effectLst/>
                <a:uLnTx/>
                <a:uFillTx/>
                <a:latin typeface="Arial"/>
                <a:ea typeface="Arial"/>
                <a:cs typeface="Arial"/>
                <a:sym typeface="Arial"/>
              </a:rPr>
              <a:t>利活用</a:t>
            </a:r>
            <a:r>
              <a:rPr kumimoji="0" lang="ja-JP" altLang="en-US" sz="2400" b="1" i="0" u="none" strike="noStrike" kern="0" cap="none" spc="0" normalizeH="0" baseline="0" noProof="0">
                <a:ln>
                  <a:noFill/>
                </a:ln>
                <a:solidFill>
                  <a:srgbClr val="243653"/>
                </a:solidFill>
                <a:effectLst/>
                <a:uLnTx/>
                <a:uFillTx/>
                <a:latin typeface="Arial"/>
                <a:ea typeface="Arial"/>
                <a:cs typeface="Arial"/>
                <a:sym typeface="Arial"/>
              </a:rPr>
              <a:t>部門</a:t>
            </a:r>
            <a:endParaRPr kumimoji="0" sz="2400" b="1" i="0" u="none" strike="noStrike" kern="0" cap="none" spc="0" normalizeH="0" baseline="0" noProof="0">
              <a:ln>
                <a:noFill/>
              </a:ln>
              <a:solidFill>
                <a:srgbClr val="243653"/>
              </a:solidFill>
              <a:effectLst/>
              <a:uLnTx/>
              <a:uFillTx/>
              <a:latin typeface="Arial"/>
              <a:ea typeface="Arial"/>
              <a:cs typeface="Arial"/>
              <a:sym typeface="Arial"/>
            </a:endParaRPr>
          </a:p>
        </p:txBody>
      </p:sp>
      <p:sp>
        <p:nvSpPr>
          <p:cNvPr id="6" name="テキスト ボックス 5">
            <a:extLst>
              <a:ext uri="{FF2B5EF4-FFF2-40B4-BE49-F238E27FC236}">
                <a16:creationId xmlns:a16="http://schemas.microsoft.com/office/drawing/2014/main" id="{3B8893E4-DDD0-A23E-97E5-CC082F06BF41}"/>
              </a:ext>
            </a:extLst>
          </p:cNvPr>
          <p:cNvSpPr txBox="1"/>
          <p:nvPr/>
        </p:nvSpPr>
        <p:spPr>
          <a:xfrm>
            <a:off x="795206" y="3299023"/>
            <a:ext cx="11468100" cy="448071"/>
          </a:xfrm>
          <a:prstGeom prst="rect">
            <a:avLst/>
          </a:prstGeom>
          <a:noFill/>
        </p:spPr>
        <p:txBody>
          <a:bodyPr wrap="square">
            <a:spAutoFit/>
          </a:bodyPr>
          <a:lstStyle/>
          <a:p>
            <a:pPr marL="0" marR="0" lvl="0" indent="0" algn="l" rtl="0">
              <a:lnSpc>
                <a:spcPct val="130000"/>
              </a:lnSpc>
              <a:spcBef>
                <a:spcPts val="0"/>
              </a:spcBef>
              <a:spcAft>
                <a:spcPts val="0"/>
              </a:spcAft>
              <a:buNone/>
            </a:pPr>
            <a:r>
              <a:rPr lang="ja-JP" altLang="en-US" sz="2000" b="1" u="none" strike="noStrike" cap="none">
                <a:solidFill>
                  <a:schemeClr val="tx1"/>
                </a:solidFill>
                <a:latin typeface="Arial"/>
                <a:ea typeface="Arial"/>
                <a:cs typeface="Arial"/>
                <a:sym typeface="Arial"/>
              </a:rPr>
              <a:t>ー英虞湾の環境保全を目的とした電磁センサ搭載水中ドローンによる沈殿ゴミ探査の実証</a:t>
            </a:r>
            <a:r>
              <a:rPr lang="ja-JP" altLang="en-US" sz="2000" b="1">
                <a:solidFill>
                  <a:schemeClr val="tx1"/>
                </a:solidFill>
              </a:rPr>
              <a:t>ー</a:t>
            </a:r>
            <a:endParaRPr lang="ja-JP" altLang="en-US" sz="2000" b="1" u="none" strike="noStrike" cap="none">
              <a:solidFill>
                <a:schemeClr val="tx1"/>
              </a:solidFill>
              <a:latin typeface="Arial"/>
              <a:ea typeface="Arial"/>
              <a:cs typeface="Arial"/>
              <a:sym typeface="Arial"/>
            </a:endParaRPr>
          </a:p>
        </p:txBody>
      </p:sp>
      <p:sp>
        <p:nvSpPr>
          <p:cNvPr id="8" name="テキスト ボックス 7">
            <a:extLst>
              <a:ext uri="{FF2B5EF4-FFF2-40B4-BE49-F238E27FC236}">
                <a16:creationId xmlns:a16="http://schemas.microsoft.com/office/drawing/2014/main" id="{04D64CBF-7940-C81A-3E2C-218703F5C8AB}"/>
              </a:ext>
            </a:extLst>
          </p:cNvPr>
          <p:cNvSpPr txBox="1"/>
          <p:nvPr/>
        </p:nvSpPr>
        <p:spPr>
          <a:xfrm>
            <a:off x="6096000" y="4444999"/>
            <a:ext cx="6251574"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400" b="1" u="none" strike="noStrike" cap="none">
                <a:solidFill>
                  <a:srgbClr val="243653"/>
                </a:solidFill>
                <a:latin typeface="Arial"/>
                <a:ea typeface="Arial"/>
                <a:cs typeface="Arial"/>
                <a:sym typeface="Arial"/>
              </a:rPr>
              <a:t>野下航輝／鈴鹿高専 電子情報工学科／本科５年</a:t>
            </a:r>
            <a:endParaRPr lang="en-US" altLang="ja-JP" sz="1400" b="1" u="none" strike="noStrike" cap="none">
              <a:solidFill>
                <a:srgbClr val="243653"/>
              </a:solidFill>
              <a:latin typeface="Arial"/>
              <a:ea typeface="Arial"/>
              <a:cs typeface="Arial"/>
              <a:sym typeface="Arial"/>
            </a:endParaRPr>
          </a:p>
          <a:p>
            <a:pPr>
              <a:defRPr/>
            </a:pPr>
            <a:r>
              <a:rPr lang="ja-JP" altLang="en-US" sz="1400" b="1" u="none" strike="noStrike" cap="none">
                <a:solidFill>
                  <a:srgbClr val="243653"/>
                </a:solidFill>
                <a:latin typeface="Arial"/>
                <a:ea typeface="Arial"/>
                <a:cs typeface="Arial"/>
                <a:sym typeface="Arial"/>
              </a:rPr>
              <a:t>森想一郎／鈴鹿高専</a:t>
            </a:r>
            <a:r>
              <a:rPr lang="en-US" altLang="ja-JP" sz="1400" b="1" u="none" strike="noStrike" cap="none">
                <a:solidFill>
                  <a:srgbClr val="243653"/>
                </a:solidFill>
                <a:latin typeface="Arial"/>
                <a:ea typeface="Arial"/>
                <a:cs typeface="Arial"/>
                <a:sym typeface="Arial"/>
              </a:rPr>
              <a:t> </a:t>
            </a:r>
            <a:r>
              <a:rPr lang="ja-JP" altLang="en-US" sz="1400" b="1" u="none" strike="noStrike" cap="none">
                <a:solidFill>
                  <a:srgbClr val="243653"/>
                </a:solidFill>
                <a:latin typeface="Arial"/>
                <a:ea typeface="Arial"/>
                <a:cs typeface="Arial"/>
                <a:sym typeface="Arial"/>
              </a:rPr>
              <a:t>総合イノベーション工学専攻／専攻科</a:t>
            </a:r>
            <a:r>
              <a:rPr lang="ja-JP" altLang="en-US" b="1">
                <a:solidFill>
                  <a:srgbClr val="243653"/>
                </a:solidFill>
              </a:rPr>
              <a:t>１</a:t>
            </a:r>
            <a:r>
              <a:rPr lang="ja-JP" altLang="en-US" sz="1400" b="1" u="none" strike="noStrike" cap="none">
                <a:solidFill>
                  <a:srgbClr val="243653"/>
                </a:solidFill>
                <a:latin typeface="Arial"/>
                <a:ea typeface="Arial"/>
                <a:cs typeface="Arial"/>
                <a:sym typeface="Arial"/>
              </a:rPr>
              <a:t>年</a:t>
            </a:r>
          </a:p>
          <a:p>
            <a:pPr>
              <a:defRPr/>
            </a:pPr>
            <a:r>
              <a:rPr lang="ja-JP" altLang="en-US" sz="1400" b="1" u="none" strike="noStrike" cap="none">
                <a:solidFill>
                  <a:srgbClr val="243653"/>
                </a:solidFill>
                <a:latin typeface="Arial"/>
                <a:ea typeface="Arial"/>
                <a:cs typeface="Arial"/>
                <a:sym typeface="Arial"/>
              </a:rPr>
              <a:t>辛川友斗／佐世保高専</a:t>
            </a:r>
            <a:r>
              <a:rPr lang="en-US" altLang="ja-JP" sz="1400" b="1" u="none" strike="noStrike" cap="none">
                <a:solidFill>
                  <a:srgbClr val="243653"/>
                </a:solidFill>
                <a:latin typeface="Arial"/>
                <a:ea typeface="Arial"/>
                <a:cs typeface="Arial"/>
                <a:sym typeface="Arial"/>
              </a:rPr>
              <a:t> </a:t>
            </a:r>
            <a:r>
              <a:rPr lang="ja-JP" altLang="en-US" sz="1400" b="1" u="none" strike="noStrike" cap="none">
                <a:solidFill>
                  <a:srgbClr val="243653"/>
                </a:solidFill>
                <a:latin typeface="Arial"/>
                <a:ea typeface="Arial"/>
                <a:cs typeface="Arial"/>
                <a:sym typeface="Arial"/>
              </a:rPr>
              <a:t>情報知能工学科／本科５年</a:t>
            </a:r>
            <a:endParaRPr lang="en-US" altLang="ja-JP" sz="1400" b="1" u="none" strike="noStrike" cap="none">
              <a:solidFill>
                <a:srgbClr val="243653"/>
              </a:solidFill>
              <a:latin typeface="Arial"/>
              <a:ea typeface="Arial"/>
              <a:cs typeface="Arial"/>
              <a:sym typeface="Arial"/>
            </a:endParaRPr>
          </a:p>
          <a:p>
            <a:pPr>
              <a:defRPr/>
            </a:pPr>
            <a:r>
              <a:rPr lang="ja-JP" altLang="en-US" sz="1400" b="1" u="none" strike="noStrike" cap="none">
                <a:solidFill>
                  <a:srgbClr val="243653"/>
                </a:solidFill>
                <a:latin typeface="Arial"/>
                <a:ea typeface="Arial"/>
                <a:cs typeface="Arial"/>
                <a:sym typeface="Arial"/>
              </a:rPr>
              <a:t>岩志　晴／佐世保高専</a:t>
            </a:r>
            <a:r>
              <a:rPr lang="en-US" altLang="ja-JP" sz="1400" b="1" u="none" strike="noStrike" cap="none">
                <a:solidFill>
                  <a:srgbClr val="243653"/>
                </a:solidFill>
                <a:latin typeface="Arial"/>
                <a:ea typeface="Arial"/>
                <a:cs typeface="Arial"/>
                <a:sym typeface="Arial"/>
              </a:rPr>
              <a:t> </a:t>
            </a:r>
            <a:r>
              <a:rPr lang="ja-JP" altLang="en-US" sz="1400" b="1" u="none" strike="noStrike" cap="none">
                <a:solidFill>
                  <a:srgbClr val="243653"/>
                </a:solidFill>
                <a:latin typeface="Arial"/>
                <a:ea typeface="Arial"/>
                <a:cs typeface="Arial"/>
                <a:sym typeface="Arial"/>
              </a:rPr>
              <a:t>情報知能工学科／本科５年</a:t>
            </a:r>
          </a:p>
          <a:p>
            <a:pPr>
              <a:defRPr/>
            </a:pPr>
            <a:endParaRPr lang="ja-JP" altLang="en-US" sz="1400" b="1" u="none" strike="noStrike" cap="none">
              <a:solidFill>
                <a:srgbClr val="243653"/>
              </a:solidFill>
              <a:latin typeface="Arial"/>
              <a:ea typeface="Arial"/>
              <a:cs typeface="Arial"/>
              <a:sym typeface="Arial"/>
            </a:endParaRPr>
          </a:p>
          <a:p>
            <a:pPr>
              <a:defRPr/>
            </a:pPr>
            <a:r>
              <a:rPr lang="ja-JP" altLang="en-US" sz="1400" b="1" u="none" strike="noStrike" cap="none">
                <a:solidFill>
                  <a:srgbClr val="243653"/>
                </a:solidFill>
                <a:latin typeface="Arial"/>
                <a:ea typeface="Arial"/>
                <a:cs typeface="Arial"/>
                <a:sym typeface="Arial"/>
              </a:rPr>
              <a:t>板谷年也／鈴鹿高専 電子情報工学科・准教授</a:t>
            </a:r>
            <a:endParaRPr lang="en-US" altLang="ja-JP" sz="1400" b="1" u="none" strike="noStrike" cap="none">
              <a:solidFill>
                <a:srgbClr val="243653"/>
              </a:solidFill>
              <a:latin typeface="Arial"/>
              <a:ea typeface="Arial"/>
              <a:cs typeface="Arial"/>
              <a:sym typeface="Arial"/>
            </a:endParaRPr>
          </a:p>
          <a:p>
            <a:pPr>
              <a:defRPr/>
            </a:pPr>
            <a:r>
              <a:rPr lang="ja-JP" altLang="en-US" sz="1400" b="1" u="none" strike="noStrike" cap="none">
                <a:solidFill>
                  <a:srgbClr val="243653"/>
                </a:solidFill>
                <a:latin typeface="Arial"/>
                <a:ea typeface="Arial"/>
                <a:cs typeface="Arial"/>
                <a:sym typeface="Arial"/>
              </a:rPr>
              <a:t>兼田一幸／佐世保高専</a:t>
            </a:r>
            <a:r>
              <a:rPr lang="en-US" altLang="ja-JP" sz="1400" b="1" u="none" strike="noStrike" cap="none">
                <a:solidFill>
                  <a:srgbClr val="243653"/>
                </a:solidFill>
                <a:latin typeface="Arial"/>
                <a:ea typeface="Arial"/>
                <a:cs typeface="Arial"/>
                <a:sym typeface="Arial"/>
              </a:rPr>
              <a:t> </a:t>
            </a:r>
            <a:r>
              <a:rPr lang="ja-JP" altLang="en-US" sz="1400" b="1" u="none" strike="noStrike" cap="none">
                <a:solidFill>
                  <a:srgbClr val="243653"/>
                </a:solidFill>
                <a:latin typeface="Arial"/>
                <a:ea typeface="Arial"/>
                <a:cs typeface="Arial"/>
                <a:sym typeface="Arial"/>
              </a:rPr>
              <a:t>情報知能工学科・教授</a:t>
            </a:r>
            <a:br>
              <a:rPr lang="en-US" altLang="ja-JP" sz="1400" b="1" u="none" strike="noStrike" cap="none">
                <a:solidFill>
                  <a:srgbClr val="243653"/>
                </a:solidFill>
                <a:latin typeface="Arial"/>
                <a:ea typeface="Arial"/>
                <a:cs typeface="Arial"/>
                <a:sym typeface="Arial"/>
              </a:rPr>
            </a:br>
            <a:r>
              <a:rPr lang="ja-JP" altLang="en-US" sz="1400" b="1" u="none" strike="noStrike" cap="none">
                <a:solidFill>
                  <a:srgbClr val="243653"/>
                </a:solidFill>
                <a:latin typeface="Arial"/>
                <a:ea typeface="Arial"/>
                <a:cs typeface="Arial"/>
                <a:sym typeface="Arial"/>
              </a:rPr>
              <a:t>長嶋豊／佐世保高専</a:t>
            </a:r>
            <a:r>
              <a:rPr lang="en-US" altLang="ja-JP" sz="1400" b="1" u="none" strike="noStrike" cap="none">
                <a:solidFill>
                  <a:srgbClr val="243653"/>
                </a:solidFill>
                <a:latin typeface="Arial"/>
                <a:ea typeface="Arial"/>
                <a:cs typeface="Arial"/>
                <a:sym typeface="Arial"/>
              </a:rPr>
              <a:t> </a:t>
            </a:r>
            <a:r>
              <a:rPr lang="ja-JP" altLang="en-US" sz="1400" b="1" u="none" strike="noStrike" cap="none">
                <a:solidFill>
                  <a:srgbClr val="243653"/>
                </a:solidFill>
                <a:latin typeface="Arial"/>
                <a:ea typeface="Arial"/>
                <a:cs typeface="Arial"/>
                <a:sym typeface="Arial"/>
              </a:rPr>
              <a:t>地域共同テクノセンター・特命教授</a:t>
            </a:r>
            <a:endParaRPr lang="en-US" altLang="ja-JP" sz="1400" b="1" u="none" strike="noStrike" cap="none">
              <a:solidFill>
                <a:srgbClr val="243653"/>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ja-JP" altLang="en-US" sz="1400" b="1" u="none" strike="noStrike" cap="none">
              <a:solidFill>
                <a:srgbClr val="243653"/>
              </a:solidFill>
              <a:latin typeface="Arial"/>
              <a:ea typeface="Arial"/>
              <a:cs typeface="Arial"/>
              <a:sym typeface="Arial"/>
            </a:endParaRPr>
          </a:p>
        </p:txBody>
      </p:sp>
    </p:spTree>
    <p:extLst>
      <p:ext uri="{BB962C8B-B14F-4D97-AF65-F5344CB8AC3E}">
        <p14:creationId xmlns:p14="http://schemas.microsoft.com/office/powerpoint/2010/main" val="70114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graphicFrame>
        <p:nvGraphicFramePr>
          <p:cNvPr id="80" name="Google Shape;80;p1"/>
          <p:cNvGraphicFramePr/>
          <p:nvPr>
            <p:extLst>
              <p:ext uri="{D42A27DB-BD31-4B8C-83A1-F6EECF244321}">
                <p14:modId xmlns:p14="http://schemas.microsoft.com/office/powerpoint/2010/main" val="1658932476"/>
              </p:ext>
            </p:extLst>
          </p:nvPr>
        </p:nvGraphicFramePr>
        <p:xfrm>
          <a:off x="253018" y="666038"/>
          <a:ext cx="11699625" cy="1538725"/>
        </p:xfrm>
        <a:graphic>
          <a:graphicData uri="http://schemas.openxmlformats.org/drawingml/2006/table">
            <a:tbl>
              <a:tblPr firstRow="1" bandRow="1">
                <a:noFill/>
                <a:tableStyleId>{5FA7AA36-D1FC-4EAE-9539-4A473F75BAE8}</a:tableStyleId>
              </a:tblPr>
              <a:tblGrid>
                <a:gridCol w="1781725">
                  <a:extLst>
                    <a:ext uri="{9D8B030D-6E8A-4147-A177-3AD203B41FA5}">
                      <a16:colId xmlns:a16="http://schemas.microsoft.com/office/drawing/2014/main" val="20000"/>
                    </a:ext>
                  </a:extLst>
                </a:gridCol>
                <a:gridCol w="9917900">
                  <a:extLst>
                    <a:ext uri="{9D8B030D-6E8A-4147-A177-3AD203B41FA5}">
                      <a16:colId xmlns:a16="http://schemas.microsoft.com/office/drawing/2014/main" val="20001"/>
                    </a:ext>
                  </a:extLst>
                </a:gridCol>
              </a:tblGrid>
              <a:tr h="602725">
                <a:tc>
                  <a:txBody>
                    <a:bodyPr/>
                    <a:lstStyle/>
                    <a:p>
                      <a:pPr marL="0" marR="0" lvl="0" indent="0" algn="l" rtl="0">
                        <a:spcBef>
                          <a:spcPts val="0"/>
                        </a:spcBef>
                        <a:spcAft>
                          <a:spcPts val="0"/>
                        </a:spcAft>
                        <a:buNone/>
                      </a:pPr>
                      <a:r>
                        <a:rPr lang="ja-JP" sz="1700" b="1" u="none" strike="noStrike" cap="none">
                          <a:solidFill>
                            <a:schemeClr val="lt1"/>
                          </a:solidFill>
                          <a:latin typeface="Arial"/>
                          <a:ea typeface="Arial"/>
                          <a:cs typeface="Arial"/>
                          <a:sym typeface="Arial"/>
                        </a:rPr>
                        <a:t>学校名</a:t>
                      </a:r>
                      <a:endParaRPr/>
                    </a:p>
                  </a:txBody>
                  <a:tcPr marL="265850" marR="112550" marT="56275" marB="56275" anchor="ctr">
                    <a:lnL w="3810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rgbClr val="54C1DF"/>
                    </a:solidFill>
                  </a:tcPr>
                </a:tc>
                <a:tc>
                  <a:txBody>
                    <a:bodyPr/>
                    <a:lstStyle/>
                    <a:p>
                      <a:pPr marL="0" marR="0" lvl="0" indent="0" algn="l" rtl="0">
                        <a:spcBef>
                          <a:spcPts val="0"/>
                        </a:spcBef>
                        <a:spcAft>
                          <a:spcPts val="0"/>
                        </a:spcAft>
                        <a:buNone/>
                      </a:pPr>
                      <a:r>
                        <a:rPr lang="ja-JP" altLang="en-US" sz="2200" b="1" u="none" strike="noStrike" cap="none">
                          <a:solidFill>
                            <a:schemeClr val="dk1"/>
                          </a:solidFill>
                          <a:latin typeface="Arial"/>
                          <a:ea typeface="Arial"/>
                          <a:cs typeface="Arial"/>
                          <a:sym typeface="Arial"/>
                        </a:rPr>
                        <a:t>鈴鹿工業高等専門学校、佐世保工業高等専門学校</a:t>
                      </a:r>
                      <a:endParaRPr sz="2200" b="1" u="none" strike="noStrike" cap="none">
                        <a:solidFill>
                          <a:schemeClr val="dk1"/>
                        </a:solidFill>
                        <a:latin typeface="Arial"/>
                        <a:ea typeface="Arial"/>
                        <a:cs typeface="Arial"/>
                        <a:sym typeface="Arial"/>
                      </a:endParaRPr>
                    </a:p>
                  </a:txBody>
                  <a:tcPr marL="310150" marR="112550" marT="56275" marB="56275" anchor="ctr">
                    <a:lnL w="3810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0"/>
                  </a:ext>
                </a:extLst>
              </a:tr>
              <a:tr h="936000">
                <a:tc>
                  <a:txBody>
                    <a:bodyPr/>
                    <a:lstStyle/>
                    <a:p>
                      <a:pPr marL="0" marR="0" lvl="0" indent="0" algn="l" rtl="0">
                        <a:lnSpc>
                          <a:spcPct val="120000"/>
                        </a:lnSpc>
                        <a:spcBef>
                          <a:spcPts val="0"/>
                        </a:spcBef>
                        <a:spcAft>
                          <a:spcPts val="0"/>
                        </a:spcAft>
                        <a:buNone/>
                      </a:pPr>
                      <a:r>
                        <a:rPr lang="ja-JP" sz="1700" b="1" u="none" strike="noStrike" cap="none">
                          <a:solidFill>
                            <a:schemeClr val="lt1"/>
                          </a:solidFill>
                          <a:latin typeface="Arial"/>
                          <a:ea typeface="Arial"/>
                          <a:cs typeface="Arial"/>
                          <a:sym typeface="Arial"/>
                        </a:rPr>
                        <a:t>チーム名</a:t>
                      </a:r>
                      <a:endParaRPr sz="1700" b="1" u="none" strike="noStrike" cap="none">
                        <a:solidFill>
                          <a:schemeClr val="lt1"/>
                        </a:solidFill>
                        <a:latin typeface="Arial"/>
                        <a:ea typeface="Arial"/>
                        <a:cs typeface="Arial"/>
                        <a:sym typeface="Arial"/>
                      </a:endParaRPr>
                    </a:p>
                  </a:txBody>
                  <a:tcPr marL="265850" marR="112550" marT="56275" marB="56275" anchor="ctr">
                    <a:lnL w="3810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rgbClr val="54C1D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b="1" i="0" u="none" strike="noStrike" cap="none">
                          <a:solidFill>
                            <a:srgbClr val="0070C0"/>
                          </a:solidFill>
                          <a:effectLst/>
                          <a:latin typeface="HGP創英角ｺﾞｼｯｸUB" panose="020B0900000000000000" pitchFamily="50" charset="-128"/>
                          <a:ea typeface="HGP創英角ｺﾞｼｯｸUB" panose="020B0900000000000000" pitchFamily="50" charset="-128"/>
                          <a:cs typeface="Calibri"/>
                          <a:sym typeface="Arial"/>
                        </a:rPr>
                        <a:t>ブルーシーカーズ</a:t>
                      </a:r>
                    </a:p>
                  </a:txBody>
                  <a:tcPr marL="310150" marR="112550" marT="56275" marB="56275" anchor="ctr">
                    <a:lnL w="3810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bl>
          </a:graphicData>
        </a:graphic>
      </p:graphicFrame>
      <p:graphicFrame>
        <p:nvGraphicFramePr>
          <p:cNvPr id="81" name="Google Shape;81;p1"/>
          <p:cNvGraphicFramePr/>
          <p:nvPr/>
        </p:nvGraphicFramePr>
        <p:xfrm>
          <a:off x="253018" y="2354417"/>
          <a:ext cx="11699650" cy="4207025"/>
        </p:xfrm>
        <a:graphic>
          <a:graphicData uri="http://schemas.openxmlformats.org/drawingml/2006/table">
            <a:tbl>
              <a:tblPr firstRow="1" bandRow="1">
                <a:noFill/>
                <a:tableStyleId>{5FA7AA36-D1FC-4EAE-9539-4A473F75BAE8}</a:tableStyleId>
              </a:tblPr>
              <a:tblGrid>
                <a:gridCol w="1768725">
                  <a:extLst>
                    <a:ext uri="{9D8B030D-6E8A-4147-A177-3AD203B41FA5}">
                      <a16:colId xmlns:a16="http://schemas.microsoft.com/office/drawing/2014/main" val="20000"/>
                    </a:ext>
                  </a:extLst>
                </a:gridCol>
                <a:gridCol w="3212675">
                  <a:extLst>
                    <a:ext uri="{9D8B030D-6E8A-4147-A177-3AD203B41FA5}">
                      <a16:colId xmlns:a16="http://schemas.microsoft.com/office/drawing/2014/main" val="20001"/>
                    </a:ext>
                  </a:extLst>
                </a:gridCol>
                <a:gridCol w="6718250">
                  <a:extLst>
                    <a:ext uri="{9D8B030D-6E8A-4147-A177-3AD203B41FA5}">
                      <a16:colId xmlns:a16="http://schemas.microsoft.com/office/drawing/2014/main" val="20002"/>
                    </a:ext>
                  </a:extLst>
                </a:gridCol>
              </a:tblGrid>
              <a:tr h="672522">
                <a:tc rowSpan="11">
                  <a:txBody>
                    <a:bodyPr/>
                    <a:lstStyle/>
                    <a:p>
                      <a:pPr marL="0" marR="0" lvl="0" indent="0" algn="ctr" rtl="0">
                        <a:spcBef>
                          <a:spcPts val="0"/>
                        </a:spcBef>
                        <a:spcAft>
                          <a:spcPts val="0"/>
                        </a:spcAft>
                        <a:buNone/>
                      </a:pPr>
                      <a:r>
                        <a:rPr lang="ja-JP" sz="1700" u="none" strike="noStrike" cap="none">
                          <a:latin typeface="Arial"/>
                          <a:ea typeface="Arial"/>
                          <a:cs typeface="Arial"/>
                          <a:sym typeface="Arial"/>
                        </a:rPr>
                        <a:t>メンバー構成</a:t>
                      </a:r>
                      <a:endParaRPr/>
                    </a:p>
                  </a:txBody>
                  <a:tcPr marL="91450" marR="91450" marT="45725" marB="45725" anchor="ctr">
                    <a:lnL w="3810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rgbClr val="54C1DF"/>
                    </a:solidFill>
                  </a:tcPr>
                </a:tc>
                <a:tc>
                  <a:txBody>
                    <a:bodyPr/>
                    <a:lstStyle/>
                    <a:p>
                      <a:pPr marL="0" marR="0" lvl="0" indent="0" algn="l" rtl="0">
                        <a:lnSpc>
                          <a:spcPct val="120000"/>
                        </a:lnSpc>
                        <a:spcBef>
                          <a:spcPts val="0"/>
                        </a:spcBef>
                        <a:spcAft>
                          <a:spcPts val="0"/>
                        </a:spcAft>
                        <a:buNone/>
                      </a:pPr>
                      <a:r>
                        <a:rPr lang="ja-JP" sz="1700" b="1" u="none" strike="noStrike" cap="none">
                          <a:solidFill>
                            <a:srgbClr val="243653"/>
                          </a:solidFill>
                          <a:latin typeface="Arial"/>
                          <a:ea typeface="Arial"/>
                          <a:cs typeface="Arial"/>
                          <a:sym typeface="Arial"/>
                        </a:rPr>
                        <a:t>チーム代表　</a:t>
                      </a:r>
                      <a:endParaRPr sz="1700" b="1" u="none" strike="noStrike" cap="none">
                        <a:solidFill>
                          <a:srgbClr val="243653"/>
                        </a:solidFill>
                        <a:latin typeface="Arial"/>
                        <a:ea typeface="Arial"/>
                        <a:cs typeface="Arial"/>
                        <a:sym typeface="Arial"/>
                      </a:endParaRPr>
                    </a:p>
                    <a:p>
                      <a:pPr marL="0" marR="0" lvl="0" indent="0" algn="l" rtl="0">
                        <a:lnSpc>
                          <a:spcPct val="120000"/>
                        </a:lnSpc>
                        <a:spcBef>
                          <a:spcPts val="0"/>
                        </a:spcBef>
                        <a:spcAft>
                          <a:spcPts val="0"/>
                        </a:spcAft>
                        <a:buNone/>
                      </a:pPr>
                      <a:r>
                        <a:rPr lang="ja-JP" sz="1100" b="1" u="none" strike="noStrike" cap="none">
                          <a:solidFill>
                            <a:srgbClr val="243653"/>
                          </a:solidFill>
                          <a:latin typeface="Arial"/>
                          <a:ea typeface="Arial"/>
                          <a:cs typeface="Arial"/>
                          <a:sym typeface="Arial"/>
                        </a:rPr>
                        <a:t>氏名／所属／学年</a:t>
                      </a:r>
                      <a:r>
                        <a:rPr lang="ja-JP" sz="1000" b="1" u="none" strike="noStrike" cap="none">
                          <a:solidFill>
                            <a:srgbClr val="243653"/>
                          </a:solidFill>
                          <a:latin typeface="Arial"/>
                          <a:ea typeface="Arial"/>
                          <a:cs typeface="Arial"/>
                          <a:sym typeface="Arial"/>
                        </a:rPr>
                        <a:t>（本科〇年 専攻科〇年）</a:t>
                      </a:r>
                      <a:endParaRPr sz="1100" b="1" u="none" strike="noStrike" cap="none">
                        <a:solidFill>
                          <a:srgbClr val="243653"/>
                        </a:solidFill>
                        <a:latin typeface="Arial"/>
                        <a:ea typeface="Arial"/>
                        <a:cs typeface="Arial"/>
                        <a:sym typeface="Arial"/>
                      </a:endParaRPr>
                    </a:p>
                  </a:txBody>
                  <a:tcPr marL="112550" marR="0" marT="56275" marB="56275" anchor="ctr">
                    <a:lnL w="1905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000" b="1" u="none" strike="noStrike" cap="none">
                          <a:solidFill>
                            <a:srgbClr val="243653"/>
                          </a:solidFill>
                          <a:latin typeface="Arial"/>
                          <a:ea typeface="Arial"/>
                          <a:cs typeface="Arial"/>
                          <a:sym typeface="Arial"/>
                        </a:rPr>
                        <a:t>野下航輝／鈴鹿高専 電子情報工学科／本科</a:t>
                      </a:r>
                      <a:r>
                        <a:rPr lang="en-US" altLang="ja-JP" sz="2000" b="1" u="none" strike="noStrike" cap="none">
                          <a:solidFill>
                            <a:srgbClr val="243653"/>
                          </a:solidFill>
                          <a:latin typeface="Arial"/>
                          <a:ea typeface="Arial"/>
                          <a:cs typeface="Arial"/>
                          <a:sym typeface="Arial"/>
                        </a:rPr>
                        <a:t>5</a:t>
                      </a:r>
                      <a:r>
                        <a:rPr lang="ja-JP" altLang="en-US" sz="2000" b="1" u="none" strike="noStrike" cap="none">
                          <a:solidFill>
                            <a:srgbClr val="243653"/>
                          </a:solidFill>
                          <a:latin typeface="Arial"/>
                          <a:ea typeface="Arial"/>
                          <a:cs typeface="Arial"/>
                          <a:sym typeface="Arial"/>
                        </a:rPr>
                        <a:t>年</a:t>
                      </a: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0"/>
                  </a:ext>
                </a:extLst>
              </a:tr>
              <a:tr h="323987">
                <a:tc vMerge="1">
                  <a:txBody>
                    <a:bodyPr/>
                    <a:lstStyle/>
                    <a:p>
                      <a:endParaRPr lang="ja-JP"/>
                    </a:p>
                  </a:txBody>
                  <a:tcPr/>
                </a:tc>
                <a:tc rowSpan="9">
                  <a:txBody>
                    <a:bodyPr/>
                    <a:lstStyle/>
                    <a:p>
                      <a:pPr marL="0" marR="0" lvl="0" indent="0" algn="l" rtl="0">
                        <a:lnSpc>
                          <a:spcPct val="120000"/>
                        </a:lnSpc>
                        <a:spcBef>
                          <a:spcPts val="0"/>
                        </a:spcBef>
                        <a:spcAft>
                          <a:spcPts val="0"/>
                        </a:spcAft>
                        <a:buClr>
                          <a:srgbClr val="243653"/>
                        </a:buClr>
                        <a:buSzPts val="1700"/>
                        <a:buFont typeface="Arial"/>
                        <a:buNone/>
                      </a:pPr>
                      <a:r>
                        <a:rPr lang="ja-JP" sz="1700" b="1" u="none" strike="noStrike" cap="none">
                          <a:solidFill>
                            <a:srgbClr val="243653"/>
                          </a:solidFill>
                          <a:latin typeface="Arial"/>
                          <a:ea typeface="Arial"/>
                          <a:cs typeface="Arial"/>
                          <a:sym typeface="Arial"/>
                        </a:rPr>
                        <a:t>チームメンバー</a:t>
                      </a:r>
                      <a:endParaRPr sz="1700" b="1" u="none" strike="noStrike" cap="none">
                        <a:solidFill>
                          <a:srgbClr val="243653"/>
                        </a:solidFill>
                        <a:latin typeface="Arial"/>
                        <a:ea typeface="Arial"/>
                        <a:cs typeface="Arial"/>
                        <a:sym typeface="Arial"/>
                      </a:endParaRPr>
                    </a:p>
                    <a:p>
                      <a:pPr marL="0" marR="0" lvl="0" indent="0" algn="l" rtl="0">
                        <a:lnSpc>
                          <a:spcPct val="120000"/>
                        </a:lnSpc>
                        <a:spcBef>
                          <a:spcPts val="0"/>
                        </a:spcBef>
                        <a:spcAft>
                          <a:spcPts val="0"/>
                        </a:spcAft>
                        <a:buClr>
                          <a:srgbClr val="243653"/>
                        </a:buClr>
                        <a:buSzPts val="1100"/>
                        <a:buFont typeface="Arial"/>
                        <a:buNone/>
                      </a:pPr>
                      <a:r>
                        <a:rPr lang="ja-JP" sz="1100" b="1" i="0" u="none" strike="noStrike" cap="none">
                          <a:solidFill>
                            <a:srgbClr val="243653"/>
                          </a:solidFill>
                          <a:latin typeface="Arial"/>
                          <a:ea typeface="Arial"/>
                          <a:cs typeface="Arial"/>
                          <a:sym typeface="Arial"/>
                        </a:rPr>
                        <a:t>氏名／所属／学年</a:t>
                      </a:r>
                      <a:r>
                        <a:rPr lang="ja-JP" sz="1000" b="1" u="none" strike="noStrike" cap="none">
                          <a:solidFill>
                            <a:srgbClr val="243653"/>
                          </a:solidFill>
                          <a:latin typeface="Arial"/>
                          <a:ea typeface="Arial"/>
                          <a:cs typeface="Arial"/>
                          <a:sym typeface="Arial"/>
                        </a:rPr>
                        <a:t>（本科○年 専攻科○年）</a:t>
                      </a:r>
                      <a:endParaRPr sz="1000" b="1" u="none" strike="noStrike" cap="none">
                        <a:solidFill>
                          <a:srgbClr val="243653"/>
                        </a:solidFill>
                        <a:latin typeface="Arial"/>
                        <a:ea typeface="Arial"/>
                        <a:cs typeface="Arial"/>
                        <a:sym typeface="Arial"/>
                      </a:endParaRPr>
                    </a:p>
                  </a:txBody>
                  <a:tcPr marL="112550" marR="0" marT="56275" marB="56275" anchor="ctr">
                    <a:lnL w="1905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r>
                        <a:rPr lang="ja-JP" altLang="en-US" sz="1200" b="1" u="none" strike="noStrike" cap="none">
                          <a:solidFill>
                            <a:srgbClr val="243653"/>
                          </a:solidFill>
                          <a:latin typeface="Arial"/>
                          <a:ea typeface="Arial"/>
                          <a:cs typeface="Arial"/>
                          <a:sym typeface="Arial"/>
                        </a:rPr>
                        <a:t>森想一郎／鈴鹿高専</a:t>
                      </a:r>
                      <a:r>
                        <a:rPr lang="en-US" altLang="ja-JP" sz="1200" b="1" u="none" strike="noStrike" cap="none">
                          <a:solidFill>
                            <a:srgbClr val="243653"/>
                          </a:solidFill>
                          <a:latin typeface="Arial"/>
                          <a:ea typeface="Arial"/>
                          <a:cs typeface="Arial"/>
                          <a:sym typeface="Arial"/>
                        </a:rPr>
                        <a:t> </a:t>
                      </a:r>
                      <a:r>
                        <a:rPr lang="ja-JP" altLang="en-US" sz="1200" b="1" u="none" strike="noStrike" cap="none">
                          <a:solidFill>
                            <a:srgbClr val="243653"/>
                          </a:solidFill>
                          <a:latin typeface="Arial"/>
                          <a:ea typeface="Arial"/>
                          <a:cs typeface="Arial"/>
                          <a:sym typeface="Arial"/>
                        </a:rPr>
                        <a:t>総合イノベーション工学専攻／専攻科</a:t>
                      </a:r>
                      <a:r>
                        <a:rPr lang="en-US" altLang="ja-JP" sz="1200" b="1" u="none" strike="noStrike" cap="none">
                          <a:solidFill>
                            <a:srgbClr val="243653"/>
                          </a:solidFill>
                          <a:latin typeface="Arial"/>
                          <a:ea typeface="Arial"/>
                          <a:cs typeface="Arial"/>
                          <a:sym typeface="Arial"/>
                        </a:rPr>
                        <a:t>1</a:t>
                      </a:r>
                      <a:r>
                        <a:rPr lang="ja-JP" altLang="en-US" sz="1200" b="1" u="none" strike="noStrike" cap="none">
                          <a:solidFill>
                            <a:srgbClr val="243653"/>
                          </a:solidFill>
                          <a:latin typeface="Arial"/>
                          <a:ea typeface="Arial"/>
                          <a:cs typeface="Arial"/>
                          <a:sym typeface="Arial"/>
                        </a:rPr>
                        <a:t>年</a:t>
                      </a: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r h="323987">
                <a:tc vMerge="1">
                  <a:txBody>
                    <a:bodyPr/>
                    <a:lstStyle/>
                    <a:p>
                      <a:endParaRPr lang="ja-JP"/>
                    </a:p>
                  </a:txBody>
                  <a:tcPr/>
                </a:tc>
                <a:tc vMerge="1">
                  <a:txBody>
                    <a:bodyPr/>
                    <a:lstStyle/>
                    <a:p>
                      <a:endParaRPr lang="ja-JP"/>
                    </a:p>
                  </a:txBody>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r>
                        <a:rPr lang="ja-JP" altLang="en-US" sz="1200" b="1" u="none" strike="noStrike" cap="none">
                          <a:solidFill>
                            <a:srgbClr val="243653"/>
                          </a:solidFill>
                          <a:latin typeface="Arial"/>
                          <a:ea typeface="Arial"/>
                          <a:cs typeface="Arial"/>
                          <a:sym typeface="Arial"/>
                        </a:rPr>
                        <a:t>辛川友斗／佐世保高専</a:t>
                      </a:r>
                      <a:r>
                        <a:rPr lang="en-US" altLang="ja-JP" sz="1200" b="1" u="none" strike="noStrike" cap="none">
                          <a:solidFill>
                            <a:srgbClr val="243653"/>
                          </a:solidFill>
                          <a:latin typeface="Arial"/>
                          <a:ea typeface="Arial"/>
                          <a:cs typeface="Arial"/>
                          <a:sym typeface="Arial"/>
                        </a:rPr>
                        <a:t> </a:t>
                      </a:r>
                      <a:r>
                        <a:rPr lang="ja-JP" altLang="en-US" sz="1200" b="1" u="none" strike="noStrike" cap="none">
                          <a:solidFill>
                            <a:srgbClr val="243653"/>
                          </a:solidFill>
                          <a:latin typeface="Arial"/>
                          <a:ea typeface="Arial"/>
                          <a:cs typeface="Arial"/>
                          <a:sym typeface="Arial"/>
                        </a:rPr>
                        <a:t>情報知能工学科／本科５年</a:t>
                      </a: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2"/>
                  </a:ext>
                </a:extLst>
              </a:tr>
              <a:tr h="323987">
                <a:tc vMerge="1">
                  <a:txBody>
                    <a:bodyPr/>
                    <a:lstStyle/>
                    <a:p>
                      <a:endParaRPr lang="ja-JP"/>
                    </a:p>
                  </a:txBody>
                  <a:tcPr/>
                </a:tc>
                <a:tc vMerge="1">
                  <a:txBody>
                    <a:bodyPr/>
                    <a:lstStyle/>
                    <a:p>
                      <a:endParaRPr lang="ja-JP"/>
                    </a:p>
                  </a:txBody>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r>
                        <a:rPr lang="ja-JP" altLang="en-US" sz="1200" b="1" u="none" strike="noStrike" cap="none">
                          <a:solidFill>
                            <a:srgbClr val="243653"/>
                          </a:solidFill>
                          <a:latin typeface="Arial"/>
                          <a:ea typeface="Arial"/>
                          <a:cs typeface="Arial"/>
                          <a:sym typeface="Arial"/>
                        </a:rPr>
                        <a:t>岩志　晴／佐世保高専</a:t>
                      </a:r>
                      <a:r>
                        <a:rPr lang="en-US" altLang="ja-JP" sz="1200" b="1" u="none" strike="noStrike" cap="none">
                          <a:solidFill>
                            <a:srgbClr val="243653"/>
                          </a:solidFill>
                          <a:latin typeface="Arial"/>
                          <a:ea typeface="Arial"/>
                          <a:cs typeface="Arial"/>
                          <a:sym typeface="Arial"/>
                        </a:rPr>
                        <a:t> </a:t>
                      </a:r>
                      <a:r>
                        <a:rPr lang="ja-JP" altLang="en-US" sz="1200" b="1" u="none" strike="noStrike" cap="none">
                          <a:solidFill>
                            <a:srgbClr val="243653"/>
                          </a:solidFill>
                          <a:latin typeface="Arial"/>
                          <a:ea typeface="Arial"/>
                          <a:cs typeface="Arial"/>
                          <a:sym typeface="Arial"/>
                        </a:rPr>
                        <a:t>情報知能工学科／本科５年</a:t>
                      </a: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3"/>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4"/>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5"/>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6"/>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7"/>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8"/>
                  </a:ext>
                </a:extLst>
              </a:tr>
              <a:tr h="323987">
                <a:tc vMerge="1">
                  <a:txBody>
                    <a:bodyPr/>
                    <a:lstStyle/>
                    <a:p>
                      <a:endParaRPr lang="ja-JP"/>
                    </a:p>
                  </a:txBody>
                  <a:tcPr/>
                </a:tc>
                <a:tc vMerge="1">
                  <a:txBody>
                    <a:bodyPr/>
                    <a:lstStyle/>
                    <a:p>
                      <a:endParaRPr lang="ja-JP"/>
                    </a:p>
                  </a:txBody>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9"/>
                  </a:ext>
                </a:extLst>
              </a:tr>
              <a:tr h="618620">
                <a:tc vMerge="1">
                  <a:txBody>
                    <a:bodyPr/>
                    <a:lstStyle/>
                    <a:p>
                      <a:endParaRPr lang="ja-JP"/>
                    </a:p>
                  </a:txBody>
                  <a:tcPr/>
                </a:tc>
                <a:tc>
                  <a:txBody>
                    <a:bodyPr/>
                    <a:lstStyle/>
                    <a:p>
                      <a:pPr marL="0" marR="0" lvl="0" indent="0" algn="l" rtl="0">
                        <a:lnSpc>
                          <a:spcPct val="120000"/>
                        </a:lnSpc>
                        <a:spcBef>
                          <a:spcPts val="0"/>
                        </a:spcBef>
                        <a:spcAft>
                          <a:spcPts val="0"/>
                        </a:spcAft>
                        <a:buClr>
                          <a:srgbClr val="243653"/>
                        </a:buClr>
                        <a:buSzPts val="1700"/>
                        <a:buFont typeface="Arial"/>
                        <a:buNone/>
                      </a:pPr>
                      <a:r>
                        <a:rPr lang="ja-JP" sz="1700" b="1" u="none" strike="noStrike" cap="none">
                          <a:solidFill>
                            <a:srgbClr val="243653"/>
                          </a:solidFill>
                          <a:latin typeface="Arial"/>
                          <a:ea typeface="Arial"/>
                          <a:cs typeface="Arial"/>
                          <a:sym typeface="Arial"/>
                        </a:rPr>
                        <a:t>指導教員</a:t>
                      </a:r>
                      <a:endParaRPr sz="1700" b="1" u="none" strike="noStrike" cap="none">
                        <a:solidFill>
                          <a:srgbClr val="243653"/>
                        </a:solidFill>
                        <a:latin typeface="Arial"/>
                        <a:ea typeface="Arial"/>
                        <a:cs typeface="Arial"/>
                        <a:sym typeface="Arial"/>
                      </a:endParaRPr>
                    </a:p>
                    <a:p>
                      <a:pPr marL="0" marR="0" lvl="0" indent="0" algn="l" rtl="0">
                        <a:lnSpc>
                          <a:spcPct val="120000"/>
                        </a:lnSpc>
                        <a:spcBef>
                          <a:spcPts val="0"/>
                        </a:spcBef>
                        <a:spcAft>
                          <a:spcPts val="0"/>
                        </a:spcAft>
                        <a:buClr>
                          <a:srgbClr val="243653"/>
                        </a:buClr>
                        <a:buSzPts val="1100"/>
                        <a:buFont typeface="Arial"/>
                        <a:buNone/>
                      </a:pPr>
                      <a:r>
                        <a:rPr lang="ja-JP" sz="1100" b="1" i="0" u="none" strike="noStrike" cap="none">
                          <a:solidFill>
                            <a:srgbClr val="243653"/>
                          </a:solidFill>
                          <a:latin typeface="Arial"/>
                          <a:ea typeface="Arial"/>
                          <a:cs typeface="Arial"/>
                          <a:sym typeface="Arial"/>
                        </a:rPr>
                        <a:t>氏名／所属・役職</a:t>
                      </a:r>
                      <a:endParaRPr sz="1100" b="1" i="0" u="none" strike="noStrike" cap="none">
                        <a:solidFill>
                          <a:srgbClr val="243653"/>
                        </a:solidFill>
                        <a:latin typeface="Arial"/>
                        <a:ea typeface="Arial"/>
                        <a:cs typeface="Arial"/>
                        <a:sym typeface="Arial"/>
                      </a:endParaRPr>
                    </a:p>
                  </a:txBody>
                  <a:tcPr marL="112550" marR="0" marT="56275" marB="56275" anchor="ctr">
                    <a:lnL w="1905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200"/>
                        <a:buFont typeface="Calibri"/>
                        <a:buNone/>
                      </a:pPr>
                      <a:r>
                        <a:rPr lang="ja-JP" altLang="en-US" sz="1200" b="1" u="none" strike="noStrike" cap="none">
                          <a:solidFill>
                            <a:srgbClr val="243653"/>
                          </a:solidFill>
                          <a:latin typeface="Arial"/>
                          <a:ea typeface="Arial"/>
                          <a:cs typeface="Arial"/>
                          <a:sym typeface="Arial"/>
                        </a:rPr>
                        <a:t>板谷年也／鈴鹿高専 電子情報工学科・准教授、兼田一幸／佐世保高専</a:t>
                      </a:r>
                      <a:r>
                        <a:rPr lang="en-US" altLang="ja-JP" sz="1200" b="1" u="none" strike="noStrike" cap="none">
                          <a:solidFill>
                            <a:srgbClr val="243653"/>
                          </a:solidFill>
                          <a:latin typeface="Arial"/>
                          <a:ea typeface="Arial"/>
                          <a:cs typeface="Arial"/>
                          <a:sym typeface="Arial"/>
                        </a:rPr>
                        <a:t> </a:t>
                      </a:r>
                      <a:r>
                        <a:rPr lang="ja-JP" altLang="en-US" sz="1200" b="1" u="none" strike="noStrike" cap="none">
                          <a:solidFill>
                            <a:srgbClr val="243653"/>
                          </a:solidFill>
                          <a:latin typeface="Arial"/>
                          <a:ea typeface="Arial"/>
                          <a:cs typeface="Arial"/>
                          <a:sym typeface="Arial"/>
                        </a:rPr>
                        <a:t>情報知能工学科・教授</a:t>
                      </a:r>
                      <a:br>
                        <a:rPr lang="en-US" altLang="ja-JP" sz="1200" b="1" u="none" strike="noStrike" cap="none">
                          <a:solidFill>
                            <a:srgbClr val="243653"/>
                          </a:solidFill>
                          <a:latin typeface="Arial"/>
                          <a:ea typeface="Arial"/>
                          <a:cs typeface="Arial"/>
                          <a:sym typeface="Arial"/>
                        </a:rPr>
                      </a:br>
                      <a:r>
                        <a:rPr lang="ja-JP" altLang="en-US" sz="1200" b="1" u="none" strike="noStrike" cap="none">
                          <a:solidFill>
                            <a:srgbClr val="243653"/>
                          </a:solidFill>
                          <a:latin typeface="Arial"/>
                          <a:ea typeface="Arial"/>
                          <a:cs typeface="Arial"/>
                          <a:sym typeface="Arial"/>
                        </a:rPr>
                        <a:t>長嶋豊／佐世保高専</a:t>
                      </a:r>
                      <a:r>
                        <a:rPr lang="en-US" altLang="ja-JP" sz="1200" b="1" u="none" strike="noStrike" cap="none">
                          <a:solidFill>
                            <a:srgbClr val="243653"/>
                          </a:solidFill>
                          <a:latin typeface="Arial"/>
                          <a:ea typeface="Arial"/>
                          <a:cs typeface="Arial"/>
                          <a:sym typeface="Arial"/>
                        </a:rPr>
                        <a:t> </a:t>
                      </a:r>
                      <a:r>
                        <a:rPr lang="ja-JP" altLang="en-US" sz="1200" b="1" u="none" strike="noStrike" cap="none">
                          <a:solidFill>
                            <a:srgbClr val="243653"/>
                          </a:solidFill>
                          <a:latin typeface="Arial"/>
                          <a:ea typeface="Arial"/>
                          <a:cs typeface="Arial"/>
                          <a:sym typeface="Arial"/>
                        </a:rPr>
                        <a:t>地域共同テクノセンター・特命教授</a:t>
                      </a:r>
                      <a:endParaRPr lang="en-US" altLang="ja-JP" sz="1200" b="1" u="none" strike="noStrike" cap="none">
                        <a:solidFill>
                          <a:srgbClr val="243653"/>
                        </a:solidFill>
                        <a:latin typeface="Arial"/>
                        <a:ea typeface="Arial"/>
                        <a:cs typeface="Arial"/>
                        <a:sym typeface="Arial"/>
                      </a:endParaRPr>
                    </a:p>
                  </a:txBody>
                  <a:tcPr marL="11255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10"/>
                  </a:ext>
                </a:extLst>
              </a:tr>
            </a:tbl>
          </a:graphicData>
        </a:graphic>
      </p:graphicFrame>
      <p:sp>
        <p:nvSpPr>
          <p:cNvPr id="82" name="Google Shape;82;p1"/>
          <p:cNvSpPr txBox="1"/>
          <p:nvPr/>
        </p:nvSpPr>
        <p:spPr>
          <a:xfrm>
            <a:off x="250522" y="203076"/>
            <a:ext cx="4536504" cy="309873"/>
          </a:xfrm>
          <a:prstGeom prst="rect">
            <a:avLst/>
          </a:prstGeom>
          <a:solidFill>
            <a:srgbClr val="54C1D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様式</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1</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 </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WiCON2025 </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提案内容説明書　ワイヤレス</a:t>
            </a:r>
            <a:r>
              <a:rPr kumimoji="0" lang="ja-JP" altLang="en-US" sz="1200" b="1" i="0" u="none" strike="noStrike" kern="0" cap="none" spc="0" normalizeH="0" baseline="0" noProof="0">
                <a:ln>
                  <a:noFill/>
                </a:ln>
                <a:solidFill>
                  <a:srgbClr val="F9F57A"/>
                </a:solidFill>
                <a:effectLst/>
                <a:uLnTx/>
                <a:uFillTx/>
                <a:latin typeface="Arial"/>
                <a:ea typeface="Arial"/>
                <a:cs typeface="Arial"/>
                <a:sym typeface="Arial"/>
              </a:rPr>
              <a:t>利活用</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部門</a:t>
            </a:r>
            <a:endParaRPr kumimoji="0" sz="1200" b="1" i="0" u="none" strike="noStrike" kern="0" cap="none" spc="0" normalizeH="0" baseline="0" noProof="0">
              <a:ln>
                <a:noFill/>
              </a:ln>
              <a:solidFill>
                <a:srgbClr val="243653"/>
              </a:solidFill>
              <a:effectLst/>
              <a:uLnTx/>
              <a:uFillTx/>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F0955CD-3EF0-39DE-598F-4AA6334A6797}"/>
            </a:ext>
          </a:extLst>
        </p:cNvPr>
        <p:cNvGrpSpPr/>
        <p:nvPr/>
      </p:nvGrpSpPr>
      <p:grpSpPr>
        <a:xfrm>
          <a:off x="0" y="0"/>
          <a:ext cx="0" cy="0"/>
          <a:chOff x="0" y="0"/>
          <a:chExt cx="0" cy="0"/>
        </a:xfrm>
      </p:grpSpPr>
      <p:sp>
        <p:nvSpPr>
          <p:cNvPr id="77" name="角丸四角形 76">
            <a:extLst>
              <a:ext uri="{FF2B5EF4-FFF2-40B4-BE49-F238E27FC236}">
                <a16:creationId xmlns:a16="http://schemas.microsoft.com/office/drawing/2014/main" id="{59B59188-F608-D3B6-A815-05DE07F90B2D}"/>
              </a:ext>
            </a:extLst>
          </p:cNvPr>
          <p:cNvSpPr/>
          <p:nvPr/>
        </p:nvSpPr>
        <p:spPr>
          <a:xfrm>
            <a:off x="6131380" y="3793246"/>
            <a:ext cx="1493960" cy="270042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 name="正方形/長方形 2">
            <a:extLst>
              <a:ext uri="{FF2B5EF4-FFF2-40B4-BE49-F238E27FC236}">
                <a16:creationId xmlns:a16="http://schemas.microsoft.com/office/drawing/2014/main" id="{75FBAC03-B50D-07D7-DB71-E0DE9869AF11}"/>
              </a:ext>
            </a:extLst>
          </p:cNvPr>
          <p:cNvSpPr/>
          <p:nvPr/>
        </p:nvSpPr>
        <p:spPr>
          <a:xfrm>
            <a:off x="7750098" y="4968587"/>
            <a:ext cx="467145" cy="1590034"/>
          </a:xfrm>
          <a:prstGeom prst="rect">
            <a:avLst/>
          </a:prstGeom>
          <a:solidFill>
            <a:schemeClr val="bg1">
              <a:lumMod val="6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ysClr val="windowText" lastClr="000000"/>
                </a:solidFill>
                <a:effectLst/>
                <a:uLnTx/>
                <a:uFillTx/>
                <a:latin typeface="Yu Gothic" panose="020B0400000000000000" pitchFamily="34" charset="-128"/>
                <a:ea typeface="Yu Gothic" panose="020B0400000000000000" pitchFamily="34" charset="-128"/>
                <a:cs typeface="+mn-cs"/>
                <a:sym typeface="Arial"/>
              </a:rPr>
              <a:t>沿岸</a:t>
            </a:r>
          </a:p>
        </p:txBody>
      </p:sp>
      <p:sp>
        <p:nvSpPr>
          <p:cNvPr id="5" name="正方形/長方形 4">
            <a:extLst>
              <a:ext uri="{FF2B5EF4-FFF2-40B4-BE49-F238E27FC236}">
                <a16:creationId xmlns:a16="http://schemas.microsoft.com/office/drawing/2014/main" id="{4A0C9B5D-4AA5-D2CB-7B50-61EE9CFCD868}"/>
              </a:ext>
            </a:extLst>
          </p:cNvPr>
          <p:cNvSpPr/>
          <p:nvPr/>
        </p:nvSpPr>
        <p:spPr>
          <a:xfrm>
            <a:off x="8217243" y="5077605"/>
            <a:ext cx="3568740" cy="1253530"/>
          </a:xfrm>
          <a:prstGeom prst="rect">
            <a:avLst/>
          </a:prstGeom>
          <a:solidFill>
            <a:schemeClr val="bg2">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aphicFrame>
        <p:nvGraphicFramePr>
          <p:cNvPr id="91" name="Google Shape;91;p2">
            <a:extLst>
              <a:ext uri="{FF2B5EF4-FFF2-40B4-BE49-F238E27FC236}">
                <a16:creationId xmlns:a16="http://schemas.microsoft.com/office/drawing/2014/main" id="{44E299CF-7A26-8591-0323-182415340709}"/>
              </a:ext>
            </a:extLst>
          </p:cNvPr>
          <p:cNvGraphicFramePr/>
          <p:nvPr/>
        </p:nvGraphicFramePr>
        <p:xfrm>
          <a:off x="245576" y="674981"/>
          <a:ext cx="11699650" cy="2715073"/>
        </p:xfrm>
        <a:graphic>
          <a:graphicData uri="http://schemas.openxmlformats.org/drawingml/2006/table">
            <a:tbl>
              <a:tblPr firstRow="1" bandRow="1">
                <a:noFill/>
                <a:tableStyleId>{5FA7AA36-D1FC-4EAE-9539-4A473F75BAE8}</a:tableStyleId>
              </a:tblPr>
              <a:tblGrid>
                <a:gridCol w="1177200">
                  <a:extLst>
                    <a:ext uri="{9D8B030D-6E8A-4147-A177-3AD203B41FA5}">
                      <a16:colId xmlns:a16="http://schemas.microsoft.com/office/drawing/2014/main" val="20000"/>
                    </a:ext>
                  </a:extLst>
                </a:gridCol>
                <a:gridCol w="10522450">
                  <a:extLst>
                    <a:ext uri="{9D8B030D-6E8A-4147-A177-3AD203B41FA5}">
                      <a16:colId xmlns:a16="http://schemas.microsoft.com/office/drawing/2014/main" val="20001"/>
                    </a:ext>
                  </a:extLst>
                </a:gridCol>
              </a:tblGrid>
              <a:tr h="468923">
                <a:tc>
                  <a:txBody>
                    <a:bodyPr/>
                    <a:lstStyle/>
                    <a:p>
                      <a:pPr marL="0" marR="0" lvl="0" indent="0" algn="l" rtl="0">
                        <a:spcBef>
                          <a:spcPts val="0"/>
                        </a:spcBef>
                        <a:spcAft>
                          <a:spcPts val="0"/>
                        </a:spcAft>
                        <a:buNone/>
                      </a:pPr>
                      <a:r>
                        <a:rPr lang="ja-JP" sz="1700" b="1" u="none" strike="noStrike" cap="none">
                          <a:solidFill>
                            <a:schemeClr val="lt1"/>
                          </a:solidFill>
                          <a:latin typeface="Arial"/>
                          <a:ea typeface="Arial"/>
                          <a:cs typeface="Arial"/>
                          <a:sym typeface="Arial"/>
                        </a:rPr>
                        <a:t>提案名</a:t>
                      </a:r>
                      <a:endParaRPr/>
                    </a:p>
                  </a:txBody>
                  <a:tcPr marL="180000" marR="112550" marT="56275" marB="56275" anchor="ctr">
                    <a:lnL w="3810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rgbClr val="54C1DF"/>
                    </a:solidFill>
                  </a:tcPr>
                </a:tc>
                <a:tc>
                  <a:txBody>
                    <a:bodyPr/>
                    <a:lstStyle/>
                    <a:p>
                      <a:pPr marL="0" marR="0" lvl="0" indent="0" algn="l" rtl="0">
                        <a:lnSpc>
                          <a:spcPct val="130000"/>
                        </a:lnSpc>
                        <a:spcBef>
                          <a:spcPts val="0"/>
                        </a:spcBef>
                        <a:spcAft>
                          <a:spcPts val="0"/>
                        </a:spcAft>
                        <a:buNone/>
                      </a:pPr>
                      <a:r>
                        <a:rPr lang="ja-JP" altLang="en-US" sz="1800" b="1" u="none" strike="noStrike" cap="none">
                          <a:solidFill>
                            <a:schemeClr val="tx1"/>
                          </a:solidFill>
                          <a:latin typeface="Arial"/>
                          <a:ea typeface="Arial"/>
                          <a:cs typeface="Arial"/>
                          <a:sym typeface="Arial"/>
                        </a:rPr>
                        <a:t>英虞湾の環境保全を目的とした電磁センサ搭載水中ドローンによる沈殿ゴミ探査の実証</a:t>
                      </a:r>
                    </a:p>
                  </a:txBody>
                  <a:tcPr marL="18000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3810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0"/>
                  </a:ext>
                </a:extLst>
              </a:tr>
              <a:tr h="1630450">
                <a:tc>
                  <a:txBody>
                    <a:bodyPr/>
                    <a:lstStyle/>
                    <a:p>
                      <a:pPr marL="0" marR="0" lvl="0" indent="0" algn="l" rtl="0">
                        <a:spcBef>
                          <a:spcPts val="0"/>
                        </a:spcBef>
                        <a:spcAft>
                          <a:spcPts val="0"/>
                        </a:spcAft>
                        <a:buNone/>
                      </a:pPr>
                      <a:r>
                        <a:rPr lang="ja-JP" sz="1700" b="1" u="none" strike="noStrike" cap="none">
                          <a:solidFill>
                            <a:schemeClr val="lt1"/>
                          </a:solidFill>
                          <a:latin typeface="Arial"/>
                          <a:ea typeface="Arial"/>
                          <a:cs typeface="Arial"/>
                          <a:sym typeface="Arial"/>
                        </a:rPr>
                        <a:t>提案概要</a:t>
                      </a:r>
                      <a:endParaRPr/>
                    </a:p>
                  </a:txBody>
                  <a:tcPr marL="180000" marR="112550" marT="56275" marB="56275" anchor="ctr">
                    <a:lnL w="38100" cap="flat" cmpd="sng" algn="ctr">
                      <a:solidFill>
                        <a:schemeClr val="accent1">
                          <a:lumMod val="50000"/>
                        </a:schemeClr>
                      </a:solidFill>
                      <a:prstDash val="solid"/>
                      <a:round/>
                      <a:headEnd type="none" w="med" len="med"/>
                      <a:tailEnd type="none" w="med" len="med"/>
                    </a:lnL>
                    <a:lnR w="1905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rgbClr val="54C1DF"/>
                    </a:solidFill>
                  </a:tcPr>
                </a:tc>
                <a:tc>
                  <a:txBody>
                    <a:bodyPr/>
                    <a:lstStyle/>
                    <a:p>
                      <a:pPr lvl="0" algn="l">
                        <a:lnSpc>
                          <a:spcPct val="100000"/>
                        </a:lnSpc>
                        <a:spcBef>
                          <a:spcPts val="0"/>
                        </a:spcBef>
                        <a:spcAft>
                          <a:spcPts val="0"/>
                        </a:spcAft>
                        <a:buNone/>
                      </a:pPr>
                      <a:r>
                        <a:rPr lang="ja-JP" altLang="en-US" sz="1400" b="0" i="0" u="none" strike="noStrike" cap="none" noProof="0">
                          <a:solidFill>
                            <a:srgbClr val="000000"/>
                          </a:solidFill>
                          <a:effectLst/>
                        </a:rPr>
                        <a:t>英虞湾を含む沿岸地域では、家電製品や錨、沈没船といった海中ゴミが環境問題となっている。特に金属製ゴミからの化学物質溶出は、生態系への悪影響が指摘されている。住民の記憶をもとに大まかな位置は推測できるものの、正確な特定は困難であり、水深</a:t>
                      </a:r>
                      <a:r>
                        <a:rPr lang="en-US" altLang="ja-JP" sz="1400" b="0" i="0" u="none" strike="noStrike" cap="none" noProof="0">
                          <a:solidFill>
                            <a:srgbClr val="000000"/>
                          </a:solidFill>
                          <a:effectLst/>
                        </a:rPr>
                        <a:t>10m</a:t>
                      </a:r>
                      <a:r>
                        <a:rPr lang="ja-JP" altLang="en-US" sz="1400" b="0" i="0" u="none" strike="noStrike" cap="none" noProof="0">
                          <a:solidFill>
                            <a:srgbClr val="000000"/>
                          </a:solidFill>
                          <a:effectLst/>
                        </a:rPr>
                        <a:t>を超える地点もある。</a:t>
                      </a:r>
                      <a:endParaRPr lang="ja-JP" altLang="en-US"/>
                    </a:p>
                    <a:p>
                      <a:pPr lvl="0" algn="l">
                        <a:lnSpc>
                          <a:spcPct val="100000"/>
                        </a:lnSpc>
                        <a:spcBef>
                          <a:spcPts val="0"/>
                        </a:spcBef>
                        <a:spcAft>
                          <a:spcPts val="0"/>
                        </a:spcAft>
                        <a:buNone/>
                      </a:pPr>
                      <a:r>
                        <a:rPr lang="ja-JP" altLang="en-US" sz="1400" b="0" i="0" u="none" strike="noStrike" cap="none" noProof="0">
                          <a:solidFill>
                            <a:srgbClr val="000000"/>
                          </a:solidFill>
                          <a:effectLst/>
                        </a:rPr>
                        <a:t>現在は目視や手作業による調査が中心だが、広域かつ高精度な探査には限界がある。そこで本提案では、パルス渦電流センサを搭載した水中ドローンにより、金属系沈殿ゴミを効率的に探査する。センサは濁りの影響を受けず金属を検出でき、ドローンと組み合わせることで広範囲・高密度なスキャンが可能となる。</a:t>
                      </a:r>
                      <a:endParaRPr lang="ja-JP" altLang="en-US"/>
                    </a:p>
                    <a:p>
                      <a:pPr lvl="0" algn="l">
                        <a:lnSpc>
                          <a:spcPct val="100000"/>
                        </a:lnSpc>
                        <a:spcBef>
                          <a:spcPts val="0"/>
                        </a:spcBef>
                        <a:spcAft>
                          <a:spcPts val="0"/>
                        </a:spcAft>
                        <a:buNone/>
                      </a:pPr>
                      <a:r>
                        <a:rPr lang="ja-JP" altLang="en-US" sz="1400" b="0" i="0" u="none" strike="noStrike" cap="none" noProof="0">
                          <a:solidFill>
                            <a:srgbClr val="000000"/>
                          </a:solidFill>
                          <a:effectLst/>
                        </a:rPr>
                        <a:t>さらに、取得した探査データは水上ユニット経由で</a:t>
                      </a:r>
                      <a:r>
                        <a:rPr lang="ja-JP" altLang="en-US" sz="1400" b="1" i="0" u="none" strike="noStrike" cap="none" noProof="0">
                          <a:solidFill>
                            <a:srgbClr val="FF0000"/>
                          </a:solidFill>
                          <a:effectLst/>
                        </a:rPr>
                        <a:t>ワイヤレス通信によりクラウドへ送信し、リアルタイムで地上から確認・記録可能</a:t>
                      </a:r>
                      <a:r>
                        <a:rPr lang="ja-JP" altLang="en-US" sz="1400" b="0" i="0" u="none" strike="noStrike" cap="none" noProof="0">
                          <a:solidFill>
                            <a:srgbClr val="000000"/>
                          </a:solidFill>
                          <a:effectLst/>
                        </a:rPr>
                        <a:t>とすることで、現場の判断力と遠隔支援の両立を図る。</a:t>
                      </a:r>
                      <a:endParaRPr lang="ja-JP" altLang="en-US"/>
                    </a:p>
                    <a:p>
                      <a:pPr lvl="0" algn="l">
                        <a:lnSpc>
                          <a:spcPct val="100000"/>
                        </a:lnSpc>
                        <a:spcBef>
                          <a:spcPts val="0"/>
                        </a:spcBef>
                        <a:spcAft>
                          <a:spcPts val="0"/>
                        </a:spcAft>
                        <a:buNone/>
                      </a:pPr>
                      <a:r>
                        <a:rPr lang="ja-JP" altLang="en-US" sz="1400" b="0" i="0" u="none" strike="noStrike" cap="none" noProof="0">
                          <a:solidFill>
                            <a:srgbClr val="000000"/>
                          </a:solidFill>
                          <a:effectLst/>
                        </a:rPr>
                        <a:t>本技術により沈没物の正確な位置特定が可能となり、環境リスク評価や回収作業の効率化が期待される。英虞湾での実証を通じ、自治体や環境団体への展開を見据えた技術モデルを構築する。</a:t>
                      </a:r>
                      <a:endParaRPr lang="ja-JP" altLang="en-US"/>
                    </a:p>
                  </a:txBody>
                  <a:tcPr marL="180000" marR="112550" marT="56275" marB="56275" anchor="ctr">
                    <a:lnL w="19050" cap="flat" cmpd="sng" algn="ctr">
                      <a:solidFill>
                        <a:schemeClr val="accent1">
                          <a:lumMod val="50000"/>
                        </a:schemeClr>
                      </a:solidFill>
                      <a:prstDash val="solid"/>
                      <a:round/>
                      <a:headEnd type="none" w="med" len="med"/>
                      <a:tailEnd type="none" w="med" len="med"/>
                    </a:lnL>
                    <a:lnR w="38100" cap="flat" cmpd="sng" algn="ctr">
                      <a:solidFill>
                        <a:schemeClr val="accent1">
                          <a:lumMod val="50000"/>
                        </a:schemeClr>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38100" cap="flat" cmpd="sng" algn="ctr">
                      <a:solidFill>
                        <a:schemeClr val="accent1">
                          <a:lumMod val="50000"/>
                        </a:schemeClr>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bl>
          </a:graphicData>
        </a:graphic>
      </p:graphicFrame>
      <p:grpSp>
        <p:nvGrpSpPr>
          <p:cNvPr id="92" name="Google Shape;92;p2">
            <a:extLst>
              <a:ext uri="{FF2B5EF4-FFF2-40B4-BE49-F238E27FC236}">
                <a16:creationId xmlns:a16="http://schemas.microsoft.com/office/drawing/2014/main" id="{22D16467-D745-BDE5-77FB-04AF7508E899}"/>
              </a:ext>
            </a:extLst>
          </p:cNvPr>
          <p:cNvGrpSpPr/>
          <p:nvPr/>
        </p:nvGrpSpPr>
        <p:grpSpPr>
          <a:xfrm>
            <a:off x="246242" y="3426924"/>
            <a:ext cx="1235793" cy="286797"/>
            <a:chOff x="335360" y="2922599"/>
            <a:chExt cx="1235793" cy="286797"/>
          </a:xfrm>
        </p:grpSpPr>
        <p:sp>
          <p:nvSpPr>
            <p:cNvPr id="93" name="Google Shape;93;p2">
              <a:extLst>
                <a:ext uri="{FF2B5EF4-FFF2-40B4-BE49-F238E27FC236}">
                  <a16:creationId xmlns:a16="http://schemas.microsoft.com/office/drawing/2014/main" id="{21E6A1E0-C30E-F361-0735-149A924BF9BD}"/>
                </a:ext>
              </a:extLst>
            </p:cNvPr>
            <p:cNvSpPr/>
            <p:nvPr/>
          </p:nvSpPr>
          <p:spPr>
            <a:xfrm rot="10800000">
              <a:off x="335360" y="2938565"/>
              <a:ext cx="1235793"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94;p2">
              <a:extLst>
                <a:ext uri="{FF2B5EF4-FFF2-40B4-BE49-F238E27FC236}">
                  <a16:creationId xmlns:a16="http://schemas.microsoft.com/office/drawing/2014/main" id="{A21D189F-1799-766E-5715-F0FB74B2A919}"/>
                </a:ext>
              </a:extLst>
            </p:cNvPr>
            <p:cNvSpPr txBox="1"/>
            <p:nvPr/>
          </p:nvSpPr>
          <p:spPr>
            <a:xfrm rot="-5400000">
              <a:off x="837662" y="2475900"/>
              <a:ext cx="231169" cy="1156469"/>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95" name="Google Shape;95;p2">
              <a:extLst>
                <a:ext uri="{FF2B5EF4-FFF2-40B4-BE49-F238E27FC236}">
                  <a16:creationId xmlns:a16="http://schemas.microsoft.com/office/drawing/2014/main" id="{3B298735-142F-A22A-E06F-360F3D454BF0}"/>
                </a:ext>
              </a:extLst>
            </p:cNvPr>
            <p:cNvSpPr txBox="1"/>
            <p:nvPr/>
          </p:nvSpPr>
          <p:spPr>
            <a:xfrm>
              <a:off x="485194" y="2922599"/>
              <a:ext cx="936104"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全体構成</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6" name="Google Shape;96;p2">
            <a:extLst>
              <a:ext uri="{FF2B5EF4-FFF2-40B4-BE49-F238E27FC236}">
                <a16:creationId xmlns:a16="http://schemas.microsoft.com/office/drawing/2014/main" id="{C35BEC66-F835-E8F8-7865-EE435257D3FB}"/>
              </a:ext>
            </a:extLst>
          </p:cNvPr>
          <p:cNvSpPr txBox="1"/>
          <p:nvPr/>
        </p:nvSpPr>
        <p:spPr>
          <a:xfrm>
            <a:off x="250522" y="203076"/>
            <a:ext cx="4536504" cy="309873"/>
          </a:xfrm>
          <a:prstGeom prst="rect">
            <a:avLst/>
          </a:prstGeom>
          <a:solidFill>
            <a:srgbClr val="54C1D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様式</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1</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 </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WiCON2025</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 提案内容説明書　ワイヤレス</a:t>
            </a:r>
            <a:r>
              <a:rPr kumimoji="0" lang="ja-JP" altLang="en-US" sz="1200" b="1" i="0" u="none" strike="noStrike" kern="0" cap="none" spc="0" normalizeH="0" baseline="0" noProof="0">
                <a:ln>
                  <a:noFill/>
                </a:ln>
                <a:solidFill>
                  <a:srgbClr val="F9F57A"/>
                </a:solidFill>
                <a:effectLst/>
                <a:uLnTx/>
                <a:uFillTx/>
                <a:latin typeface="Arial"/>
                <a:ea typeface="Arial"/>
                <a:cs typeface="Arial"/>
                <a:sym typeface="Arial"/>
              </a:rPr>
              <a:t>利活用</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部門</a:t>
            </a:r>
            <a:endParaRPr kumimoji="0" sz="1200" b="1" i="0" u="none" strike="noStrike" kern="0" cap="none" spc="0" normalizeH="0" baseline="0" noProof="0">
              <a:ln>
                <a:noFill/>
              </a:ln>
              <a:solidFill>
                <a:srgbClr val="243653"/>
              </a:solidFill>
              <a:effectLst/>
              <a:uLnTx/>
              <a:uFillTx/>
              <a:latin typeface="Arial"/>
              <a:ea typeface="Arial"/>
              <a:cs typeface="Arial"/>
              <a:sym typeface="Arial"/>
            </a:endParaRPr>
          </a:p>
        </p:txBody>
      </p:sp>
      <p:sp>
        <p:nvSpPr>
          <p:cNvPr id="103" name="Google Shape;103;p2">
            <a:extLst>
              <a:ext uri="{FF2B5EF4-FFF2-40B4-BE49-F238E27FC236}">
                <a16:creationId xmlns:a16="http://schemas.microsoft.com/office/drawing/2014/main" id="{D2FFAFF8-5134-96BB-D4B2-97C27222808F}"/>
              </a:ext>
            </a:extLst>
          </p:cNvPr>
          <p:cNvSpPr txBox="1">
            <a:spLocks noGrp="1"/>
          </p:cNvSpPr>
          <p:nvPr>
            <p:ph type="sldNum" idx="12"/>
          </p:nvPr>
        </p:nvSpPr>
        <p:spPr>
          <a:xfrm>
            <a:off x="9337972"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grpSp>
        <p:nvGrpSpPr>
          <p:cNvPr id="9" name="グループ化 8">
            <a:extLst>
              <a:ext uri="{FF2B5EF4-FFF2-40B4-BE49-F238E27FC236}">
                <a16:creationId xmlns:a16="http://schemas.microsoft.com/office/drawing/2014/main" id="{260CCBF2-8652-68A0-305A-EC6165A65BD1}"/>
              </a:ext>
            </a:extLst>
          </p:cNvPr>
          <p:cNvGrpSpPr/>
          <p:nvPr/>
        </p:nvGrpSpPr>
        <p:grpSpPr>
          <a:xfrm rot="1688381">
            <a:off x="10559135" y="5761791"/>
            <a:ext cx="1161535" cy="568413"/>
            <a:chOff x="5535827" y="4250724"/>
            <a:chExt cx="1161535" cy="568413"/>
          </a:xfrm>
          <a:solidFill>
            <a:schemeClr val="accent6">
              <a:lumMod val="60000"/>
              <a:lumOff val="40000"/>
            </a:schemeClr>
          </a:solidFill>
        </p:grpSpPr>
        <p:sp>
          <p:nvSpPr>
            <p:cNvPr id="7" name="正方形/長方形 6">
              <a:extLst>
                <a:ext uri="{FF2B5EF4-FFF2-40B4-BE49-F238E27FC236}">
                  <a16:creationId xmlns:a16="http://schemas.microsoft.com/office/drawing/2014/main" id="{35EB1F6A-03E0-73D3-2A26-69D8A335EE6D}"/>
                </a:ext>
              </a:extLst>
            </p:cNvPr>
            <p:cNvSpPr/>
            <p:nvPr/>
          </p:nvSpPr>
          <p:spPr>
            <a:xfrm>
              <a:off x="5535827" y="4473147"/>
              <a:ext cx="1161535" cy="345990"/>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A8EC44B7-8768-AB70-1F6C-9E135338A067}"/>
                </a:ext>
              </a:extLst>
            </p:cNvPr>
            <p:cNvSpPr/>
            <p:nvPr/>
          </p:nvSpPr>
          <p:spPr>
            <a:xfrm>
              <a:off x="5980670" y="4250724"/>
              <a:ext cx="494271" cy="22242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10" name="テキスト ボックス 9">
            <a:extLst>
              <a:ext uri="{FF2B5EF4-FFF2-40B4-BE49-F238E27FC236}">
                <a16:creationId xmlns:a16="http://schemas.microsoft.com/office/drawing/2014/main" id="{FD2F5242-BC6D-92E9-CEF6-E3525F9BF9B7}"/>
              </a:ext>
            </a:extLst>
          </p:cNvPr>
          <p:cNvSpPr txBox="1"/>
          <p:nvPr/>
        </p:nvSpPr>
        <p:spPr>
          <a:xfrm>
            <a:off x="10803576" y="5477069"/>
            <a:ext cx="723275"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沈没船</a:t>
            </a:r>
          </a:p>
        </p:txBody>
      </p:sp>
      <p:sp>
        <p:nvSpPr>
          <p:cNvPr id="13" name="星 7 12">
            <a:extLst>
              <a:ext uri="{FF2B5EF4-FFF2-40B4-BE49-F238E27FC236}">
                <a16:creationId xmlns:a16="http://schemas.microsoft.com/office/drawing/2014/main" id="{28F0CE24-351B-03EB-D4E8-449CCA9CCD47}"/>
              </a:ext>
            </a:extLst>
          </p:cNvPr>
          <p:cNvSpPr/>
          <p:nvPr/>
        </p:nvSpPr>
        <p:spPr>
          <a:xfrm rot="1033578">
            <a:off x="10197824" y="6007481"/>
            <a:ext cx="543698" cy="429243"/>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 name="正方形/長方形 3">
            <a:extLst>
              <a:ext uri="{FF2B5EF4-FFF2-40B4-BE49-F238E27FC236}">
                <a16:creationId xmlns:a16="http://schemas.microsoft.com/office/drawing/2014/main" id="{E7417493-CC7F-09FD-1F76-16F2C64E325E}"/>
              </a:ext>
            </a:extLst>
          </p:cNvPr>
          <p:cNvSpPr/>
          <p:nvPr/>
        </p:nvSpPr>
        <p:spPr>
          <a:xfrm>
            <a:off x="8217243" y="6331135"/>
            <a:ext cx="3568740" cy="227486"/>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ysClr val="windowText" lastClr="000000"/>
              </a:solidFill>
              <a:effectLst/>
              <a:uLnTx/>
              <a:uFillTx/>
              <a:latin typeface="Arial"/>
              <a:ea typeface="ＭＳ Ｐゴシック" panose="020B0600070205080204" pitchFamily="50" charset="-128"/>
              <a:cs typeface="+mn-cs"/>
              <a:sym typeface="Arial"/>
            </a:endParaRPr>
          </a:p>
        </p:txBody>
      </p:sp>
      <p:sp>
        <p:nvSpPr>
          <p:cNvPr id="15" name="円/楕円 14">
            <a:extLst>
              <a:ext uri="{FF2B5EF4-FFF2-40B4-BE49-F238E27FC236}">
                <a16:creationId xmlns:a16="http://schemas.microsoft.com/office/drawing/2014/main" id="{D8270589-A473-6887-B142-EFC3813471AF}"/>
              </a:ext>
            </a:extLst>
          </p:cNvPr>
          <p:cNvSpPr/>
          <p:nvPr/>
        </p:nvSpPr>
        <p:spPr>
          <a:xfrm>
            <a:off x="11258889" y="5897517"/>
            <a:ext cx="121008" cy="12311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6" name="テキスト ボックス 15">
            <a:extLst>
              <a:ext uri="{FF2B5EF4-FFF2-40B4-BE49-F238E27FC236}">
                <a16:creationId xmlns:a16="http://schemas.microsoft.com/office/drawing/2014/main" id="{314DE8CF-F551-D24C-29E0-D95ABEACCE0E}"/>
              </a:ext>
            </a:extLst>
          </p:cNvPr>
          <p:cNvSpPr txBox="1"/>
          <p:nvPr/>
        </p:nvSpPr>
        <p:spPr>
          <a:xfrm>
            <a:off x="1421340" y="3403260"/>
            <a:ext cx="842836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sng" strike="noStrike" kern="0" cap="none" spc="0" normalizeH="0" baseline="0" noProof="0">
                <a:ln>
                  <a:noFill/>
                </a:ln>
                <a:solidFill>
                  <a:srgbClr val="4F81BD">
                    <a:lumMod val="75000"/>
                  </a:srgbClr>
                </a:solidFill>
                <a:effectLst/>
                <a:uLnTx/>
                <a:uFillTx/>
                <a:latin typeface="Arial"/>
                <a:cs typeface="Arial"/>
                <a:sym typeface="Arial"/>
              </a:rPr>
              <a:t>地域課題：海中に沈殿した金属ゴミの存在による環境悪化と位置特定の困難性</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800" b="0" i="0" u="none" strike="noStrike" kern="0" cap="none" spc="0" normalizeH="0" baseline="0" noProof="0">
              <a:ln>
                <a:noFill/>
              </a:ln>
              <a:solidFill>
                <a:srgbClr val="4F81BD">
                  <a:lumMod val="75000"/>
                </a:srgbClr>
              </a:solidFill>
              <a:effectLst/>
              <a:uLnTx/>
              <a:uFillTx/>
              <a:latin typeface="Arial"/>
              <a:cs typeface="Arial"/>
              <a:sym typeface="Arial"/>
            </a:endParaRPr>
          </a:p>
        </p:txBody>
      </p:sp>
      <p:sp>
        <p:nvSpPr>
          <p:cNvPr id="19" name="テキスト ボックス 18">
            <a:extLst>
              <a:ext uri="{FF2B5EF4-FFF2-40B4-BE49-F238E27FC236}">
                <a16:creationId xmlns:a16="http://schemas.microsoft.com/office/drawing/2014/main" id="{091CEDB8-4019-9E54-6203-C27B7C706175}"/>
              </a:ext>
            </a:extLst>
          </p:cNvPr>
          <p:cNvSpPr txBox="1"/>
          <p:nvPr/>
        </p:nvSpPr>
        <p:spPr>
          <a:xfrm>
            <a:off x="553743" y="3775638"/>
            <a:ext cx="4829274" cy="646331"/>
          </a:xfrm>
          <a:prstGeom prst="rect">
            <a:avLst/>
          </a:prstGeom>
          <a:solidFill>
            <a:schemeClr val="accent2">
              <a:lumMod val="20000"/>
              <a:lumOff val="80000"/>
            </a:schemeClr>
          </a:solid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本提案：電磁センサ搭載水中ドローンによる</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800" b="0" i="0" u="none" strike="noStrike" kern="0" cap="none" spc="0" normalizeH="0" baseline="0" noProof="0">
                <a:ln>
                  <a:noFill/>
                </a:ln>
                <a:solidFill>
                  <a:srgbClr val="000000"/>
                </a:solidFill>
                <a:effectLst/>
                <a:uLnTx/>
                <a:uFillTx/>
                <a:latin typeface="Arial"/>
                <a:cs typeface="Arial"/>
                <a:sym typeface="Arial"/>
              </a:rPr>
              <a:t>           </a:t>
            </a:r>
            <a:r>
              <a:rPr kumimoji="1" lang="ja-JP" altLang="en-US" sz="1800" b="0" i="0" u="none" strike="noStrike" kern="0" cap="none" spc="0" normalizeH="0" baseline="0" noProof="0">
                <a:ln>
                  <a:noFill/>
                </a:ln>
                <a:solidFill>
                  <a:srgbClr val="000000"/>
                </a:solidFill>
                <a:effectLst/>
                <a:uLnTx/>
                <a:uFillTx/>
                <a:latin typeface="Arial"/>
                <a:cs typeface="Arial"/>
                <a:sym typeface="Arial"/>
              </a:rPr>
              <a:t>　遠隔海洋ゴミ調査の技術実証</a:t>
            </a:r>
          </a:p>
        </p:txBody>
      </p:sp>
      <p:pic>
        <p:nvPicPr>
          <p:cNvPr id="1028" name="Picture 4">
            <a:extLst>
              <a:ext uri="{FF2B5EF4-FFF2-40B4-BE49-F238E27FC236}">
                <a16:creationId xmlns:a16="http://schemas.microsoft.com/office/drawing/2014/main" id="{EEB455F8-000B-4889-7331-DEEAB45242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09" t="21702" r="18004" b="22980"/>
          <a:stretch/>
        </p:blipFill>
        <p:spPr bwMode="auto">
          <a:xfrm rot="16200000">
            <a:off x="4140886" y="4755429"/>
            <a:ext cx="962367" cy="1260741"/>
          </a:xfrm>
          <a:prstGeom prst="rect">
            <a:avLst/>
          </a:prstGeom>
          <a:noFill/>
          <a:extLst>
            <a:ext uri="{909E8E84-426E-40DD-AFC4-6F175D3DCCD1}">
              <a14:hiddenFill xmlns:a14="http://schemas.microsoft.com/office/drawing/2010/main">
                <a:solidFill>
                  <a:srgbClr val="FFFFFF"/>
                </a:solidFill>
              </a14:hiddenFill>
            </a:ext>
          </a:extLst>
        </p:spPr>
      </p:pic>
      <p:sp>
        <p:nvSpPr>
          <p:cNvPr id="6" name="左矢印 5">
            <a:extLst>
              <a:ext uri="{FF2B5EF4-FFF2-40B4-BE49-F238E27FC236}">
                <a16:creationId xmlns:a16="http://schemas.microsoft.com/office/drawing/2014/main" id="{B49CEBB8-6EA7-EACB-BAA4-2330EEA99932}"/>
              </a:ext>
            </a:extLst>
          </p:cNvPr>
          <p:cNvSpPr/>
          <p:nvPr/>
        </p:nvSpPr>
        <p:spPr>
          <a:xfrm>
            <a:off x="2706577" y="5270136"/>
            <a:ext cx="985551" cy="357669"/>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8" name="テキスト ボックス 17">
            <a:extLst>
              <a:ext uri="{FF2B5EF4-FFF2-40B4-BE49-F238E27FC236}">
                <a16:creationId xmlns:a16="http://schemas.microsoft.com/office/drawing/2014/main" id="{DC903CC2-8F43-3892-C522-90C659B750BB}"/>
              </a:ext>
            </a:extLst>
          </p:cNvPr>
          <p:cNvSpPr txBox="1"/>
          <p:nvPr/>
        </p:nvSpPr>
        <p:spPr>
          <a:xfrm>
            <a:off x="2544435" y="4968565"/>
            <a:ext cx="131212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センサを搭載</a:t>
            </a:r>
          </a:p>
        </p:txBody>
      </p:sp>
      <p:sp>
        <p:nvSpPr>
          <p:cNvPr id="22" name="テキスト ボックス 21">
            <a:extLst>
              <a:ext uri="{FF2B5EF4-FFF2-40B4-BE49-F238E27FC236}">
                <a16:creationId xmlns:a16="http://schemas.microsoft.com/office/drawing/2014/main" id="{57B9D169-AB1B-B067-6B19-BE9BE2D1BD78}"/>
              </a:ext>
            </a:extLst>
          </p:cNvPr>
          <p:cNvSpPr txBox="1"/>
          <p:nvPr/>
        </p:nvSpPr>
        <p:spPr>
          <a:xfrm>
            <a:off x="934386" y="4540129"/>
            <a:ext cx="1261884" cy="30777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水中ドローン</a:t>
            </a:r>
          </a:p>
        </p:txBody>
      </p:sp>
      <p:sp>
        <p:nvSpPr>
          <p:cNvPr id="23" name="テキスト ボックス 22">
            <a:extLst>
              <a:ext uri="{FF2B5EF4-FFF2-40B4-BE49-F238E27FC236}">
                <a16:creationId xmlns:a16="http://schemas.microsoft.com/office/drawing/2014/main" id="{4DCD20F1-81EC-2097-A4EF-9A6081E36832}"/>
              </a:ext>
            </a:extLst>
          </p:cNvPr>
          <p:cNvSpPr txBox="1"/>
          <p:nvPr/>
        </p:nvSpPr>
        <p:spPr>
          <a:xfrm>
            <a:off x="3801272" y="4512144"/>
            <a:ext cx="1452464" cy="307777"/>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金属探知センサ</a:t>
            </a:r>
          </a:p>
        </p:txBody>
      </p:sp>
      <p:sp>
        <p:nvSpPr>
          <p:cNvPr id="24" name="円/楕円 23">
            <a:extLst>
              <a:ext uri="{FF2B5EF4-FFF2-40B4-BE49-F238E27FC236}">
                <a16:creationId xmlns:a16="http://schemas.microsoft.com/office/drawing/2014/main" id="{1BC30918-CF1C-32BD-942F-6A9764578DC1}"/>
              </a:ext>
            </a:extLst>
          </p:cNvPr>
          <p:cNvSpPr/>
          <p:nvPr/>
        </p:nvSpPr>
        <p:spPr>
          <a:xfrm rot="1136490">
            <a:off x="9357103" y="5288641"/>
            <a:ext cx="666390" cy="275542"/>
          </a:xfrm>
          <a:prstGeom prst="ellipse">
            <a:avLst/>
          </a:prstGeom>
          <a:solidFill>
            <a:schemeClr val="bg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25" name="角丸四角形 24">
            <a:extLst>
              <a:ext uri="{FF2B5EF4-FFF2-40B4-BE49-F238E27FC236}">
                <a16:creationId xmlns:a16="http://schemas.microsoft.com/office/drawing/2014/main" id="{F296BD46-7C26-FA8B-808A-D8E549C11F17}"/>
              </a:ext>
            </a:extLst>
          </p:cNvPr>
          <p:cNvSpPr/>
          <p:nvPr/>
        </p:nvSpPr>
        <p:spPr>
          <a:xfrm rot="1224863">
            <a:off x="9459915" y="5555973"/>
            <a:ext cx="329459" cy="93887"/>
          </a:xfrm>
          <a:prstGeom prst="roundRect">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40" name="グラフィックス 39" descr="Wi-Fi 枠線">
            <a:extLst>
              <a:ext uri="{FF2B5EF4-FFF2-40B4-BE49-F238E27FC236}">
                <a16:creationId xmlns:a16="http://schemas.microsoft.com/office/drawing/2014/main" id="{AFF60C7A-D014-50D5-8B95-7C0626EA91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6893642">
            <a:off x="9574618" y="5303931"/>
            <a:ext cx="980182" cy="980182"/>
          </a:xfrm>
          <a:prstGeom prst="rect">
            <a:avLst/>
          </a:prstGeom>
        </p:spPr>
      </p:pic>
      <p:pic>
        <p:nvPicPr>
          <p:cNvPr id="42" name="グラフィックス 41" descr="ユーザー 単色塗りつぶし">
            <a:extLst>
              <a:ext uri="{FF2B5EF4-FFF2-40B4-BE49-F238E27FC236}">
                <a16:creationId xmlns:a16="http://schemas.microsoft.com/office/drawing/2014/main" id="{5E38496E-0805-5B40-8951-D2B329A768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30699" y="4319584"/>
            <a:ext cx="705941" cy="705941"/>
          </a:xfrm>
          <a:prstGeom prst="rect">
            <a:avLst/>
          </a:prstGeom>
        </p:spPr>
      </p:pic>
      <p:cxnSp>
        <p:nvCxnSpPr>
          <p:cNvPr id="49" name="曲線コネクタ 48">
            <a:extLst>
              <a:ext uri="{FF2B5EF4-FFF2-40B4-BE49-F238E27FC236}">
                <a16:creationId xmlns:a16="http://schemas.microsoft.com/office/drawing/2014/main" id="{C09F71ED-6900-9F4F-58FA-1DAA9391862B}"/>
              </a:ext>
            </a:extLst>
          </p:cNvPr>
          <p:cNvCxnSpPr>
            <a:cxnSpLocks/>
            <a:endCxn id="24" idx="2"/>
          </p:cNvCxnSpPr>
          <p:nvPr/>
        </p:nvCxnSpPr>
        <p:spPr>
          <a:xfrm rot="16200000" flipH="1">
            <a:off x="9086004" y="5029115"/>
            <a:ext cx="302942" cy="275340"/>
          </a:xfrm>
          <a:prstGeom prst="curvedConnector2">
            <a:avLst/>
          </a:prstGeom>
          <a:ln w="44450"/>
        </p:spPr>
        <p:style>
          <a:lnRef idx="1">
            <a:schemeClr val="accent1"/>
          </a:lnRef>
          <a:fillRef idx="0">
            <a:schemeClr val="accent1"/>
          </a:fillRef>
          <a:effectRef idx="0">
            <a:schemeClr val="accent1"/>
          </a:effectRef>
          <a:fontRef idx="minor">
            <a:schemeClr val="tx1"/>
          </a:fontRef>
        </p:style>
      </p:cxnSp>
      <p:pic>
        <p:nvPicPr>
          <p:cNvPr id="55" name="グラフィックス 54" descr="雲 枠線">
            <a:extLst>
              <a:ext uri="{FF2B5EF4-FFF2-40B4-BE49-F238E27FC236}">
                <a16:creationId xmlns:a16="http://schemas.microsoft.com/office/drawing/2014/main" id="{F2809EB9-F5E7-2E28-62DE-2404A0C65F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91877" y="3331071"/>
            <a:ext cx="1446845" cy="1329614"/>
          </a:xfrm>
          <a:prstGeom prst="rect">
            <a:avLst/>
          </a:prstGeom>
        </p:spPr>
      </p:pic>
      <p:sp>
        <p:nvSpPr>
          <p:cNvPr id="56" name="テキスト ボックス 55">
            <a:extLst>
              <a:ext uri="{FF2B5EF4-FFF2-40B4-BE49-F238E27FC236}">
                <a16:creationId xmlns:a16="http://schemas.microsoft.com/office/drawing/2014/main" id="{436F0BAE-18FA-775A-B5AB-29DC44BB1FE4}"/>
              </a:ext>
            </a:extLst>
          </p:cNvPr>
          <p:cNvSpPr txBox="1"/>
          <p:nvPr/>
        </p:nvSpPr>
        <p:spPr>
          <a:xfrm>
            <a:off x="9248263" y="3953586"/>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クラウド</a:t>
            </a:r>
          </a:p>
        </p:txBody>
      </p:sp>
      <p:grpSp>
        <p:nvGrpSpPr>
          <p:cNvPr id="63" name="グループ化 62">
            <a:extLst>
              <a:ext uri="{FF2B5EF4-FFF2-40B4-BE49-F238E27FC236}">
                <a16:creationId xmlns:a16="http://schemas.microsoft.com/office/drawing/2014/main" id="{01BEF46F-4884-A0E6-AC8D-6968607F16ED}"/>
              </a:ext>
            </a:extLst>
          </p:cNvPr>
          <p:cNvGrpSpPr/>
          <p:nvPr/>
        </p:nvGrpSpPr>
        <p:grpSpPr>
          <a:xfrm>
            <a:off x="8788750" y="4789655"/>
            <a:ext cx="622109" cy="325631"/>
            <a:chOff x="7498001" y="3931921"/>
            <a:chExt cx="636818" cy="473825"/>
          </a:xfrm>
        </p:grpSpPr>
        <p:sp>
          <p:nvSpPr>
            <p:cNvPr id="57" name="角丸四角形 56">
              <a:extLst>
                <a:ext uri="{FF2B5EF4-FFF2-40B4-BE49-F238E27FC236}">
                  <a16:creationId xmlns:a16="http://schemas.microsoft.com/office/drawing/2014/main" id="{3276128B-504F-0F20-CD45-C5FD4527ED71}"/>
                </a:ext>
              </a:extLst>
            </p:cNvPr>
            <p:cNvSpPr/>
            <p:nvPr/>
          </p:nvSpPr>
          <p:spPr>
            <a:xfrm>
              <a:off x="7498001" y="3978560"/>
              <a:ext cx="636818" cy="381430"/>
            </a:xfrm>
            <a:prstGeom prst="roundRect">
              <a:avLst/>
            </a:prstGeom>
            <a:solidFill>
              <a:schemeClr val="tx1">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58" name="正方形/長方形 57">
              <a:extLst>
                <a:ext uri="{FF2B5EF4-FFF2-40B4-BE49-F238E27FC236}">
                  <a16:creationId xmlns:a16="http://schemas.microsoft.com/office/drawing/2014/main" id="{2C5D631B-290C-BFE5-4C35-B57998B47D72}"/>
                </a:ext>
              </a:extLst>
            </p:cNvPr>
            <p:cNvSpPr/>
            <p:nvPr/>
          </p:nvSpPr>
          <p:spPr>
            <a:xfrm>
              <a:off x="7642703" y="3931921"/>
              <a:ext cx="49004" cy="473825"/>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0" name="正方形/長方形 59">
              <a:extLst>
                <a:ext uri="{FF2B5EF4-FFF2-40B4-BE49-F238E27FC236}">
                  <a16:creationId xmlns:a16="http://schemas.microsoft.com/office/drawing/2014/main" id="{4BCC3A67-E8C3-9DCB-68AA-0412ADCE0175}"/>
                </a:ext>
              </a:extLst>
            </p:cNvPr>
            <p:cNvSpPr/>
            <p:nvPr/>
          </p:nvSpPr>
          <p:spPr>
            <a:xfrm>
              <a:off x="7934583" y="3931922"/>
              <a:ext cx="49088" cy="47382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64" name="テキスト ボックス 63">
            <a:extLst>
              <a:ext uri="{FF2B5EF4-FFF2-40B4-BE49-F238E27FC236}">
                <a16:creationId xmlns:a16="http://schemas.microsoft.com/office/drawing/2014/main" id="{4CCCB166-7613-47D1-AEAC-E926B0799E1F}"/>
              </a:ext>
            </a:extLst>
          </p:cNvPr>
          <p:cNvSpPr txBox="1"/>
          <p:nvPr/>
        </p:nvSpPr>
        <p:spPr>
          <a:xfrm>
            <a:off x="9389399" y="6079672"/>
            <a:ext cx="1563253" cy="30777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金属ゴミ</a:t>
            </a:r>
          </a:p>
        </p:txBody>
      </p:sp>
      <p:sp>
        <p:nvSpPr>
          <p:cNvPr id="66" name="テキスト ボックス 65">
            <a:extLst>
              <a:ext uri="{FF2B5EF4-FFF2-40B4-BE49-F238E27FC236}">
                <a16:creationId xmlns:a16="http://schemas.microsoft.com/office/drawing/2014/main" id="{13C337D9-649D-7E25-E6DC-609ADD973E3F}"/>
              </a:ext>
            </a:extLst>
          </p:cNvPr>
          <p:cNvSpPr txBox="1"/>
          <p:nvPr/>
        </p:nvSpPr>
        <p:spPr>
          <a:xfrm>
            <a:off x="8481281" y="5306627"/>
            <a:ext cx="1031051" cy="261610"/>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水中ドローン</a:t>
            </a:r>
          </a:p>
        </p:txBody>
      </p:sp>
      <p:sp>
        <p:nvSpPr>
          <p:cNvPr id="68" name="テキスト ボックス 67">
            <a:extLst>
              <a:ext uri="{FF2B5EF4-FFF2-40B4-BE49-F238E27FC236}">
                <a16:creationId xmlns:a16="http://schemas.microsoft.com/office/drawing/2014/main" id="{CCCDE335-AD12-3C6E-E67E-4686908F06A5}"/>
              </a:ext>
            </a:extLst>
          </p:cNvPr>
          <p:cNvSpPr txBox="1"/>
          <p:nvPr/>
        </p:nvSpPr>
        <p:spPr>
          <a:xfrm>
            <a:off x="8548124" y="5664918"/>
            <a:ext cx="1241428" cy="253916"/>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金属探知センサ</a:t>
            </a:r>
          </a:p>
        </p:txBody>
      </p:sp>
      <p:cxnSp>
        <p:nvCxnSpPr>
          <p:cNvPr id="70" name="直線矢印コネクタ 69">
            <a:extLst>
              <a:ext uri="{FF2B5EF4-FFF2-40B4-BE49-F238E27FC236}">
                <a16:creationId xmlns:a16="http://schemas.microsoft.com/office/drawing/2014/main" id="{ABDE7617-03D3-AD72-3FE2-11CDEA895350}"/>
              </a:ext>
            </a:extLst>
          </p:cNvPr>
          <p:cNvCxnSpPr>
            <a:cxnSpLocks/>
          </p:cNvCxnSpPr>
          <p:nvPr/>
        </p:nvCxnSpPr>
        <p:spPr>
          <a:xfrm flipV="1">
            <a:off x="9270646" y="4363722"/>
            <a:ext cx="408609" cy="423856"/>
          </a:xfrm>
          <a:prstGeom prst="straightConnector1">
            <a:avLst/>
          </a:prstGeom>
          <a:ln w="63500" cmpd="sng">
            <a:gradFill flip="none" rotWithShape="1">
              <a:gsLst>
                <a:gs pos="0">
                  <a:srgbClr val="FF0000"/>
                </a:gs>
                <a:gs pos="48000">
                  <a:schemeClr val="accent2">
                    <a:lumMod val="97000"/>
                    <a:lumOff val="3000"/>
                  </a:schemeClr>
                </a:gs>
                <a:gs pos="100000">
                  <a:schemeClr val="accent2">
                    <a:lumMod val="60000"/>
                    <a:lumOff val="40000"/>
                  </a:schemeClr>
                </a:gs>
              </a:gsLst>
              <a:lin ang="16200000" scaled="1"/>
              <a:tileRect/>
            </a:gra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1FCF570A-590C-E124-8C3C-0EE5187452D1}"/>
              </a:ext>
            </a:extLst>
          </p:cNvPr>
          <p:cNvSpPr txBox="1"/>
          <p:nvPr/>
        </p:nvSpPr>
        <p:spPr>
          <a:xfrm>
            <a:off x="9695242" y="4477781"/>
            <a:ext cx="2340826"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位置情報、センサのデータ</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0" i="0" u="none" strike="noStrike" kern="0" cap="none" spc="0" normalizeH="0" baseline="0" noProof="0">
                <a:ln>
                  <a:noFill/>
                </a:ln>
                <a:solidFill>
                  <a:srgbClr val="000000"/>
                </a:solidFill>
                <a:effectLst/>
                <a:uLnTx/>
                <a:uFillTx/>
                <a:latin typeface="Arial"/>
                <a:cs typeface="Arial"/>
                <a:sym typeface="Arial"/>
              </a:rPr>
              <a:t>5G回線</a:t>
            </a:r>
          </a:p>
        </p:txBody>
      </p:sp>
      <p:pic>
        <p:nvPicPr>
          <p:cNvPr id="74" name="グラフィックス 73" descr="コンピューター 枠線">
            <a:extLst>
              <a:ext uri="{FF2B5EF4-FFF2-40B4-BE49-F238E27FC236}">
                <a16:creationId xmlns:a16="http://schemas.microsoft.com/office/drawing/2014/main" id="{B782DDB2-FAD7-A393-24F0-96B2B9C377E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36327" y="5487076"/>
            <a:ext cx="914400" cy="914400"/>
          </a:xfrm>
          <a:prstGeom prst="rect">
            <a:avLst/>
          </a:prstGeom>
        </p:spPr>
      </p:pic>
      <p:pic>
        <p:nvPicPr>
          <p:cNvPr id="76" name="グラフィックス 75" descr="ピン止めした地図 枠線">
            <a:extLst>
              <a:ext uri="{FF2B5EF4-FFF2-40B4-BE49-F238E27FC236}">
                <a16:creationId xmlns:a16="http://schemas.microsoft.com/office/drawing/2014/main" id="{2A9088F6-5A25-40D9-A70E-A95C6A6E976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34167" y="4688744"/>
            <a:ext cx="914400" cy="914400"/>
          </a:xfrm>
          <a:prstGeom prst="rect">
            <a:avLst/>
          </a:prstGeom>
        </p:spPr>
      </p:pic>
      <p:cxnSp>
        <p:nvCxnSpPr>
          <p:cNvPr id="78" name="直線矢印コネクタ 77">
            <a:extLst>
              <a:ext uri="{FF2B5EF4-FFF2-40B4-BE49-F238E27FC236}">
                <a16:creationId xmlns:a16="http://schemas.microsoft.com/office/drawing/2014/main" id="{158B725F-53E3-3B4F-ED68-9E5A5AF9E499}"/>
              </a:ext>
            </a:extLst>
          </p:cNvPr>
          <p:cNvCxnSpPr>
            <a:cxnSpLocks/>
            <a:stCxn id="55" idx="1"/>
          </p:cNvCxnSpPr>
          <p:nvPr/>
        </p:nvCxnSpPr>
        <p:spPr>
          <a:xfrm flipH="1">
            <a:off x="7660006" y="3990017"/>
            <a:ext cx="1320148" cy="14654"/>
          </a:xfrm>
          <a:prstGeom prst="straightConnector1">
            <a:avLst/>
          </a:prstGeom>
          <a:ln w="63500" cmpd="sng">
            <a:solidFill>
              <a:srgbClr val="FF0000"/>
            </a:soli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85" name="テキスト ボックス 84">
            <a:extLst>
              <a:ext uri="{FF2B5EF4-FFF2-40B4-BE49-F238E27FC236}">
                <a16:creationId xmlns:a16="http://schemas.microsoft.com/office/drawing/2014/main" id="{3565C4C9-AEC2-9C0D-7437-1619CF92099D}"/>
              </a:ext>
            </a:extLst>
          </p:cNvPr>
          <p:cNvSpPr txBox="1"/>
          <p:nvPr/>
        </p:nvSpPr>
        <p:spPr>
          <a:xfrm>
            <a:off x="10328047" y="4018783"/>
            <a:ext cx="1261884"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データを処理</a:t>
            </a:r>
          </a:p>
        </p:txBody>
      </p:sp>
      <p:sp>
        <p:nvSpPr>
          <p:cNvPr id="86" name="テキスト ボックス 85">
            <a:extLst>
              <a:ext uri="{FF2B5EF4-FFF2-40B4-BE49-F238E27FC236}">
                <a16:creationId xmlns:a16="http://schemas.microsoft.com/office/drawing/2014/main" id="{FC175008-6789-B6FF-3E00-9DD55C51F84B}"/>
              </a:ext>
            </a:extLst>
          </p:cNvPr>
          <p:cNvSpPr txBox="1"/>
          <p:nvPr/>
        </p:nvSpPr>
        <p:spPr>
          <a:xfrm>
            <a:off x="6318573" y="4019005"/>
            <a:ext cx="1149674" cy="738664"/>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QGIS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と連動</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マッピング</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88" name="テキスト ボックス 87">
            <a:extLst>
              <a:ext uri="{FF2B5EF4-FFF2-40B4-BE49-F238E27FC236}">
                <a16:creationId xmlns:a16="http://schemas.microsoft.com/office/drawing/2014/main" id="{1E961FF0-5427-8B84-9094-004304D64C52}"/>
              </a:ext>
            </a:extLst>
          </p:cNvPr>
          <p:cNvSpPr txBox="1"/>
          <p:nvPr/>
        </p:nvSpPr>
        <p:spPr>
          <a:xfrm>
            <a:off x="7695988" y="4219710"/>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ドローン操縦者</a:t>
            </a:r>
          </a:p>
        </p:txBody>
      </p:sp>
      <p:sp>
        <p:nvSpPr>
          <p:cNvPr id="89" name="テキスト ボックス 88">
            <a:extLst>
              <a:ext uri="{FF2B5EF4-FFF2-40B4-BE49-F238E27FC236}">
                <a16:creationId xmlns:a16="http://schemas.microsoft.com/office/drawing/2014/main" id="{C48592FA-92FE-838B-7330-A9663275C1C6}"/>
              </a:ext>
            </a:extLst>
          </p:cNvPr>
          <p:cNvSpPr txBox="1"/>
          <p:nvPr/>
        </p:nvSpPr>
        <p:spPr>
          <a:xfrm>
            <a:off x="8496422" y="4588924"/>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ペリカンケース</a:t>
            </a:r>
          </a:p>
        </p:txBody>
      </p:sp>
      <p:pic>
        <p:nvPicPr>
          <p:cNvPr id="12" name="Picture 16" descr="Technical Reference">
            <a:extLst>
              <a:ext uri="{FF2B5EF4-FFF2-40B4-BE49-F238E27FC236}">
                <a16:creationId xmlns:a16="http://schemas.microsoft.com/office/drawing/2014/main" id="{43671A86-18EF-AE8C-D9C2-1D206D7695FE}"/>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7920" b="7871"/>
          <a:stretch/>
        </p:blipFill>
        <p:spPr bwMode="auto">
          <a:xfrm>
            <a:off x="617684" y="4905466"/>
            <a:ext cx="1905000" cy="160418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グループ化 28">
            <a:extLst>
              <a:ext uri="{FF2B5EF4-FFF2-40B4-BE49-F238E27FC236}">
                <a16:creationId xmlns:a16="http://schemas.microsoft.com/office/drawing/2014/main" id="{09443548-BCBF-D825-ED07-272D89E78995}"/>
              </a:ext>
            </a:extLst>
          </p:cNvPr>
          <p:cNvGrpSpPr/>
          <p:nvPr/>
        </p:nvGrpSpPr>
        <p:grpSpPr>
          <a:xfrm rot="1688381">
            <a:off x="4924084" y="6125889"/>
            <a:ext cx="819187" cy="380675"/>
            <a:chOff x="5535827" y="4250724"/>
            <a:chExt cx="1161535" cy="568413"/>
          </a:xfrm>
          <a:solidFill>
            <a:schemeClr val="accent6">
              <a:lumMod val="60000"/>
              <a:lumOff val="40000"/>
            </a:schemeClr>
          </a:solidFill>
        </p:grpSpPr>
        <p:sp>
          <p:nvSpPr>
            <p:cNvPr id="30" name="正方形/長方形 6">
              <a:extLst>
                <a:ext uri="{FF2B5EF4-FFF2-40B4-BE49-F238E27FC236}">
                  <a16:creationId xmlns:a16="http://schemas.microsoft.com/office/drawing/2014/main" id="{89ABA6F9-875C-3E2C-DC99-1C1FB27F4F6B}"/>
                </a:ext>
              </a:extLst>
            </p:cNvPr>
            <p:cNvSpPr/>
            <p:nvPr/>
          </p:nvSpPr>
          <p:spPr>
            <a:xfrm>
              <a:off x="5535827" y="4473147"/>
              <a:ext cx="1161535" cy="345990"/>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1" name="正方形/長方形 30">
              <a:extLst>
                <a:ext uri="{FF2B5EF4-FFF2-40B4-BE49-F238E27FC236}">
                  <a16:creationId xmlns:a16="http://schemas.microsoft.com/office/drawing/2014/main" id="{03B75BDF-4ED1-D372-BABD-A36EBDA05EDC}"/>
                </a:ext>
              </a:extLst>
            </p:cNvPr>
            <p:cNvSpPr/>
            <p:nvPr/>
          </p:nvSpPr>
          <p:spPr>
            <a:xfrm>
              <a:off x="5980670" y="4250724"/>
              <a:ext cx="494271" cy="22242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32" name="星 7 12">
            <a:extLst>
              <a:ext uri="{FF2B5EF4-FFF2-40B4-BE49-F238E27FC236}">
                <a16:creationId xmlns:a16="http://schemas.microsoft.com/office/drawing/2014/main" id="{DA72B356-59B0-CC7D-6F66-4E5339CE392F}"/>
              </a:ext>
            </a:extLst>
          </p:cNvPr>
          <p:cNvSpPr/>
          <p:nvPr/>
        </p:nvSpPr>
        <p:spPr>
          <a:xfrm rot="1033578">
            <a:off x="4655664" y="6270421"/>
            <a:ext cx="300741" cy="263591"/>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4" name="円/楕円 14">
            <a:extLst>
              <a:ext uri="{FF2B5EF4-FFF2-40B4-BE49-F238E27FC236}">
                <a16:creationId xmlns:a16="http://schemas.microsoft.com/office/drawing/2014/main" id="{2E649001-61A8-83E1-6802-0DA9686622AD}"/>
              </a:ext>
            </a:extLst>
          </p:cNvPr>
          <p:cNvSpPr/>
          <p:nvPr/>
        </p:nvSpPr>
        <p:spPr>
          <a:xfrm>
            <a:off x="5383759" y="6195690"/>
            <a:ext cx="121008" cy="12311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5" name="グラフィックス 34" descr="Wi-Fi 枠線">
            <a:extLst>
              <a:ext uri="{FF2B5EF4-FFF2-40B4-BE49-F238E27FC236}">
                <a16:creationId xmlns:a16="http://schemas.microsoft.com/office/drawing/2014/main" id="{7B72F638-DE8D-D125-06FD-3F238847EC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9480000">
            <a:off x="4380122" y="5621853"/>
            <a:ext cx="792443" cy="792443"/>
          </a:xfrm>
          <a:prstGeom prst="rect">
            <a:avLst/>
          </a:prstGeom>
        </p:spPr>
      </p:pic>
      <p:sp>
        <p:nvSpPr>
          <p:cNvPr id="2" name="テキスト ボックス 1">
            <a:extLst>
              <a:ext uri="{FF2B5EF4-FFF2-40B4-BE49-F238E27FC236}">
                <a16:creationId xmlns:a16="http://schemas.microsoft.com/office/drawing/2014/main" id="{58D75AD2-EB67-A9E2-53D8-E9CC05928788}"/>
              </a:ext>
            </a:extLst>
          </p:cNvPr>
          <p:cNvSpPr txBox="1"/>
          <p:nvPr/>
        </p:nvSpPr>
        <p:spPr>
          <a:xfrm>
            <a:off x="10146459" y="3449719"/>
            <a:ext cx="1798268" cy="369332"/>
          </a:xfrm>
          <a:prstGeom prst="rect">
            <a:avLst/>
          </a:prstGeom>
          <a:solidFill>
            <a:schemeClr val="bg2">
              <a:lumMod val="20000"/>
              <a:lumOff val="80000"/>
            </a:schemeClr>
          </a:solidFill>
          <a:ln w="0">
            <a:solidFill>
              <a:schemeClr val="tx1"/>
            </a:solidFill>
            <a:prstDash val="solid"/>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800" b="0" i="0" u="none" strike="noStrike" kern="0" cap="none" spc="0" normalizeH="0" baseline="0" noProof="0">
                <a:ln>
                  <a:noFill/>
                </a:ln>
                <a:solidFill>
                  <a:srgbClr val="000000"/>
                </a:solidFill>
                <a:effectLst/>
                <a:uLnTx/>
                <a:uFillTx/>
                <a:latin typeface="ＭＳ Ｐゴシック"/>
                <a:ea typeface="ＭＳ Ｐゴシック"/>
                <a:cs typeface="Arial"/>
                <a:sym typeface="Arial"/>
              </a:rPr>
              <a:t>鈴鹿高専担当</a:t>
            </a:r>
            <a:endParaRPr lang="en-US" sz="1800" b="0" i="0" u="none" strike="noStrike" kern="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65655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pSp>
        <p:nvGrpSpPr>
          <p:cNvPr id="109" name="Google Shape;109;p3"/>
          <p:cNvGrpSpPr/>
          <p:nvPr/>
        </p:nvGrpSpPr>
        <p:grpSpPr>
          <a:xfrm>
            <a:off x="335360" y="670823"/>
            <a:ext cx="1235793" cy="281466"/>
            <a:chOff x="335360" y="2927930"/>
            <a:chExt cx="1235793" cy="281466"/>
          </a:xfrm>
        </p:grpSpPr>
        <p:sp>
          <p:nvSpPr>
            <p:cNvPr id="110" name="Google Shape;110;p3"/>
            <p:cNvSpPr/>
            <p:nvPr/>
          </p:nvSpPr>
          <p:spPr>
            <a:xfrm rot="10800000">
              <a:off x="335360" y="2938565"/>
              <a:ext cx="1235793"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11;p3"/>
            <p:cNvSpPr txBox="1"/>
            <p:nvPr/>
          </p:nvSpPr>
          <p:spPr>
            <a:xfrm rot="-5400000">
              <a:off x="837662" y="2475900"/>
              <a:ext cx="231169" cy="1156469"/>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12" name="Google Shape;112;p3"/>
            <p:cNvSpPr txBox="1"/>
            <p:nvPr/>
          </p:nvSpPr>
          <p:spPr>
            <a:xfrm>
              <a:off x="446790" y="2927930"/>
              <a:ext cx="936104"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全体構成</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13" name="Google Shape;113;p3"/>
          <p:cNvSpPr txBox="1"/>
          <p:nvPr/>
        </p:nvSpPr>
        <p:spPr>
          <a:xfrm>
            <a:off x="250522" y="203076"/>
            <a:ext cx="4536504" cy="309873"/>
          </a:xfrm>
          <a:prstGeom prst="rect">
            <a:avLst/>
          </a:prstGeom>
          <a:solidFill>
            <a:srgbClr val="54C1D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様式</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1</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 </a:t>
            </a:r>
            <a:r>
              <a:rPr kumimoji="0" lang="en-US" altLang="ja-JP" sz="1200" b="1" i="0" u="none" strike="noStrike" kern="0" cap="none" spc="0" normalizeH="0" baseline="0" noProof="0">
                <a:ln>
                  <a:noFill/>
                </a:ln>
                <a:solidFill>
                  <a:srgbClr val="243653"/>
                </a:solidFill>
                <a:effectLst/>
                <a:uLnTx/>
                <a:uFillTx/>
                <a:latin typeface="Arial"/>
                <a:ea typeface="Arial"/>
                <a:cs typeface="Arial"/>
                <a:sym typeface="Arial"/>
              </a:rPr>
              <a:t>WiCON2025</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 提案内容説明書　ワイヤレス</a:t>
            </a:r>
            <a:r>
              <a:rPr kumimoji="0" lang="ja-JP" altLang="en-US" sz="1200" b="1" i="0" u="none" strike="noStrike" kern="0" cap="none" spc="0" normalizeH="0" baseline="0" noProof="0">
                <a:ln>
                  <a:noFill/>
                </a:ln>
                <a:solidFill>
                  <a:srgbClr val="F9F57A"/>
                </a:solidFill>
                <a:effectLst/>
                <a:uLnTx/>
                <a:uFillTx/>
                <a:latin typeface="Arial"/>
                <a:ea typeface="Arial"/>
                <a:cs typeface="Arial"/>
                <a:sym typeface="Arial"/>
              </a:rPr>
              <a:t>利活用</a:t>
            </a:r>
            <a:r>
              <a:rPr kumimoji="0" lang="ja-JP" altLang="en-US" sz="1200" b="1" i="0" u="none" strike="noStrike" kern="0" cap="none" spc="0" normalizeH="0" baseline="0" noProof="0">
                <a:ln>
                  <a:noFill/>
                </a:ln>
                <a:solidFill>
                  <a:srgbClr val="243653"/>
                </a:solidFill>
                <a:effectLst/>
                <a:uLnTx/>
                <a:uFillTx/>
                <a:latin typeface="Arial"/>
                <a:ea typeface="Arial"/>
                <a:cs typeface="Arial"/>
                <a:sym typeface="Arial"/>
              </a:rPr>
              <a:t>部門</a:t>
            </a:r>
          </a:p>
        </p:txBody>
      </p:sp>
      <p:sp>
        <p:nvSpPr>
          <p:cNvPr id="2" name="正方形/長方形 1">
            <a:extLst>
              <a:ext uri="{FF2B5EF4-FFF2-40B4-BE49-F238E27FC236}">
                <a16:creationId xmlns:a16="http://schemas.microsoft.com/office/drawing/2014/main" id="{F98C7C76-B029-903F-255D-949C5789C771}"/>
              </a:ext>
            </a:extLst>
          </p:cNvPr>
          <p:cNvSpPr/>
          <p:nvPr/>
        </p:nvSpPr>
        <p:spPr>
          <a:xfrm>
            <a:off x="318338" y="702318"/>
            <a:ext cx="11688989" cy="5961063"/>
          </a:xfrm>
          <a:prstGeom prst="rect">
            <a:avLst/>
          </a:prstGeom>
          <a:noFill/>
          <a:ln w="38100">
            <a:solidFill>
              <a:srgbClr val="54C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18" name="グループ化 17">
            <a:extLst>
              <a:ext uri="{FF2B5EF4-FFF2-40B4-BE49-F238E27FC236}">
                <a16:creationId xmlns:a16="http://schemas.microsoft.com/office/drawing/2014/main" id="{6B1CDFB2-0D3C-E37E-CE2F-B99048F55556}"/>
              </a:ext>
            </a:extLst>
          </p:cNvPr>
          <p:cNvGrpSpPr/>
          <p:nvPr/>
        </p:nvGrpSpPr>
        <p:grpSpPr>
          <a:xfrm>
            <a:off x="1729532" y="1863549"/>
            <a:ext cx="2938466" cy="4591023"/>
            <a:chOff x="1316984" y="1768619"/>
            <a:chExt cx="1916529" cy="3326447"/>
          </a:xfrm>
        </p:grpSpPr>
        <p:sp>
          <p:nvSpPr>
            <p:cNvPr id="67" name="Google Shape;32;p1">
              <a:extLst>
                <a:ext uri="{FF2B5EF4-FFF2-40B4-BE49-F238E27FC236}">
                  <a16:creationId xmlns:a16="http://schemas.microsoft.com/office/drawing/2014/main" id="{A859EEA6-6C62-64ED-99DD-13519CA57211}"/>
                </a:ext>
              </a:extLst>
            </p:cNvPr>
            <p:cNvSpPr/>
            <p:nvPr/>
          </p:nvSpPr>
          <p:spPr>
            <a:xfrm>
              <a:off x="1444395" y="2274162"/>
              <a:ext cx="1671242" cy="1047948"/>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3" name="Google Shape;45;p1">
              <a:extLst>
                <a:ext uri="{FF2B5EF4-FFF2-40B4-BE49-F238E27FC236}">
                  <a16:creationId xmlns:a16="http://schemas.microsoft.com/office/drawing/2014/main" id="{52247313-3738-A3F2-2D93-3F19B8A6EEC7}"/>
                </a:ext>
              </a:extLst>
            </p:cNvPr>
            <p:cNvSpPr/>
            <p:nvPr/>
          </p:nvSpPr>
          <p:spPr>
            <a:xfrm>
              <a:off x="1502799" y="3432485"/>
              <a:ext cx="613770" cy="292141"/>
            </a:xfrm>
            <a:prstGeom prst="downArrow">
              <a:avLst>
                <a:gd name="adj1" fmla="val 50000"/>
                <a:gd name="adj2" fmla="val 50000"/>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75" name="Google Shape;66;p1" descr="建物, ウィンドウ, グリーン, オーブン が含まれている画像&#10;&#10;AI 生成コンテンツは間違っている可能性があります。">
              <a:extLst>
                <a:ext uri="{FF2B5EF4-FFF2-40B4-BE49-F238E27FC236}">
                  <a16:creationId xmlns:a16="http://schemas.microsoft.com/office/drawing/2014/main" id="{18B0C5CB-037A-93CF-D328-F8B45C4A8343}"/>
                </a:ext>
              </a:extLst>
            </p:cNvPr>
            <p:cNvPicPr preferRelativeResize="0"/>
            <p:nvPr/>
          </p:nvPicPr>
          <p:blipFill rotWithShape="1">
            <a:blip r:embed="rId3">
              <a:alphaModFix/>
            </a:blip>
            <a:srcRect/>
            <a:stretch/>
          </p:blipFill>
          <p:spPr>
            <a:xfrm>
              <a:off x="1502637" y="2349235"/>
              <a:ext cx="1549489" cy="928627"/>
            </a:xfrm>
            <a:prstGeom prst="rect">
              <a:avLst/>
            </a:prstGeom>
            <a:noFill/>
            <a:ln>
              <a:noFill/>
            </a:ln>
          </p:spPr>
        </p:pic>
        <p:pic>
          <p:nvPicPr>
            <p:cNvPr id="83" name="Google Shape;97;p1">
              <a:extLst>
                <a:ext uri="{FF2B5EF4-FFF2-40B4-BE49-F238E27FC236}">
                  <a16:creationId xmlns:a16="http://schemas.microsoft.com/office/drawing/2014/main" id="{1397CF5C-FEC2-50FB-954A-29CA53D2EB82}"/>
                </a:ext>
              </a:extLst>
            </p:cNvPr>
            <p:cNvPicPr preferRelativeResize="0"/>
            <p:nvPr/>
          </p:nvPicPr>
          <p:blipFill rotWithShape="1">
            <a:blip r:embed="rId4">
              <a:alphaModFix/>
            </a:blip>
            <a:srcRect/>
            <a:stretch/>
          </p:blipFill>
          <p:spPr>
            <a:xfrm>
              <a:off x="1520999" y="3802426"/>
              <a:ext cx="1524579" cy="1012639"/>
            </a:xfrm>
            <a:prstGeom prst="rect">
              <a:avLst/>
            </a:prstGeom>
            <a:noFill/>
            <a:ln>
              <a:noFill/>
            </a:ln>
          </p:spPr>
        </p:pic>
        <p:sp>
          <p:nvSpPr>
            <p:cNvPr id="85" name="角丸四角形 76">
              <a:extLst>
                <a:ext uri="{FF2B5EF4-FFF2-40B4-BE49-F238E27FC236}">
                  <a16:creationId xmlns:a16="http://schemas.microsoft.com/office/drawing/2014/main" id="{FE1A1C0F-16B4-21C5-9AE5-E767E50F2E81}"/>
                </a:ext>
              </a:extLst>
            </p:cNvPr>
            <p:cNvSpPr/>
            <p:nvPr/>
          </p:nvSpPr>
          <p:spPr>
            <a:xfrm>
              <a:off x="1316984" y="2204743"/>
              <a:ext cx="1916529" cy="2654118"/>
            </a:xfrm>
            <a:prstGeom prst="round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86" name="テキスト ボックス 85">
              <a:extLst>
                <a:ext uri="{FF2B5EF4-FFF2-40B4-BE49-F238E27FC236}">
                  <a16:creationId xmlns:a16="http://schemas.microsoft.com/office/drawing/2014/main" id="{445A24B3-45CB-315C-E605-5BB4C5FFEB30}"/>
                </a:ext>
              </a:extLst>
            </p:cNvPr>
            <p:cNvSpPr txBox="1"/>
            <p:nvPr/>
          </p:nvSpPr>
          <p:spPr>
            <a:xfrm>
              <a:off x="1475405" y="1768619"/>
              <a:ext cx="1609220" cy="379102"/>
            </a:xfrm>
            <a:prstGeom prst="rect">
              <a:avLst/>
            </a:prstGeom>
            <a:noFill/>
            <a:ln w="0">
              <a:solidFill>
                <a:schemeClr val="tx1"/>
              </a:solidFill>
              <a:prstDash val="solid"/>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0" i="0" u="none" strike="noStrike" kern="0" cap="none" spc="0" normalizeH="0" baseline="0" noProof="0">
                  <a:ln>
                    <a:noFill/>
                  </a:ln>
                  <a:solidFill>
                    <a:srgbClr val="000000"/>
                  </a:solidFill>
                  <a:effectLst/>
                  <a:uLnTx/>
                  <a:uFillTx/>
                  <a:latin typeface="ＭＳ Ｐゴシック"/>
                  <a:ea typeface="ＭＳ Ｐゴシック"/>
                  <a:cs typeface="Arial"/>
                  <a:sym typeface="Arial"/>
                </a:rPr>
                <a:t>3D</a:t>
              </a:r>
              <a:r>
                <a:rPr lang="en-US" altLang="ja-JP" err="1">
                  <a:latin typeface="ＭＳ Ｐゴシック"/>
                  <a:ea typeface="ＭＳ Ｐゴシック"/>
                </a:rPr>
                <a:t>化して</a:t>
              </a:r>
              <a:endParaRPr lang="ja-JP" altLang="en-US" sz="1400" b="0" i="0" u="none" strike="noStrike" kern="0" cap="none" spc="0" normalizeH="0" baseline="0" noProof="0">
                <a:ln>
                  <a:noFill/>
                </a:ln>
                <a:solidFill>
                  <a:srgbClr val="000000"/>
                </a:solidFill>
                <a:effectLst/>
                <a:uLnTx/>
                <a:uFillTx/>
                <a:latin typeface="ＭＳ Ｐゴシック" panose="020B0600070205080204" pitchFamily="50" charset="-128"/>
                <a:ea typeface="ＭＳ Ｐゴシック" panose="020B0600070205080204" pitchFamily="50" charset="-128"/>
                <a:cs typeface="Arial"/>
              </a:endParaRPr>
            </a:p>
            <a:p>
              <a:pPr algn="ctr">
                <a:defRPr/>
              </a:pPr>
              <a:r>
                <a:rPr lang="en-US" altLang="ja-JP" err="1">
                  <a:latin typeface="ＭＳ Ｐゴシック"/>
                  <a:ea typeface="ＭＳ Ｐゴシック"/>
                </a:rPr>
                <a:t>海中構造物の状態を判断する</a:t>
              </a:r>
              <a:endParaRPr lang="en-US" sz="1400" b="0" i="0" u="none" strike="noStrike" kern="0" cap="none" spc="0" normalizeH="0" baseline="0" noProof="0">
                <a:ln>
                  <a:noFill/>
                </a:ln>
                <a:solidFill>
                  <a:srgbClr val="000000"/>
                </a:solidFill>
                <a:effectLst/>
                <a:uLnTx/>
                <a:uFillTx/>
                <a:latin typeface="Arial"/>
                <a:ea typeface="+mn-ea"/>
                <a:cs typeface="Arial"/>
              </a:endParaRPr>
            </a:p>
          </p:txBody>
        </p:sp>
        <p:sp>
          <p:nvSpPr>
            <p:cNvPr id="88" name="テキスト ボックス 87">
              <a:extLst>
                <a:ext uri="{FF2B5EF4-FFF2-40B4-BE49-F238E27FC236}">
                  <a16:creationId xmlns:a16="http://schemas.microsoft.com/office/drawing/2014/main" id="{F4BA5063-401D-94B8-0D3A-61898ED5F419}"/>
                </a:ext>
              </a:extLst>
            </p:cNvPr>
            <p:cNvSpPr txBox="1"/>
            <p:nvPr/>
          </p:nvSpPr>
          <p:spPr>
            <a:xfrm>
              <a:off x="2274723" y="3473076"/>
              <a:ext cx="839756" cy="289902"/>
            </a:xfrm>
            <a:prstGeom prst="rect">
              <a:avLst/>
            </a:prstGeom>
            <a:noFill/>
            <a:ln w="0">
              <a:noFill/>
            </a:ln>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000" b="0" i="0" u="none" strike="noStrike" kern="0" cap="none" spc="0" normalizeH="0" baseline="0" noProof="0">
                  <a:ln>
                    <a:noFill/>
                  </a:ln>
                  <a:solidFill>
                    <a:srgbClr val="000000"/>
                  </a:solidFill>
                  <a:effectLst/>
                  <a:uLnTx/>
                  <a:uFillTx/>
                  <a:latin typeface="Yu Gothic"/>
                  <a:ea typeface="Yu Gothic"/>
                  <a:cs typeface="Arial"/>
                  <a:sym typeface="Arial"/>
                </a:rPr>
                <a:t>3D画像化</a:t>
              </a:r>
              <a:endParaRPr lang="ja-JP" altLang="en-US" sz="2000" b="0" i="0" u="none" strike="noStrike" kern="0" cap="none" spc="0" normalizeH="0" baseline="0" noProof="0">
                <a:ln>
                  <a:noFill/>
                </a:ln>
                <a:solidFill>
                  <a:srgbClr val="000000"/>
                </a:solidFill>
                <a:effectLst/>
                <a:uLnTx/>
                <a:uFillTx/>
                <a:latin typeface="Arial"/>
                <a:cs typeface="Arial"/>
              </a:endParaRPr>
            </a:p>
          </p:txBody>
        </p:sp>
        <p:sp>
          <p:nvSpPr>
            <p:cNvPr id="89" name="テキスト ボックス 88">
              <a:extLst>
                <a:ext uri="{FF2B5EF4-FFF2-40B4-BE49-F238E27FC236}">
                  <a16:creationId xmlns:a16="http://schemas.microsoft.com/office/drawing/2014/main" id="{AEA20D06-69E2-6051-A325-D28A7112E5F0}"/>
                </a:ext>
              </a:extLst>
            </p:cNvPr>
            <p:cNvSpPr txBox="1"/>
            <p:nvPr/>
          </p:nvSpPr>
          <p:spPr>
            <a:xfrm>
              <a:off x="1651512" y="4877708"/>
              <a:ext cx="1167466" cy="217358"/>
            </a:xfrm>
            <a:prstGeom prst="rect">
              <a:avLst/>
            </a:prstGeom>
            <a:noFill/>
            <a:ln w="0">
              <a:noFill/>
            </a:ln>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0" i="0" u="none" strike="noStrike" kern="0" cap="none" spc="0" normalizeH="0" baseline="0" noProof="0" err="1">
                  <a:ln>
                    <a:noFill/>
                  </a:ln>
                  <a:solidFill>
                    <a:srgbClr val="000000"/>
                  </a:solidFill>
                  <a:effectLst/>
                  <a:uLnTx/>
                  <a:uFillTx/>
                  <a:latin typeface="ＭＳ Ｐゴシック" panose="020B0600070205080204" pitchFamily="50" charset="-128"/>
                  <a:ea typeface="ＭＳ Ｐゴシック" panose="020B0600070205080204" pitchFamily="50" charset="-128"/>
                  <a:cs typeface="Arial"/>
                  <a:sym typeface="Arial"/>
                </a:rPr>
                <a:t>危険状況を判断＆回避</a:t>
              </a:r>
              <a:endParaRPr kumimoji="0" lang="en-US" altLang="ja-JP" sz="1400" b="0" i="0" u="none" strike="noStrike" kern="0" cap="none" spc="0" normalizeH="0" baseline="0" noProof="0">
                <a:ln>
                  <a:noFill/>
                </a:ln>
                <a:solidFill>
                  <a:srgbClr val="000000"/>
                </a:solidFill>
                <a:effectLst/>
                <a:uLnTx/>
                <a:uFillTx/>
                <a:latin typeface="ＭＳ Ｐゴシック" panose="020B0600070205080204" pitchFamily="50" charset="-128"/>
                <a:ea typeface="ＭＳ Ｐゴシック" panose="020B0600070205080204" pitchFamily="50" charset="-128"/>
                <a:cs typeface="Arial"/>
                <a:sym typeface="Arial"/>
              </a:endParaRPr>
            </a:p>
          </p:txBody>
        </p:sp>
      </p:grpSp>
      <p:sp>
        <p:nvSpPr>
          <p:cNvPr id="6" name="角丸四角形 76">
            <a:extLst>
              <a:ext uri="{FF2B5EF4-FFF2-40B4-BE49-F238E27FC236}">
                <a16:creationId xmlns:a16="http://schemas.microsoft.com/office/drawing/2014/main" id="{A45F707C-FC59-F926-2FA0-19785408FEF3}"/>
              </a:ext>
            </a:extLst>
          </p:cNvPr>
          <p:cNvSpPr/>
          <p:nvPr/>
        </p:nvSpPr>
        <p:spPr>
          <a:xfrm>
            <a:off x="5174117" y="3302529"/>
            <a:ext cx="1493960" cy="270042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1" name="正方形/長方形 2">
            <a:extLst>
              <a:ext uri="{FF2B5EF4-FFF2-40B4-BE49-F238E27FC236}">
                <a16:creationId xmlns:a16="http://schemas.microsoft.com/office/drawing/2014/main" id="{3F4D24AC-F124-C455-DBDC-1F70310FA1EE}"/>
              </a:ext>
            </a:extLst>
          </p:cNvPr>
          <p:cNvSpPr/>
          <p:nvPr/>
        </p:nvSpPr>
        <p:spPr>
          <a:xfrm>
            <a:off x="6792835" y="4477870"/>
            <a:ext cx="467145" cy="1590034"/>
          </a:xfrm>
          <a:prstGeom prst="rect">
            <a:avLst/>
          </a:prstGeom>
          <a:solidFill>
            <a:schemeClr val="bg1">
              <a:lumMod val="6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ysClr val="windowText" lastClr="000000"/>
                </a:solidFill>
                <a:effectLst/>
                <a:uLnTx/>
                <a:uFillTx/>
                <a:latin typeface="Yu Gothic" panose="020B0400000000000000" pitchFamily="34" charset="-128"/>
                <a:ea typeface="Yu Gothic" panose="020B0400000000000000" pitchFamily="34" charset="-128"/>
                <a:cs typeface="+mn-cs"/>
                <a:sym typeface="Arial"/>
              </a:rPr>
              <a:t>沿岸</a:t>
            </a:r>
          </a:p>
        </p:txBody>
      </p:sp>
      <p:sp>
        <p:nvSpPr>
          <p:cNvPr id="16" name="正方形/長方形 4">
            <a:extLst>
              <a:ext uri="{FF2B5EF4-FFF2-40B4-BE49-F238E27FC236}">
                <a16:creationId xmlns:a16="http://schemas.microsoft.com/office/drawing/2014/main" id="{AE7FC226-A527-A663-2A4F-CAD5DDDF45A6}"/>
              </a:ext>
            </a:extLst>
          </p:cNvPr>
          <p:cNvSpPr/>
          <p:nvPr/>
        </p:nvSpPr>
        <p:spPr>
          <a:xfrm>
            <a:off x="7259980" y="4586888"/>
            <a:ext cx="3568740" cy="1253530"/>
          </a:xfrm>
          <a:prstGeom prst="rect">
            <a:avLst/>
          </a:prstGeom>
          <a:solidFill>
            <a:schemeClr val="bg2">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26" name="グループ化 8">
            <a:extLst>
              <a:ext uri="{FF2B5EF4-FFF2-40B4-BE49-F238E27FC236}">
                <a16:creationId xmlns:a16="http://schemas.microsoft.com/office/drawing/2014/main" id="{D4E7F75C-6227-26C9-FC15-E388BE25F145}"/>
              </a:ext>
            </a:extLst>
          </p:cNvPr>
          <p:cNvGrpSpPr/>
          <p:nvPr/>
        </p:nvGrpSpPr>
        <p:grpSpPr>
          <a:xfrm rot="1688381">
            <a:off x="9601872" y="5271074"/>
            <a:ext cx="1161535" cy="568413"/>
            <a:chOff x="5535827" y="4250724"/>
            <a:chExt cx="1161535" cy="568413"/>
          </a:xfrm>
          <a:solidFill>
            <a:schemeClr val="accent6">
              <a:lumMod val="60000"/>
              <a:lumOff val="40000"/>
            </a:schemeClr>
          </a:solidFill>
        </p:grpSpPr>
        <p:sp>
          <p:nvSpPr>
            <p:cNvPr id="22" name="正方形/長方形 6">
              <a:extLst>
                <a:ext uri="{FF2B5EF4-FFF2-40B4-BE49-F238E27FC236}">
                  <a16:creationId xmlns:a16="http://schemas.microsoft.com/office/drawing/2014/main" id="{06950846-0426-C8CC-60AC-A286AEB0FD40}"/>
                </a:ext>
              </a:extLst>
            </p:cNvPr>
            <p:cNvSpPr/>
            <p:nvPr/>
          </p:nvSpPr>
          <p:spPr>
            <a:xfrm>
              <a:off x="5535827" y="4473147"/>
              <a:ext cx="1161535" cy="345990"/>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24" name="正方形/長方形 7">
              <a:extLst>
                <a:ext uri="{FF2B5EF4-FFF2-40B4-BE49-F238E27FC236}">
                  <a16:creationId xmlns:a16="http://schemas.microsoft.com/office/drawing/2014/main" id="{474D9FD5-EA16-58D1-0027-26E0FC6930C8}"/>
                </a:ext>
              </a:extLst>
            </p:cNvPr>
            <p:cNvSpPr/>
            <p:nvPr/>
          </p:nvSpPr>
          <p:spPr>
            <a:xfrm>
              <a:off x="5980670" y="4250724"/>
              <a:ext cx="494271" cy="22242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30" name="テキスト ボックス 9">
            <a:extLst>
              <a:ext uri="{FF2B5EF4-FFF2-40B4-BE49-F238E27FC236}">
                <a16:creationId xmlns:a16="http://schemas.microsoft.com/office/drawing/2014/main" id="{B4AA6FA4-7F14-B499-97D2-61DABE27A9E0}"/>
              </a:ext>
            </a:extLst>
          </p:cNvPr>
          <p:cNvSpPr txBox="1"/>
          <p:nvPr/>
        </p:nvSpPr>
        <p:spPr>
          <a:xfrm>
            <a:off x="9846313" y="4986352"/>
            <a:ext cx="723275"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沈没船</a:t>
            </a:r>
          </a:p>
        </p:txBody>
      </p:sp>
      <p:sp>
        <p:nvSpPr>
          <p:cNvPr id="34" name="星 7 12">
            <a:extLst>
              <a:ext uri="{FF2B5EF4-FFF2-40B4-BE49-F238E27FC236}">
                <a16:creationId xmlns:a16="http://schemas.microsoft.com/office/drawing/2014/main" id="{E0B8931F-7B58-52F4-98BE-492BF735F120}"/>
              </a:ext>
            </a:extLst>
          </p:cNvPr>
          <p:cNvSpPr/>
          <p:nvPr/>
        </p:nvSpPr>
        <p:spPr>
          <a:xfrm rot="1033578">
            <a:off x="9240561" y="5516764"/>
            <a:ext cx="543698" cy="429243"/>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円/楕円 14">
            <a:extLst>
              <a:ext uri="{FF2B5EF4-FFF2-40B4-BE49-F238E27FC236}">
                <a16:creationId xmlns:a16="http://schemas.microsoft.com/office/drawing/2014/main" id="{BB1471D9-08DC-DE01-2150-2AAAE608C5F7}"/>
              </a:ext>
            </a:extLst>
          </p:cNvPr>
          <p:cNvSpPr/>
          <p:nvPr/>
        </p:nvSpPr>
        <p:spPr>
          <a:xfrm>
            <a:off x="10301626" y="5406800"/>
            <a:ext cx="121008" cy="12311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5" name="円/楕円 23">
            <a:extLst>
              <a:ext uri="{FF2B5EF4-FFF2-40B4-BE49-F238E27FC236}">
                <a16:creationId xmlns:a16="http://schemas.microsoft.com/office/drawing/2014/main" id="{9374DA3D-C00C-5625-D873-D03D86B615BD}"/>
              </a:ext>
            </a:extLst>
          </p:cNvPr>
          <p:cNvSpPr/>
          <p:nvPr/>
        </p:nvSpPr>
        <p:spPr>
          <a:xfrm rot="1136490">
            <a:off x="8399840" y="4797924"/>
            <a:ext cx="666390" cy="275542"/>
          </a:xfrm>
          <a:prstGeom prst="ellipse">
            <a:avLst/>
          </a:prstGeom>
          <a:solidFill>
            <a:schemeClr val="bg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9" name="角丸四角形 24">
            <a:extLst>
              <a:ext uri="{FF2B5EF4-FFF2-40B4-BE49-F238E27FC236}">
                <a16:creationId xmlns:a16="http://schemas.microsoft.com/office/drawing/2014/main" id="{998CBD57-AEA8-7E74-0D07-4FFA6751C8F7}"/>
              </a:ext>
            </a:extLst>
          </p:cNvPr>
          <p:cNvSpPr/>
          <p:nvPr/>
        </p:nvSpPr>
        <p:spPr>
          <a:xfrm rot="1224863">
            <a:off x="8502652" y="5065256"/>
            <a:ext cx="329459" cy="93887"/>
          </a:xfrm>
          <a:prstGeom prst="roundRect">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53" name="グラフィックス 39" descr="Wi-Fi 枠線">
            <a:extLst>
              <a:ext uri="{FF2B5EF4-FFF2-40B4-BE49-F238E27FC236}">
                <a16:creationId xmlns:a16="http://schemas.microsoft.com/office/drawing/2014/main" id="{29C8C3D6-D79F-2672-946B-0E7C4E1CD7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6893642">
            <a:off x="8617355" y="4813214"/>
            <a:ext cx="980182" cy="980182"/>
          </a:xfrm>
          <a:prstGeom prst="rect">
            <a:avLst/>
          </a:prstGeom>
        </p:spPr>
      </p:pic>
      <p:pic>
        <p:nvPicPr>
          <p:cNvPr id="57" name="グラフィックス 41" descr="ユーザー 単色塗りつぶし">
            <a:extLst>
              <a:ext uri="{FF2B5EF4-FFF2-40B4-BE49-F238E27FC236}">
                <a16:creationId xmlns:a16="http://schemas.microsoft.com/office/drawing/2014/main" id="{A2C0E8B1-127A-90BC-E877-D970270A294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3436" y="3828867"/>
            <a:ext cx="705941" cy="705941"/>
          </a:xfrm>
          <a:prstGeom prst="rect">
            <a:avLst/>
          </a:prstGeom>
        </p:spPr>
      </p:pic>
      <p:cxnSp>
        <p:nvCxnSpPr>
          <p:cNvPr id="61" name="曲線コネクタ 48">
            <a:extLst>
              <a:ext uri="{FF2B5EF4-FFF2-40B4-BE49-F238E27FC236}">
                <a16:creationId xmlns:a16="http://schemas.microsoft.com/office/drawing/2014/main" id="{2FCA7CC0-57A4-A4E6-44D4-7575D7460765}"/>
              </a:ext>
            </a:extLst>
          </p:cNvPr>
          <p:cNvCxnSpPr>
            <a:cxnSpLocks/>
          </p:cNvCxnSpPr>
          <p:nvPr/>
        </p:nvCxnSpPr>
        <p:spPr>
          <a:xfrm rot="16200000" flipH="1">
            <a:off x="8128741" y="4538398"/>
            <a:ext cx="302942" cy="275340"/>
          </a:xfrm>
          <a:prstGeom prst="curvedConnector2">
            <a:avLst/>
          </a:prstGeom>
          <a:ln w="44450"/>
        </p:spPr>
        <p:style>
          <a:lnRef idx="1">
            <a:schemeClr val="accent1"/>
          </a:lnRef>
          <a:fillRef idx="0">
            <a:schemeClr val="accent1"/>
          </a:fillRef>
          <a:effectRef idx="0">
            <a:schemeClr val="accent1"/>
          </a:effectRef>
          <a:fontRef idx="minor">
            <a:schemeClr val="tx1"/>
          </a:fontRef>
        </p:style>
      </p:cxnSp>
      <p:pic>
        <p:nvPicPr>
          <p:cNvPr id="65" name="グラフィックス 54" descr="雲 枠線">
            <a:extLst>
              <a:ext uri="{FF2B5EF4-FFF2-40B4-BE49-F238E27FC236}">
                <a16:creationId xmlns:a16="http://schemas.microsoft.com/office/drawing/2014/main" id="{3854ACC0-7348-9E7D-D816-7CB4A462115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4614" y="2840354"/>
            <a:ext cx="1446845" cy="1329614"/>
          </a:xfrm>
          <a:prstGeom prst="rect">
            <a:avLst/>
          </a:prstGeom>
        </p:spPr>
      </p:pic>
      <p:sp>
        <p:nvSpPr>
          <p:cNvPr id="68" name="テキスト ボックス 55">
            <a:extLst>
              <a:ext uri="{FF2B5EF4-FFF2-40B4-BE49-F238E27FC236}">
                <a16:creationId xmlns:a16="http://schemas.microsoft.com/office/drawing/2014/main" id="{3FB2BFE5-EA29-6BB5-FF58-657490DC3315}"/>
              </a:ext>
            </a:extLst>
          </p:cNvPr>
          <p:cNvSpPr txBox="1"/>
          <p:nvPr/>
        </p:nvSpPr>
        <p:spPr>
          <a:xfrm>
            <a:off x="8291000" y="3462869"/>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クラウド</a:t>
            </a:r>
          </a:p>
        </p:txBody>
      </p:sp>
      <p:grpSp>
        <p:nvGrpSpPr>
          <p:cNvPr id="74" name="グループ化 62">
            <a:extLst>
              <a:ext uri="{FF2B5EF4-FFF2-40B4-BE49-F238E27FC236}">
                <a16:creationId xmlns:a16="http://schemas.microsoft.com/office/drawing/2014/main" id="{C3036E82-8CC4-16C2-863D-A0CE2F6089D4}"/>
              </a:ext>
            </a:extLst>
          </p:cNvPr>
          <p:cNvGrpSpPr/>
          <p:nvPr/>
        </p:nvGrpSpPr>
        <p:grpSpPr>
          <a:xfrm>
            <a:off x="7831487" y="4298947"/>
            <a:ext cx="622109" cy="325632"/>
            <a:chOff x="7498001" y="3931921"/>
            <a:chExt cx="636818" cy="473825"/>
          </a:xfrm>
        </p:grpSpPr>
        <p:sp>
          <p:nvSpPr>
            <p:cNvPr id="70" name="角丸四角形 56">
              <a:extLst>
                <a:ext uri="{FF2B5EF4-FFF2-40B4-BE49-F238E27FC236}">
                  <a16:creationId xmlns:a16="http://schemas.microsoft.com/office/drawing/2014/main" id="{AEEB8277-3A0A-9D7B-30E5-9D78B1648133}"/>
                </a:ext>
              </a:extLst>
            </p:cNvPr>
            <p:cNvSpPr/>
            <p:nvPr/>
          </p:nvSpPr>
          <p:spPr>
            <a:xfrm>
              <a:off x="7498001" y="3978560"/>
              <a:ext cx="636818" cy="381430"/>
            </a:xfrm>
            <a:prstGeom prst="roundRect">
              <a:avLst/>
            </a:prstGeom>
            <a:solidFill>
              <a:schemeClr val="tx1">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71" name="正方形/長方形 57">
              <a:extLst>
                <a:ext uri="{FF2B5EF4-FFF2-40B4-BE49-F238E27FC236}">
                  <a16:creationId xmlns:a16="http://schemas.microsoft.com/office/drawing/2014/main" id="{D13A136D-A73E-F0F0-E957-FC27E56EA81A}"/>
                </a:ext>
              </a:extLst>
            </p:cNvPr>
            <p:cNvSpPr/>
            <p:nvPr/>
          </p:nvSpPr>
          <p:spPr>
            <a:xfrm>
              <a:off x="7642703" y="3931921"/>
              <a:ext cx="49004" cy="473825"/>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72" name="正方形/長方形 59">
              <a:extLst>
                <a:ext uri="{FF2B5EF4-FFF2-40B4-BE49-F238E27FC236}">
                  <a16:creationId xmlns:a16="http://schemas.microsoft.com/office/drawing/2014/main" id="{DDA56768-6EF9-0483-1A3C-234D5F90926D}"/>
                </a:ext>
              </a:extLst>
            </p:cNvPr>
            <p:cNvSpPr/>
            <p:nvPr/>
          </p:nvSpPr>
          <p:spPr>
            <a:xfrm>
              <a:off x="7934583" y="3931922"/>
              <a:ext cx="49088" cy="47382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77" name="テキスト ボックス 65">
            <a:extLst>
              <a:ext uri="{FF2B5EF4-FFF2-40B4-BE49-F238E27FC236}">
                <a16:creationId xmlns:a16="http://schemas.microsoft.com/office/drawing/2014/main" id="{8A44B966-13CA-3156-18D1-353BF6A1B6BF}"/>
              </a:ext>
            </a:extLst>
          </p:cNvPr>
          <p:cNvSpPr txBox="1"/>
          <p:nvPr/>
        </p:nvSpPr>
        <p:spPr>
          <a:xfrm>
            <a:off x="7524018" y="4815910"/>
            <a:ext cx="1031051" cy="261610"/>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水中ドローン</a:t>
            </a:r>
          </a:p>
        </p:txBody>
      </p:sp>
      <p:sp>
        <p:nvSpPr>
          <p:cNvPr id="79" name="テキスト ボックス 67">
            <a:extLst>
              <a:ext uri="{FF2B5EF4-FFF2-40B4-BE49-F238E27FC236}">
                <a16:creationId xmlns:a16="http://schemas.microsoft.com/office/drawing/2014/main" id="{A0EBFC4F-F6C4-D9D3-9E94-855070FDC895}"/>
              </a:ext>
            </a:extLst>
          </p:cNvPr>
          <p:cNvSpPr txBox="1"/>
          <p:nvPr/>
        </p:nvSpPr>
        <p:spPr>
          <a:xfrm>
            <a:off x="7590861" y="5174201"/>
            <a:ext cx="1241428" cy="253916"/>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金属探知センサ</a:t>
            </a:r>
          </a:p>
        </p:txBody>
      </p:sp>
      <p:cxnSp>
        <p:nvCxnSpPr>
          <p:cNvPr id="81" name="直線矢印コネクタ 69">
            <a:extLst>
              <a:ext uri="{FF2B5EF4-FFF2-40B4-BE49-F238E27FC236}">
                <a16:creationId xmlns:a16="http://schemas.microsoft.com/office/drawing/2014/main" id="{0E9EC7FA-63B5-E283-031B-AD8FC5E20538}"/>
              </a:ext>
            </a:extLst>
          </p:cNvPr>
          <p:cNvCxnSpPr>
            <a:cxnSpLocks/>
          </p:cNvCxnSpPr>
          <p:nvPr/>
        </p:nvCxnSpPr>
        <p:spPr>
          <a:xfrm flipV="1">
            <a:off x="8313383" y="3873005"/>
            <a:ext cx="408609" cy="423856"/>
          </a:xfrm>
          <a:prstGeom prst="straightConnector1">
            <a:avLst/>
          </a:prstGeom>
          <a:ln w="63500" cmpd="sng">
            <a:gradFill flip="none" rotWithShape="1">
              <a:gsLst>
                <a:gs pos="0">
                  <a:srgbClr val="FF0000"/>
                </a:gs>
                <a:gs pos="48000">
                  <a:schemeClr val="accent2">
                    <a:lumMod val="97000"/>
                    <a:lumOff val="3000"/>
                  </a:schemeClr>
                </a:gs>
                <a:gs pos="100000">
                  <a:schemeClr val="accent2">
                    <a:lumMod val="60000"/>
                    <a:lumOff val="40000"/>
                  </a:schemeClr>
                </a:gs>
              </a:gsLst>
              <a:lin ang="16200000" scaled="1"/>
              <a:tileRect/>
            </a:gra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84" name="テキスト ボックス 71">
            <a:extLst>
              <a:ext uri="{FF2B5EF4-FFF2-40B4-BE49-F238E27FC236}">
                <a16:creationId xmlns:a16="http://schemas.microsoft.com/office/drawing/2014/main" id="{5F287601-D51B-51BB-549A-336F88EE559B}"/>
              </a:ext>
            </a:extLst>
          </p:cNvPr>
          <p:cNvSpPr txBox="1"/>
          <p:nvPr/>
        </p:nvSpPr>
        <p:spPr>
          <a:xfrm>
            <a:off x="8737979" y="3987064"/>
            <a:ext cx="2340826"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位置情報、センサのデータ</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0" i="0" u="none" strike="noStrike" kern="0" cap="none" spc="0" normalizeH="0" baseline="0" noProof="0">
                <a:ln>
                  <a:noFill/>
                </a:ln>
                <a:solidFill>
                  <a:srgbClr val="000000"/>
                </a:solidFill>
                <a:effectLst/>
                <a:uLnTx/>
                <a:uFillTx/>
                <a:latin typeface="Arial"/>
                <a:cs typeface="Arial"/>
                <a:sym typeface="Arial"/>
              </a:rPr>
              <a:t>5G回線</a:t>
            </a:r>
          </a:p>
        </p:txBody>
      </p:sp>
      <p:pic>
        <p:nvPicPr>
          <p:cNvPr id="91" name="グラフィックス 73" descr="コンピューター 枠線">
            <a:extLst>
              <a:ext uri="{FF2B5EF4-FFF2-40B4-BE49-F238E27FC236}">
                <a16:creationId xmlns:a16="http://schemas.microsoft.com/office/drawing/2014/main" id="{33209B6E-FDAB-5644-087E-09708E27F15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79064" y="4996359"/>
            <a:ext cx="914400" cy="914400"/>
          </a:xfrm>
          <a:prstGeom prst="rect">
            <a:avLst/>
          </a:prstGeom>
        </p:spPr>
      </p:pic>
      <p:pic>
        <p:nvPicPr>
          <p:cNvPr id="93" name="グラフィックス 75" descr="ピン止めした地図 枠線">
            <a:extLst>
              <a:ext uri="{FF2B5EF4-FFF2-40B4-BE49-F238E27FC236}">
                <a16:creationId xmlns:a16="http://schemas.microsoft.com/office/drawing/2014/main" id="{552CE45A-6289-9C27-A6A7-B2D5DB3C18B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76904" y="4198027"/>
            <a:ext cx="914400" cy="914400"/>
          </a:xfrm>
          <a:prstGeom prst="rect">
            <a:avLst/>
          </a:prstGeom>
        </p:spPr>
      </p:pic>
      <p:sp>
        <p:nvSpPr>
          <p:cNvPr id="95" name="テキスト ボックス 85">
            <a:extLst>
              <a:ext uri="{FF2B5EF4-FFF2-40B4-BE49-F238E27FC236}">
                <a16:creationId xmlns:a16="http://schemas.microsoft.com/office/drawing/2014/main" id="{6CABCB12-9EA5-EDC0-10F3-8E3D9F0F7225}"/>
              </a:ext>
            </a:extLst>
          </p:cNvPr>
          <p:cNvSpPr txBox="1"/>
          <p:nvPr/>
        </p:nvSpPr>
        <p:spPr>
          <a:xfrm>
            <a:off x="5361310" y="3528288"/>
            <a:ext cx="1149674" cy="738664"/>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QGIS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と連動</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マッピング</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97" name="テキスト ボックス 87">
            <a:extLst>
              <a:ext uri="{FF2B5EF4-FFF2-40B4-BE49-F238E27FC236}">
                <a16:creationId xmlns:a16="http://schemas.microsoft.com/office/drawing/2014/main" id="{572D35A4-075A-5D78-1A48-E275C7BEC063}"/>
              </a:ext>
            </a:extLst>
          </p:cNvPr>
          <p:cNvSpPr txBox="1"/>
          <p:nvPr/>
        </p:nvSpPr>
        <p:spPr>
          <a:xfrm>
            <a:off x="6738725" y="3728993"/>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ドローン操縦者</a:t>
            </a:r>
          </a:p>
        </p:txBody>
      </p:sp>
      <p:sp>
        <p:nvSpPr>
          <p:cNvPr id="99" name="テキスト ボックス 88">
            <a:extLst>
              <a:ext uri="{FF2B5EF4-FFF2-40B4-BE49-F238E27FC236}">
                <a16:creationId xmlns:a16="http://schemas.microsoft.com/office/drawing/2014/main" id="{EB83720A-D4F4-27B0-BB6E-208B107F05B7}"/>
              </a:ext>
            </a:extLst>
          </p:cNvPr>
          <p:cNvSpPr txBox="1"/>
          <p:nvPr/>
        </p:nvSpPr>
        <p:spPr>
          <a:xfrm>
            <a:off x="7539159" y="4098207"/>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ペリカンケース</a:t>
            </a:r>
          </a:p>
        </p:txBody>
      </p:sp>
      <p:cxnSp>
        <p:nvCxnSpPr>
          <p:cNvPr id="101" name="直線矢印コネクタ 77">
            <a:extLst>
              <a:ext uri="{FF2B5EF4-FFF2-40B4-BE49-F238E27FC236}">
                <a16:creationId xmlns:a16="http://schemas.microsoft.com/office/drawing/2014/main" id="{B4E24675-195C-BBA8-8DC6-A514F4A396D2}"/>
              </a:ext>
            </a:extLst>
          </p:cNvPr>
          <p:cNvCxnSpPr>
            <a:cxnSpLocks/>
          </p:cNvCxnSpPr>
          <p:nvPr/>
        </p:nvCxnSpPr>
        <p:spPr>
          <a:xfrm flipH="1">
            <a:off x="6702743" y="3542432"/>
            <a:ext cx="1320148" cy="14654"/>
          </a:xfrm>
          <a:prstGeom prst="straightConnector1">
            <a:avLst/>
          </a:prstGeom>
          <a:ln w="63500" cmpd="sng">
            <a:solidFill>
              <a:srgbClr val="FF0000"/>
            </a:soli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106" name="テキスト ボックス 15">
            <a:extLst>
              <a:ext uri="{FF2B5EF4-FFF2-40B4-BE49-F238E27FC236}">
                <a16:creationId xmlns:a16="http://schemas.microsoft.com/office/drawing/2014/main" id="{F86217A1-3618-2A29-6C36-26A35DD3E40A}"/>
              </a:ext>
            </a:extLst>
          </p:cNvPr>
          <p:cNvSpPr txBox="1"/>
          <p:nvPr/>
        </p:nvSpPr>
        <p:spPr>
          <a:xfrm>
            <a:off x="525175" y="1024579"/>
            <a:ext cx="7357791" cy="707886"/>
          </a:xfrm>
          <a:prstGeom prst="rect">
            <a:avLst/>
          </a:prstGeom>
          <a:noFill/>
          <a:ln w="25400">
            <a:solidFill>
              <a:schemeClr val="bg2">
                <a:lumMod val="60000"/>
                <a:lumOff val="40000"/>
              </a:schemeClr>
            </a:solidFill>
          </a:ln>
        </p:spPr>
        <p:txBody>
          <a:bodyPr wrap="square" lIns="91440" tIns="45720" rIns="91440" bIns="45720" rtlCol="0" anchor="t">
            <a:spAutoFit/>
          </a:bodyPr>
          <a:lstStyle/>
          <a:p>
            <a:pPr>
              <a:defRPr/>
            </a:pPr>
            <a:r>
              <a:rPr kumimoji="1" lang="ja-JP" altLang="en-US" sz="2000" b="0" i="0" strike="noStrike" kern="0" cap="none" spc="0" normalizeH="0" baseline="0" noProof="0">
                <a:ln>
                  <a:noFill/>
                </a:ln>
                <a:solidFill>
                  <a:srgbClr val="4F81BD"/>
                </a:solidFill>
                <a:effectLst/>
                <a:uLnTx/>
                <a:uFillTx/>
                <a:latin typeface="Arial"/>
                <a:cs typeface="Arial"/>
                <a:sym typeface="Arial"/>
              </a:rPr>
              <a:t>海中</a:t>
            </a:r>
            <a:r>
              <a:rPr kumimoji="1" lang="ja-JP" altLang="en-US" sz="2000">
                <a:solidFill>
                  <a:srgbClr val="4F81BD"/>
                </a:solidFill>
              </a:rPr>
              <a:t>構造物の３Dモデルを作成して、海中構造物の形状を判断</a:t>
            </a:r>
            <a:br>
              <a:rPr kumimoji="1" lang="ja-JP" altLang="en-US" sz="2000">
                <a:solidFill>
                  <a:srgbClr val="4F81BD"/>
                </a:solidFill>
              </a:rPr>
            </a:br>
            <a:r>
              <a:rPr kumimoji="1" lang="ja-JP" altLang="en-US" sz="2000">
                <a:solidFill>
                  <a:srgbClr val="4F81BD"/>
                </a:solidFill>
              </a:rPr>
              <a:t>危険箇所の確認、引き上げ方法等を検討</a:t>
            </a:r>
            <a:endParaRPr lang="ja-JP" altLang="en-US" sz="2000">
              <a:solidFill>
                <a:srgbClr val="4F81BD"/>
              </a:solidFill>
            </a:endParaRPr>
          </a:p>
        </p:txBody>
      </p:sp>
      <p:cxnSp>
        <p:nvCxnSpPr>
          <p:cNvPr id="4" name="直線矢印コネクタ 77">
            <a:extLst>
              <a:ext uri="{FF2B5EF4-FFF2-40B4-BE49-F238E27FC236}">
                <a16:creationId xmlns:a16="http://schemas.microsoft.com/office/drawing/2014/main" id="{F0ADB960-6236-BDE4-5AEA-000866ED26DF}"/>
              </a:ext>
            </a:extLst>
          </p:cNvPr>
          <p:cNvCxnSpPr>
            <a:cxnSpLocks/>
          </p:cNvCxnSpPr>
          <p:nvPr/>
        </p:nvCxnSpPr>
        <p:spPr>
          <a:xfrm flipH="1">
            <a:off x="3754803" y="3542432"/>
            <a:ext cx="1320148" cy="14654"/>
          </a:xfrm>
          <a:prstGeom prst="straightConnector1">
            <a:avLst/>
          </a:prstGeom>
          <a:ln w="63500" cmpd="sng">
            <a:solidFill>
              <a:srgbClr val="FF0000"/>
            </a:soli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64C4BA06-1EC6-3999-2980-7CE4F5EF15A0}"/>
              </a:ext>
            </a:extLst>
          </p:cNvPr>
          <p:cNvSpPr txBox="1"/>
          <p:nvPr/>
        </p:nvSpPr>
        <p:spPr>
          <a:xfrm>
            <a:off x="8221142" y="1127875"/>
            <a:ext cx="2988314" cy="523220"/>
          </a:xfrm>
          <a:prstGeom prst="rect">
            <a:avLst/>
          </a:prstGeom>
          <a:solidFill>
            <a:schemeClr val="bg2">
              <a:lumMod val="20000"/>
              <a:lumOff val="80000"/>
            </a:schemeClr>
          </a:solidFill>
          <a:ln w="0">
            <a:solidFill>
              <a:schemeClr val="tx1"/>
            </a:solidFill>
            <a:prstDash val="solid"/>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a:ln>
                  <a:noFill/>
                </a:ln>
                <a:solidFill>
                  <a:srgbClr val="000000"/>
                </a:solidFill>
                <a:effectLst/>
                <a:uLnTx/>
                <a:uFillTx/>
                <a:latin typeface="ＭＳ Ｐゴシック"/>
                <a:ea typeface="ＭＳ Ｐゴシック"/>
                <a:cs typeface="Arial"/>
                <a:sym typeface="Arial"/>
              </a:rPr>
              <a:t>佐世保高専担当</a:t>
            </a:r>
            <a:endParaRPr lang="en-US" sz="2800" b="0" i="0" u="none" strike="noStrike" kern="0" cap="none" spc="0" normalizeH="0" baseline="0" noProof="0">
              <a:ln>
                <a:noFill/>
              </a:ln>
              <a:solidFill>
                <a:srgbClr val="000000"/>
              </a:solidFill>
              <a:effectLst/>
              <a:uLnTx/>
              <a:uFillTx/>
              <a:latin typeface="Arial"/>
              <a:ea typeface="+mn-ea"/>
              <a:cs typeface="Arial"/>
            </a:endParaRPr>
          </a:p>
        </p:txBody>
      </p:sp>
      <p:sp>
        <p:nvSpPr>
          <p:cNvPr id="7" name="正方形/長方形 6">
            <a:extLst>
              <a:ext uri="{FF2B5EF4-FFF2-40B4-BE49-F238E27FC236}">
                <a16:creationId xmlns:a16="http://schemas.microsoft.com/office/drawing/2014/main" id="{7357BBCA-2B5D-8825-467B-81345DD54BDF}"/>
              </a:ext>
            </a:extLst>
          </p:cNvPr>
          <p:cNvSpPr/>
          <p:nvPr/>
        </p:nvSpPr>
        <p:spPr>
          <a:xfrm>
            <a:off x="7259660" y="5839346"/>
            <a:ext cx="3568740" cy="227486"/>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ysClr val="windowText" lastClr="000000"/>
              </a:solidFill>
              <a:effectLst/>
              <a:uLnTx/>
              <a:uFillTx/>
              <a:latin typeface="Arial"/>
              <a:ea typeface="ＭＳ Ｐゴシック" panose="020B0600070205080204" pitchFamily="50" charset="-128"/>
              <a:cs typeface="+mn-cs"/>
              <a:sym typeface="Arial"/>
            </a:endParaRPr>
          </a:p>
        </p:txBody>
      </p:sp>
      <p:sp>
        <p:nvSpPr>
          <p:cNvPr id="9" name="Freeform 32">
            <a:extLst>
              <a:ext uri="{FF2B5EF4-FFF2-40B4-BE49-F238E27FC236}">
                <a16:creationId xmlns:a16="http://schemas.microsoft.com/office/drawing/2014/main" id="{77263F9F-2797-49DC-FCC7-DDD85A07D709}"/>
              </a:ext>
            </a:extLst>
          </p:cNvPr>
          <p:cNvSpPr/>
          <p:nvPr/>
        </p:nvSpPr>
        <p:spPr>
          <a:xfrm rot="1860000">
            <a:off x="8691137" y="4765568"/>
            <a:ext cx="452841" cy="206128"/>
          </a:xfrm>
          <a:custGeom>
            <a:avLst/>
            <a:gdLst/>
            <a:ahLst/>
            <a:cxnLst/>
            <a:rect l="l" t="t" r="r" b="b"/>
            <a:pathLst>
              <a:path w="1005330" h="623304">
                <a:moveTo>
                  <a:pt x="0" y="0"/>
                </a:moveTo>
                <a:lnTo>
                  <a:pt x="1005329" y="0"/>
                </a:lnTo>
                <a:lnTo>
                  <a:pt x="1005329" y="623304"/>
                </a:lnTo>
                <a:lnTo>
                  <a:pt x="0" y="62330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p:nvPr/>
        </p:nvSpPr>
        <p:spPr>
          <a:xfrm>
            <a:off x="1063907" y="668867"/>
            <a:ext cx="9394274" cy="457304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第１章　今回取り組む地域課題</a:t>
            </a:r>
            <a:endParaRPr kumimoji="0" sz="20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1477"/>
              </a:spcBef>
              <a:spcAft>
                <a:spcPts val="0"/>
              </a:spcAft>
              <a:buClr>
                <a:srgbClr val="000000"/>
              </a:buClr>
              <a:buSzTx/>
              <a:buFont typeface="Arial"/>
              <a:buNone/>
              <a:tabLst/>
              <a:defRPr/>
            </a:pP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　　　　　     １</a:t>
            </a:r>
            <a:r>
              <a:rPr kumimoji="0" lang="en-US" altLang="ja-JP" sz="1400" b="1" i="0" u="none" strike="noStrike" kern="0" cap="none" spc="0" normalizeH="0" baseline="0" noProof="0">
                <a:ln>
                  <a:noFill/>
                </a:ln>
                <a:solidFill>
                  <a:srgbClr val="243653"/>
                </a:solidFill>
                <a:effectLst/>
                <a:uLnTx/>
                <a:uFillTx/>
                <a:latin typeface="Arial"/>
                <a:ea typeface="Arial"/>
                <a:cs typeface="Arial"/>
                <a:sym typeface="Arial"/>
              </a:rPr>
              <a:t>.</a:t>
            </a: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１　背景</a:t>
            </a:r>
            <a:endParaRPr kumimoji="0" sz="14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1477"/>
              </a:spcBef>
              <a:spcAft>
                <a:spcPts val="0"/>
              </a:spcAft>
              <a:buClr>
                <a:srgbClr val="000000"/>
              </a:buClr>
              <a:buSzTx/>
              <a:buFont typeface="Arial"/>
              <a:buNone/>
              <a:tabLst/>
              <a:defRPr/>
            </a:pP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　　　　     　１</a:t>
            </a:r>
            <a:r>
              <a:rPr kumimoji="0" lang="en-US" altLang="ja-JP" sz="1400" b="1" i="0" u="none" strike="noStrike" kern="0" cap="none" spc="0" normalizeH="0" baseline="0" noProof="0">
                <a:ln>
                  <a:noFill/>
                </a:ln>
                <a:solidFill>
                  <a:srgbClr val="243653"/>
                </a:solidFill>
                <a:effectLst/>
                <a:uLnTx/>
                <a:uFillTx/>
                <a:latin typeface="Arial"/>
                <a:ea typeface="Arial"/>
                <a:cs typeface="Arial"/>
                <a:sym typeface="Arial"/>
              </a:rPr>
              <a:t>.</a:t>
            </a: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２　地域課題解決の基本的アイデア</a:t>
            </a:r>
            <a:endParaRPr kumimoji="0" sz="14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1477"/>
              </a:spcBef>
              <a:spcAft>
                <a:spcPts val="0"/>
              </a:spcAft>
              <a:buClr>
                <a:srgbClr val="000000"/>
              </a:buClr>
              <a:buSzTx/>
              <a:buFont typeface="Arial"/>
              <a:buNone/>
              <a:tabLst/>
              <a:defRPr/>
            </a:pP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　　　　     　１</a:t>
            </a:r>
            <a:r>
              <a:rPr kumimoji="0" lang="en-US" altLang="ja-JP" sz="1400" b="1" i="0" u="none" strike="noStrike" kern="0" cap="none" spc="0" normalizeH="0" baseline="0" noProof="0">
                <a:ln>
                  <a:noFill/>
                </a:ln>
                <a:solidFill>
                  <a:srgbClr val="243653"/>
                </a:solidFill>
                <a:effectLst/>
                <a:uLnTx/>
                <a:uFillTx/>
                <a:latin typeface="Arial"/>
                <a:ea typeface="Arial"/>
                <a:cs typeface="Arial"/>
                <a:sym typeface="Arial"/>
              </a:rPr>
              <a:t>.</a:t>
            </a:r>
            <a:r>
              <a:rPr kumimoji="0" lang="ja-JP" altLang="en-US" sz="1400" b="1" i="0" u="none" strike="noStrike" kern="0" cap="none" spc="0" normalizeH="0" baseline="0" noProof="0">
                <a:ln>
                  <a:noFill/>
                </a:ln>
                <a:solidFill>
                  <a:srgbClr val="243653"/>
                </a:solidFill>
                <a:effectLst/>
                <a:uLnTx/>
                <a:uFillTx/>
                <a:latin typeface="Arial"/>
                <a:ea typeface="Arial"/>
                <a:cs typeface="Arial"/>
                <a:sym typeface="Arial"/>
              </a:rPr>
              <a:t>３　適用するワイヤレス技術</a:t>
            </a:r>
            <a:endParaRPr kumimoji="0" sz="6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2215"/>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第２章　技術実証の具体的な内容</a:t>
            </a:r>
            <a:endParaRPr kumimoji="0" sz="20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2215"/>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第３章　必要予算</a:t>
            </a:r>
            <a:endParaRPr kumimoji="0" sz="20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2215"/>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第４章　重複応募の有無</a:t>
            </a:r>
            <a:endParaRPr kumimoji="0" sz="2000" b="1" i="0" u="none" strike="noStrike" kern="0" cap="none" spc="0" normalizeH="0" baseline="0" noProof="0">
              <a:ln>
                <a:noFill/>
              </a:ln>
              <a:solidFill>
                <a:srgbClr val="243653"/>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2215"/>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第５章　地域連携先</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2215"/>
              </a:spcBef>
              <a:spcAft>
                <a:spcPts val="0"/>
              </a:spcAft>
              <a:buClr>
                <a:srgbClr val="000000"/>
              </a:buClr>
              <a:buSzTx/>
              <a:buFont typeface="Arial"/>
              <a:buNone/>
              <a:tabLst/>
              <a:defRPr/>
            </a:pP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第６章　近い将来</a:t>
            </a:r>
            <a:r>
              <a:rPr kumimoji="0" lang="ja-JP" altLang="en-US" sz="1600" b="1" i="0" u="none" strike="noStrike" kern="0" cap="none" spc="0" normalizeH="0" baseline="0" noProof="0">
                <a:ln>
                  <a:noFill/>
                </a:ln>
                <a:solidFill>
                  <a:srgbClr val="243653"/>
                </a:solidFill>
                <a:effectLst/>
                <a:uLnTx/>
                <a:uFillTx/>
                <a:latin typeface="Arial"/>
                <a:ea typeface="Arial"/>
                <a:cs typeface="Arial"/>
                <a:sym typeface="Arial"/>
              </a:rPr>
              <a:t>の</a:t>
            </a: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製品化</a:t>
            </a:r>
            <a:r>
              <a:rPr kumimoji="0" lang="ja-JP" altLang="en-US" sz="1600" b="1" i="0" u="none" strike="noStrike" kern="0" cap="none" spc="0" normalizeH="0" baseline="0" noProof="0">
                <a:ln>
                  <a:noFill/>
                </a:ln>
                <a:solidFill>
                  <a:srgbClr val="243653"/>
                </a:solidFill>
                <a:effectLst/>
                <a:uLnTx/>
                <a:uFillTx/>
                <a:latin typeface="Arial"/>
                <a:ea typeface="Arial"/>
                <a:cs typeface="Arial"/>
                <a:sym typeface="Arial"/>
              </a:rPr>
              <a:t>または</a:t>
            </a: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サービス化</a:t>
            </a:r>
            <a:r>
              <a:rPr kumimoji="0" lang="ja-JP" altLang="en-US" sz="1600" b="1" i="0" u="none" strike="noStrike" kern="0" cap="none" spc="0" normalizeH="0" baseline="0" noProof="0">
                <a:ln>
                  <a:noFill/>
                </a:ln>
                <a:solidFill>
                  <a:srgbClr val="243653"/>
                </a:solidFill>
                <a:effectLst/>
                <a:uLnTx/>
                <a:uFillTx/>
                <a:latin typeface="Arial"/>
                <a:ea typeface="Arial"/>
                <a:cs typeface="Arial"/>
                <a:sym typeface="Arial"/>
              </a:rPr>
              <a:t>の</a:t>
            </a:r>
            <a:r>
              <a:rPr kumimoji="0" lang="ja-JP" altLang="en-US" sz="2000" b="1" i="0" u="none" strike="noStrike" kern="0" cap="none" spc="0" normalizeH="0" baseline="0" noProof="0">
                <a:ln>
                  <a:noFill/>
                </a:ln>
                <a:solidFill>
                  <a:srgbClr val="243653"/>
                </a:solidFill>
                <a:effectLst/>
                <a:uLnTx/>
                <a:uFillTx/>
                <a:latin typeface="Arial"/>
                <a:ea typeface="Arial"/>
                <a:cs typeface="Arial"/>
                <a:sym typeface="Arial"/>
              </a:rPr>
              <a:t>計画</a:t>
            </a:r>
            <a:endParaRPr kumimoji="0" sz="2000" b="1" i="0" u="none" strike="noStrike" kern="0" cap="none" spc="0" normalizeH="0" baseline="0" noProof="0">
              <a:ln>
                <a:noFill/>
              </a:ln>
              <a:solidFill>
                <a:srgbClr val="243653"/>
              </a:solidFill>
              <a:effectLst/>
              <a:uLnTx/>
              <a:uFillTx/>
              <a:latin typeface="Arial"/>
              <a:ea typeface="Arial"/>
              <a:cs typeface="Arial"/>
              <a:sym typeface="Arial"/>
            </a:endParaRPr>
          </a:p>
        </p:txBody>
      </p:sp>
      <p:sp>
        <p:nvSpPr>
          <p:cNvPr id="124" name="Google Shape;124;p4"/>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25" name="Google Shape;125;p4"/>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目次</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DE7E29B1-3F70-C49E-EAEF-9E6F84C88740}"/>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74E9E24D-D42B-02FD-A6C4-28AEAE189C95}"/>
              </a:ext>
            </a:extLst>
          </p:cNvPr>
          <p:cNvSpPr/>
          <p:nvPr/>
        </p:nvSpPr>
        <p:spPr>
          <a:xfrm>
            <a:off x="5708834" y="3829915"/>
            <a:ext cx="5980657" cy="2596304"/>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9" name="正方形/長方形 18">
            <a:extLst>
              <a:ext uri="{FF2B5EF4-FFF2-40B4-BE49-F238E27FC236}">
                <a16:creationId xmlns:a16="http://schemas.microsoft.com/office/drawing/2014/main" id="{3D51C10A-2538-FABC-E2AD-500359F75B19}"/>
              </a:ext>
            </a:extLst>
          </p:cNvPr>
          <p:cNvSpPr/>
          <p:nvPr/>
        </p:nvSpPr>
        <p:spPr>
          <a:xfrm>
            <a:off x="5718013" y="1235793"/>
            <a:ext cx="5971478" cy="2471532"/>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8" name="正方形/長方形 17">
            <a:extLst>
              <a:ext uri="{FF2B5EF4-FFF2-40B4-BE49-F238E27FC236}">
                <a16:creationId xmlns:a16="http://schemas.microsoft.com/office/drawing/2014/main" id="{C42D5CAE-0ED8-9E08-3217-94EEA96E6CBE}"/>
              </a:ext>
            </a:extLst>
          </p:cNvPr>
          <p:cNvSpPr/>
          <p:nvPr/>
        </p:nvSpPr>
        <p:spPr>
          <a:xfrm>
            <a:off x="436896" y="3840033"/>
            <a:ext cx="5137303" cy="2577006"/>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6" name="正方形/長方形 15">
            <a:extLst>
              <a:ext uri="{FF2B5EF4-FFF2-40B4-BE49-F238E27FC236}">
                <a16:creationId xmlns:a16="http://schemas.microsoft.com/office/drawing/2014/main" id="{5409DF84-254B-F036-3476-644E788A1CFF}"/>
              </a:ext>
            </a:extLst>
          </p:cNvPr>
          <p:cNvSpPr/>
          <p:nvPr/>
        </p:nvSpPr>
        <p:spPr>
          <a:xfrm>
            <a:off x="432688" y="1240700"/>
            <a:ext cx="5134102" cy="24666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33" name="Google Shape;133;p5">
            <a:extLst>
              <a:ext uri="{FF2B5EF4-FFF2-40B4-BE49-F238E27FC236}">
                <a16:creationId xmlns:a16="http://schemas.microsoft.com/office/drawing/2014/main" id="{AB66CCB4-6FC6-8FF2-7BA2-B9F967A7C39C}"/>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34" name="Google Shape;134;p5">
            <a:extLst>
              <a:ext uri="{FF2B5EF4-FFF2-40B4-BE49-F238E27FC236}">
                <a16:creationId xmlns:a16="http://schemas.microsoft.com/office/drawing/2014/main" id="{901D400F-3EA7-DAC3-6493-863D9BBE7B5D}"/>
              </a:ext>
            </a:extLst>
          </p:cNvPr>
          <p:cNvSpPr txBox="1">
            <a:spLocks noGrp="1"/>
          </p:cNvSpPr>
          <p:nvPr>
            <p:ph type="title"/>
          </p:nvPr>
        </p:nvSpPr>
        <p:spPr>
          <a:xfrm>
            <a:off x="250613" y="79587"/>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第１章　今回取り組む地域課題　　</a:t>
            </a:r>
            <a:endParaRPr>
              <a:solidFill>
                <a:srgbClr val="54C1DF"/>
              </a:solidFill>
            </a:endParaRPr>
          </a:p>
        </p:txBody>
      </p:sp>
      <p:grpSp>
        <p:nvGrpSpPr>
          <p:cNvPr id="145" name="Google Shape;145;p5">
            <a:extLst>
              <a:ext uri="{FF2B5EF4-FFF2-40B4-BE49-F238E27FC236}">
                <a16:creationId xmlns:a16="http://schemas.microsoft.com/office/drawing/2014/main" id="{99A52FC1-5FE1-3B21-7CCF-392556F7E2F4}"/>
              </a:ext>
            </a:extLst>
          </p:cNvPr>
          <p:cNvGrpSpPr/>
          <p:nvPr/>
        </p:nvGrpSpPr>
        <p:grpSpPr>
          <a:xfrm>
            <a:off x="250613" y="541949"/>
            <a:ext cx="1235793" cy="281466"/>
            <a:chOff x="335360" y="2927930"/>
            <a:chExt cx="1235793" cy="281466"/>
          </a:xfrm>
        </p:grpSpPr>
        <p:sp>
          <p:nvSpPr>
            <p:cNvPr id="146" name="Google Shape;146;p5">
              <a:extLst>
                <a:ext uri="{FF2B5EF4-FFF2-40B4-BE49-F238E27FC236}">
                  <a16:creationId xmlns:a16="http://schemas.microsoft.com/office/drawing/2014/main" id="{742D8082-BFF9-C85D-8099-4A3AA08FAE10}"/>
                </a:ext>
              </a:extLst>
            </p:cNvPr>
            <p:cNvSpPr/>
            <p:nvPr/>
          </p:nvSpPr>
          <p:spPr>
            <a:xfrm rot="10800000">
              <a:off x="335360" y="2938565"/>
              <a:ext cx="1235793"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147;p5">
              <a:extLst>
                <a:ext uri="{FF2B5EF4-FFF2-40B4-BE49-F238E27FC236}">
                  <a16:creationId xmlns:a16="http://schemas.microsoft.com/office/drawing/2014/main" id="{AA958A6C-4CE0-2DC7-FE8D-2D8AF9E95BD6}"/>
                </a:ext>
              </a:extLst>
            </p:cNvPr>
            <p:cNvSpPr txBox="1"/>
            <p:nvPr/>
          </p:nvSpPr>
          <p:spPr>
            <a:xfrm rot="-5400000">
              <a:off x="837662" y="2475900"/>
              <a:ext cx="231169" cy="1156469"/>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48" name="Google Shape;148;p5">
              <a:extLst>
                <a:ext uri="{FF2B5EF4-FFF2-40B4-BE49-F238E27FC236}">
                  <a16:creationId xmlns:a16="http://schemas.microsoft.com/office/drawing/2014/main" id="{D06684D0-75C8-E69C-064F-D7574A316C3B}"/>
                </a:ext>
              </a:extLst>
            </p:cNvPr>
            <p:cNvSpPr txBox="1"/>
            <p:nvPr/>
          </p:nvSpPr>
          <p:spPr>
            <a:xfrm>
              <a:off x="446790" y="2927930"/>
              <a:ext cx="936104"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FFFFFF"/>
                  </a:solidFill>
                  <a:effectLst/>
                  <a:uLnTx/>
                  <a:uFillTx/>
                  <a:latin typeface="Arial"/>
                  <a:ea typeface="Arial"/>
                  <a:cs typeface="Arial"/>
                  <a:sym typeface="Arial"/>
                </a:rPr>
                <a:t>1.1 </a:t>
              </a: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背景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 name="テキスト ボックス 2">
            <a:extLst>
              <a:ext uri="{FF2B5EF4-FFF2-40B4-BE49-F238E27FC236}">
                <a16:creationId xmlns:a16="http://schemas.microsoft.com/office/drawing/2014/main" id="{8B298829-208E-8FD1-1D0E-4AA0BD6AE677}"/>
              </a:ext>
            </a:extLst>
          </p:cNvPr>
          <p:cNvSpPr txBox="1"/>
          <p:nvPr/>
        </p:nvSpPr>
        <p:spPr>
          <a:xfrm>
            <a:off x="647780" y="757607"/>
            <a:ext cx="1095684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800" b="1" i="0" u="none" strike="noStrike" kern="0" cap="none" spc="0" normalizeH="0" baseline="0" noProof="0">
                <a:ln>
                  <a:noFill/>
                </a:ln>
                <a:solidFill>
                  <a:srgbClr val="FF0000"/>
                </a:solidFill>
                <a:effectLst/>
                <a:uLnTx/>
                <a:uFillTx/>
                <a:latin typeface="Arial"/>
                <a:cs typeface="Arial"/>
                <a:sym typeface="Arial"/>
              </a:rPr>
              <a:t>海中に沈殿した金属ゴミの存在による環境悪化と位置特定の困難性</a:t>
            </a:r>
          </a:p>
        </p:txBody>
      </p:sp>
      <p:sp>
        <p:nvSpPr>
          <p:cNvPr id="5" name="テキスト ボックス 4">
            <a:extLst>
              <a:ext uri="{FF2B5EF4-FFF2-40B4-BE49-F238E27FC236}">
                <a16:creationId xmlns:a16="http://schemas.microsoft.com/office/drawing/2014/main" id="{F01FBBD7-CC07-0E75-3E8F-D6902523B7AD}"/>
              </a:ext>
            </a:extLst>
          </p:cNvPr>
          <p:cNvSpPr txBox="1"/>
          <p:nvPr/>
        </p:nvSpPr>
        <p:spPr>
          <a:xfrm>
            <a:off x="507807" y="1355415"/>
            <a:ext cx="5010926" cy="338554"/>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600" b="1" i="0" u="none" strike="noStrike" kern="0" cap="none" spc="0" normalizeH="0" baseline="0" noProof="0">
                <a:ln>
                  <a:noFill/>
                </a:ln>
                <a:solidFill>
                  <a:srgbClr val="000000"/>
                </a:solidFill>
                <a:effectLst/>
                <a:uLnTx/>
                <a:uFillTx/>
                <a:latin typeface="Arial"/>
                <a:ea typeface="ＭＳ Ｐゴシック"/>
                <a:cs typeface="+mn-cs"/>
                <a:sym typeface="Arial"/>
              </a:rPr>
              <a:t>①</a:t>
            </a:r>
            <a:r>
              <a:rPr kumimoji="1" lang="ja-JP" altLang="en-US" sz="1400" b="1" i="0" u="none" strike="noStrike" kern="0" cap="none" spc="0" normalizeH="0" baseline="0" noProof="0">
                <a:ln>
                  <a:noFill/>
                </a:ln>
                <a:solidFill>
                  <a:srgbClr val="000000"/>
                </a:solidFill>
                <a:effectLst/>
                <a:uLnTx/>
                <a:uFillTx/>
                <a:latin typeface="Arial"/>
                <a:ea typeface="ＭＳ Ｐゴシック"/>
                <a:cs typeface="+mn-cs"/>
                <a:sym typeface="Arial"/>
              </a:rPr>
              <a:t>家電や沈没船などの海洋ゴミによる環境汚染問題が深刻</a:t>
            </a:r>
            <a:endParaRPr kumimoji="0" lang="ja-JP" altLang="en-US" sz="1400" b="1" i="0" u="none" strike="noStrike" kern="0" cap="none" spc="0" normalizeH="0" baseline="0" noProof="0">
              <a:ln>
                <a:noFill/>
              </a:ln>
              <a:solidFill>
                <a:srgbClr val="000000"/>
              </a:solidFill>
              <a:effectLst/>
              <a:uLnTx/>
              <a:uFillTx/>
              <a:latin typeface="Arial"/>
              <a:ea typeface="ＭＳ Ｐゴシック"/>
              <a:cs typeface="Arial"/>
              <a:sym typeface="Arial"/>
            </a:endParaRPr>
          </a:p>
        </p:txBody>
      </p:sp>
      <p:sp>
        <p:nvSpPr>
          <p:cNvPr id="6" name="テキスト ボックス 5">
            <a:extLst>
              <a:ext uri="{FF2B5EF4-FFF2-40B4-BE49-F238E27FC236}">
                <a16:creationId xmlns:a16="http://schemas.microsoft.com/office/drawing/2014/main" id="{4A6C79DD-6C0C-E5A5-6375-ABF46D7912C3}"/>
              </a:ext>
            </a:extLst>
          </p:cNvPr>
          <p:cNvSpPr txBox="1"/>
          <p:nvPr/>
        </p:nvSpPr>
        <p:spPr>
          <a:xfrm>
            <a:off x="577495" y="3891830"/>
            <a:ext cx="3424508" cy="307777"/>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1" i="0" u="none" strike="noStrike" kern="0" cap="none" spc="0" normalizeH="0" baseline="0" noProof="0">
                <a:ln>
                  <a:noFill/>
                </a:ln>
                <a:solidFill>
                  <a:srgbClr val="000000"/>
                </a:solidFill>
                <a:effectLst/>
                <a:uLnTx/>
                <a:uFillTx/>
                <a:latin typeface="Arial"/>
                <a:ea typeface="ＭＳ Ｐゴシック"/>
                <a:cs typeface="+mn-cs"/>
                <a:sym typeface="Arial"/>
              </a:rPr>
              <a:t>②</a:t>
            </a:r>
            <a:r>
              <a:rPr kumimoji="1" lang="ja-JP" altLang="en-US" sz="1400" b="1" i="0" u="none" strike="noStrike" kern="0" cap="none" spc="0" normalizeH="0" baseline="0" noProof="0">
                <a:ln>
                  <a:noFill/>
                </a:ln>
                <a:solidFill>
                  <a:srgbClr val="000000"/>
                </a:solidFill>
                <a:effectLst/>
                <a:uLnTx/>
                <a:uFillTx/>
                <a:latin typeface="Arial"/>
                <a:ea typeface="ＭＳ Ｐゴシック"/>
                <a:cs typeface="+mn-cs"/>
                <a:sym typeface="Arial"/>
              </a:rPr>
              <a:t>人の潜水による調査には限界がある</a:t>
            </a:r>
            <a:endParaRPr kumimoji="0" lang="ja-JP" altLang="en-US" sz="1400" b="1" i="0" u="none" strike="noStrike" kern="0" cap="none" spc="0" normalizeH="0" baseline="0" noProof="0">
              <a:ln>
                <a:noFill/>
              </a:ln>
              <a:solidFill>
                <a:srgbClr val="000000"/>
              </a:solidFill>
              <a:effectLst/>
              <a:uLnTx/>
              <a:uFillTx/>
              <a:latin typeface="Arial"/>
              <a:ea typeface="ＭＳ Ｐゴシック"/>
              <a:cs typeface="Arial"/>
              <a:sym typeface="Arial"/>
            </a:endParaRPr>
          </a:p>
        </p:txBody>
      </p:sp>
      <p:sp>
        <p:nvSpPr>
          <p:cNvPr id="7" name="テキスト ボックス 6">
            <a:extLst>
              <a:ext uri="{FF2B5EF4-FFF2-40B4-BE49-F238E27FC236}">
                <a16:creationId xmlns:a16="http://schemas.microsoft.com/office/drawing/2014/main" id="{ACCA1C8F-B6E7-3A2F-C759-8A715D60B35C}"/>
              </a:ext>
            </a:extLst>
          </p:cNvPr>
          <p:cNvSpPr txBox="1"/>
          <p:nvPr/>
        </p:nvSpPr>
        <p:spPr>
          <a:xfrm>
            <a:off x="5775338" y="1356868"/>
            <a:ext cx="5829288" cy="307777"/>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1" i="0" u="none" strike="noStrike" kern="0" cap="none" spc="0" normalizeH="0" baseline="0" noProof="0">
                <a:ln>
                  <a:noFill/>
                </a:ln>
                <a:solidFill>
                  <a:srgbClr val="000000"/>
                </a:solidFill>
                <a:effectLst/>
                <a:uLnTx/>
                <a:uFillTx/>
                <a:latin typeface="Arial"/>
                <a:ea typeface="ＭＳ Ｐゴシック"/>
                <a:cs typeface="+mn-cs"/>
                <a:sym typeface="Arial"/>
              </a:rPr>
              <a:t>③</a:t>
            </a:r>
            <a:r>
              <a:rPr kumimoji="1" lang="ja-JP" altLang="en-US" sz="1400" b="1" i="0" u="none" strike="noStrike" kern="0" cap="none" spc="0" normalizeH="0" baseline="0" noProof="0">
                <a:ln>
                  <a:noFill/>
                </a:ln>
                <a:solidFill>
                  <a:srgbClr val="000000"/>
                </a:solidFill>
                <a:effectLst/>
                <a:uLnTx/>
                <a:uFillTx/>
                <a:latin typeface="Arial"/>
                <a:ea typeface="ＭＳ Ｐゴシック"/>
                <a:cs typeface="+mn-cs"/>
                <a:sym typeface="Arial"/>
              </a:rPr>
              <a:t>電磁センサ搭載水中ドローンによるワイヤレス遠隔調査の実施</a:t>
            </a:r>
            <a:endParaRPr kumimoji="0" lang="ja-JP" altLang="en-US" sz="1400" b="1" i="0" u="none" strike="noStrike" kern="0" cap="none" spc="0" normalizeH="0" baseline="0" noProof="0">
              <a:ln>
                <a:noFill/>
              </a:ln>
              <a:solidFill>
                <a:srgbClr val="000000"/>
              </a:solidFill>
              <a:effectLst/>
              <a:uLnTx/>
              <a:uFillTx/>
              <a:latin typeface="Arial"/>
              <a:ea typeface="ＭＳ Ｐゴシック"/>
              <a:cs typeface="Arial"/>
              <a:sym typeface="Arial"/>
            </a:endParaRPr>
          </a:p>
        </p:txBody>
      </p:sp>
      <p:sp>
        <p:nvSpPr>
          <p:cNvPr id="4" name="テキスト ボックス 3">
            <a:extLst>
              <a:ext uri="{FF2B5EF4-FFF2-40B4-BE49-F238E27FC236}">
                <a16:creationId xmlns:a16="http://schemas.microsoft.com/office/drawing/2014/main" id="{7C4E86B0-FF76-A8B3-4DCE-E7BD374C8444}"/>
              </a:ext>
            </a:extLst>
          </p:cNvPr>
          <p:cNvSpPr txBox="1"/>
          <p:nvPr/>
        </p:nvSpPr>
        <p:spPr>
          <a:xfrm>
            <a:off x="3034951" y="2177062"/>
            <a:ext cx="2159566" cy="7386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ゴミから有害物質が溶出</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生態系、漁に影響</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地域産業に打撃を与える</a:t>
            </a:r>
          </a:p>
        </p:txBody>
      </p:sp>
      <p:sp>
        <p:nvSpPr>
          <p:cNvPr id="8" name="テキスト ボックス 7">
            <a:extLst>
              <a:ext uri="{FF2B5EF4-FFF2-40B4-BE49-F238E27FC236}">
                <a16:creationId xmlns:a16="http://schemas.microsoft.com/office/drawing/2014/main" id="{A3605F53-43F5-1A0B-CE3E-DA90E29AA83B}"/>
              </a:ext>
            </a:extLst>
          </p:cNvPr>
          <p:cNvSpPr txBox="1"/>
          <p:nvPr/>
        </p:nvSpPr>
        <p:spPr>
          <a:xfrm>
            <a:off x="2877838" y="4442518"/>
            <a:ext cx="2688201" cy="116955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cs typeface="Arial"/>
                <a:sym typeface="Arial"/>
              </a:rPr>
              <a:t>海底のゴミは砂で埋まっているため肉眼で見つけづらい</a:t>
            </a:r>
            <a:endParaRPr kumimoji="1" lang="en-US" altLang="ja-JP"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1" lang="en-US" altLang="ja-JP"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cs typeface="Arial"/>
                <a:sym typeface="Arial"/>
              </a:rPr>
              <a:t>深いところでは身体的負担大</a:t>
            </a:r>
            <a:endParaRPr kumimoji="1" lang="en-US" altLang="ja-JP"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cs typeface="Arial"/>
                <a:sym typeface="Arial"/>
              </a:rPr>
              <a:t>経験のある潜水士の不足</a:t>
            </a:r>
          </a:p>
        </p:txBody>
      </p:sp>
      <p:sp>
        <p:nvSpPr>
          <p:cNvPr id="9" name="テキスト ボックス 8">
            <a:extLst>
              <a:ext uri="{FF2B5EF4-FFF2-40B4-BE49-F238E27FC236}">
                <a16:creationId xmlns:a16="http://schemas.microsoft.com/office/drawing/2014/main" id="{1FD738D1-6F69-DA27-66C0-E41B817D559D}"/>
              </a:ext>
            </a:extLst>
          </p:cNvPr>
          <p:cNvSpPr txBox="1"/>
          <p:nvPr/>
        </p:nvSpPr>
        <p:spPr>
          <a:xfrm>
            <a:off x="5857429" y="1858466"/>
            <a:ext cx="3600599" cy="138499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人の潜水なしで海底ゴミ探索</a:t>
            </a:r>
            <a:endParaRPr kumimoji="0"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センサで金属が非接触で探知可能</a:t>
            </a:r>
            <a:endParaRPr kumimoji="0"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陸上でデータを確認できる</a:t>
            </a:r>
            <a:endParaRPr kumimoji="0"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発見次第、人力によるゴミの確認及び引き上げが可能</a:t>
            </a:r>
            <a:endParaRPr kumimoji="0" lang="ja-JP"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テキスト ボックス 13">
            <a:extLst>
              <a:ext uri="{FF2B5EF4-FFF2-40B4-BE49-F238E27FC236}">
                <a16:creationId xmlns:a16="http://schemas.microsoft.com/office/drawing/2014/main" id="{52E99ED0-C43E-1858-A34D-1C92399DBF12}"/>
              </a:ext>
            </a:extLst>
          </p:cNvPr>
          <p:cNvSpPr txBox="1"/>
          <p:nvPr/>
        </p:nvSpPr>
        <p:spPr>
          <a:xfrm>
            <a:off x="5802315" y="3850218"/>
            <a:ext cx="3271209" cy="318361"/>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1" i="0" u="none" strike="noStrike" kern="0" cap="none" spc="0" normalizeH="0" baseline="0" noProof="0">
                <a:ln>
                  <a:noFill/>
                </a:ln>
                <a:solidFill>
                  <a:srgbClr val="000000"/>
                </a:solidFill>
                <a:effectLst/>
                <a:uLnTx/>
                <a:uFillTx/>
                <a:latin typeface="Arial"/>
                <a:ea typeface="ＭＳ Ｐゴシック"/>
                <a:cs typeface="+mn-cs"/>
                <a:sym typeface="Arial"/>
              </a:rPr>
              <a:t>④</a:t>
            </a:r>
            <a:r>
              <a:rPr kumimoji="1" lang="ja-JP" altLang="en-US" sz="1400" b="1" i="0" u="none" strike="noStrike" kern="0" cap="none" spc="0" normalizeH="0" baseline="0" noProof="0">
                <a:ln>
                  <a:noFill/>
                </a:ln>
                <a:solidFill>
                  <a:srgbClr val="000000"/>
                </a:solidFill>
                <a:effectLst/>
                <a:uLnTx/>
                <a:uFillTx/>
                <a:latin typeface="Arial"/>
                <a:ea typeface="ＭＳ Ｐゴシック"/>
                <a:cs typeface="+mn-cs"/>
                <a:sym typeface="Arial"/>
              </a:rPr>
              <a:t>データを蓄積、解析、今後に活用</a:t>
            </a:r>
            <a:endParaRPr kumimoji="0" lang="ja-JP" altLang="en-US" sz="1400" b="1" i="0" u="none" strike="noStrike" kern="0" cap="none" spc="0" normalizeH="0" baseline="0" noProof="0">
              <a:ln>
                <a:noFill/>
              </a:ln>
              <a:solidFill>
                <a:srgbClr val="000000"/>
              </a:solidFill>
              <a:effectLst/>
              <a:uLnTx/>
              <a:uFillTx/>
              <a:latin typeface="Arial"/>
              <a:ea typeface="ＭＳ Ｐゴシック"/>
              <a:cs typeface="Arial"/>
              <a:sym typeface="Arial"/>
            </a:endParaRPr>
          </a:p>
        </p:txBody>
      </p:sp>
      <p:sp>
        <p:nvSpPr>
          <p:cNvPr id="15" name="テキスト ボックス 14">
            <a:extLst>
              <a:ext uri="{FF2B5EF4-FFF2-40B4-BE49-F238E27FC236}">
                <a16:creationId xmlns:a16="http://schemas.microsoft.com/office/drawing/2014/main" id="{CE7070F7-01DB-DEF1-576F-88B0134DBD79}"/>
              </a:ext>
            </a:extLst>
          </p:cNvPr>
          <p:cNvSpPr txBox="1"/>
          <p:nvPr/>
        </p:nvSpPr>
        <p:spPr>
          <a:xfrm>
            <a:off x="6844033" y="4163743"/>
            <a:ext cx="4708792"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目視での探索は場所の記憶が曖昧</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ゴミの位置をマッピング、一回記録でいつでも回収可</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400" b="0" i="0" u="none" strike="noStrike" kern="0" cap="none" spc="0" normalizeH="0" baseline="0" noProof="0">
                <a:ln>
                  <a:noFill/>
                </a:ln>
                <a:solidFill>
                  <a:srgbClr val="000000"/>
                </a:solidFill>
                <a:effectLst/>
                <a:uLnTx/>
                <a:uFillTx/>
                <a:latin typeface="Arial"/>
                <a:cs typeface="Arial"/>
                <a:sym typeface="Arial"/>
              </a:rPr>
              <a:t>危険防止のために、３Dモデルにして形状把握</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2" name="図 1" descr="https://marinediving.com/topics/24527.html">
            <a:extLst>
              <a:ext uri="{FF2B5EF4-FFF2-40B4-BE49-F238E27FC236}">
                <a16:creationId xmlns:a16="http://schemas.microsoft.com/office/drawing/2014/main" id="{FE80EB33-FE6A-B132-3951-2AF9A1974BF5}"/>
              </a:ext>
            </a:extLst>
          </p:cNvPr>
          <p:cNvPicPr>
            <a:picLocks noChangeAspect="1"/>
          </p:cNvPicPr>
          <p:nvPr/>
        </p:nvPicPr>
        <p:blipFill>
          <a:blip r:embed="rId3"/>
          <a:srcRect l="9" t="22183" r="28132" b="3571"/>
          <a:stretch/>
        </p:blipFill>
        <p:spPr>
          <a:xfrm>
            <a:off x="716158" y="4442429"/>
            <a:ext cx="2051511" cy="1252764"/>
          </a:xfrm>
          <a:prstGeom prst="rect">
            <a:avLst/>
          </a:prstGeom>
        </p:spPr>
      </p:pic>
      <p:pic>
        <p:nvPicPr>
          <p:cNvPr id="1028" name="Picture 4" descr="https://www.chunichi.co.jp/article_photo/list?article_id=705073&amp;pid=3554140">
            <a:extLst>
              <a:ext uri="{FF2B5EF4-FFF2-40B4-BE49-F238E27FC236}">
                <a16:creationId xmlns:a16="http://schemas.microsoft.com/office/drawing/2014/main" id="{182EF9A4-985D-42A0-0CFB-428221E7B6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4442" y="5028416"/>
            <a:ext cx="1623287" cy="1115953"/>
          </a:xfrm>
          <a:prstGeom prst="rect">
            <a:avLst/>
          </a:prstGeom>
          <a:noFill/>
          <a:extLst>
            <a:ext uri="{909E8E84-426E-40DD-AFC4-6F175D3DCCD1}">
              <a14:hiddenFill xmlns:a14="http://schemas.microsoft.com/office/drawing/2010/main">
                <a:solidFill>
                  <a:srgbClr val="FFFFFF"/>
                </a:solidFill>
              </a14:hiddenFill>
            </a:ext>
          </a:extLst>
        </p:spPr>
      </p:pic>
      <p:pic>
        <p:nvPicPr>
          <p:cNvPr id="22" name="グラフィックス 21" descr="スキューバ ダイビング 単色塗りつぶし">
            <a:extLst>
              <a:ext uri="{FF2B5EF4-FFF2-40B4-BE49-F238E27FC236}">
                <a16:creationId xmlns:a16="http://schemas.microsoft.com/office/drawing/2014/main" id="{26782A89-1C93-D013-AE10-C422299F52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4135" y="4199707"/>
            <a:ext cx="845376" cy="967529"/>
          </a:xfrm>
          <a:prstGeom prst="rect">
            <a:avLst/>
          </a:prstGeom>
        </p:spPr>
      </p:pic>
      <p:sp>
        <p:nvSpPr>
          <p:cNvPr id="25" name="テキスト ボックス 24">
            <a:extLst>
              <a:ext uri="{FF2B5EF4-FFF2-40B4-BE49-F238E27FC236}">
                <a16:creationId xmlns:a16="http://schemas.microsoft.com/office/drawing/2014/main" id="{A46DBF94-1F08-DCCC-A565-673052B8E101}"/>
              </a:ext>
            </a:extLst>
          </p:cNvPr>
          <p:cNvSpPr txBox="1"/>
          <p:nvPr/>
        </p:nvSpPr>
        <p:spPr>
          <a:xfrm>
            <a:off x="5715916" y="6136960"/>
            <a:ext cx="3356737" cy="27699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a:ea typeface="Yu Gothic"/>
                <a:cs typeface="Arial"/>
                <a:sym typeface="Arial"/>
              </a:rPr>
              <a:t>英虞湾から引き上げられたゴミ</a:t>
            </a:r>
            <a:r>
              <a:rPr kumimoji="1" lang="en-US" altLang="ja-JP" sz="1200" b="0" i="0" u="none" strike="noStrike" kern="0" cap="none" spc="0" normalizeH="0" baseline="0" noProof="0">
                <a:ln>
                  <a:noFill/>
                </a:ln>
                <a:solidFill>
                  <a:srgbClr val="000000"/>
                </a:solidFill>
                <a:effectLst/>
                <a:uLnTx/>
                <a:uFillTx/>
                <a:latin typeface="Yu Gothic"/>
                <a:ea typeface="Yu Gothic"/>
                <a:cs typeface="Arial"/>
                <a:sym typeface="Arial"/>
              </a:rPr>
              <a:t>(</a:t>
            </a:r>
            <a:r>
              <a:rPr kumimoji="1" lang="ja-JP" altLang="en-US" sz="1200" b="0" i="0" u="none" strike="noStrike" kern="0" cap="none" spc="0" normalizeH="0" baseline="0" noProof="0">
                <a:ln>
                  <a:noFill/>
                </a:ln>
                <a:solidFill>
                  <a:srgbClr val="000000"/>
                </a:solidFill>
                <a:effectLst/>
                <a:uLnTx/>
                <a:uFillTx/>
                <a:latin typeface="Yu Gothic"/>
                <a:ea typeface="Yu Gothic"/>
                <a:cs typeface="Arial"/>
                <a:sym typeface="Arial"/>
              </a:rPr>
              <a:t>中日新聞より</a:t>
            </a:r>
            <a:r>
              <a:rPr kumimoji="1" lang="en-US" altLang="ja-JP" sz="1200" b="0" i="0" u="none" strike="noStrike" kern="0" cap="none" spc="0" normalizeH="0" baseline="0" noProof="0">
                <a:ln>
                  <a:noFill/>
                </a:ln>
                <a:solidFill>
                  <a:srgbClr val="000000"/>
                </a:solidFill>
                <a:effectLst/>
                <a:uLnTx/>
                <a:uFillTx/>
                <a:latin typeface="Yu Gothic"/>
                <a:ea typeface="Yu Gothic"/>
                <a:cs typeface="Arial"/>
                <a:sym typeface="Arial"/>
              </a:rPr>
              <a:t>)</a:t>
            </a:r>
            <a:endParaRPr kumimoji="0" lang="en-US" altLang="ja-JP" sz="1200" b="0" i="0" u="none" strike="noStrike" kern="0" cap="none" spc="0" normalizeH="0" baseline="0" noProof="0">
              <a:ln>
                <a:noFill/>
              </a:ln>
              <a:solidFill>
                <a:srgbClr val="000000"/>
              </a:solidFill>
              <a:effectLst/>
              <a:uLnTx/>
              <a:uFillTx/>
              <a:latin typeface="Yu Gothic"/>
              <a:ea typeface="Yu Gothic"/>
              <a:cs typeface="Arial"/>
              <a:sym typeface="Arial"/>
            </a:endParaRPr>
          </a:p>
        </p:txBody>
      </p:sp>
      <p:sp>
        <p:nvSpPr>
          <p:cNvPr id="26" name="テキスト ボックス 25">
            <a:extLst>
              <a:ext uri="{FF2B5EF4-FFF2-40B4-BE49-F238E27FC236}">
                <a16:creationId xmlns:a16="http://schemas.microsoft.com/office/drawing/2014/main" id="{1D7AEDBC-0632-A20B-D720-7620F513C37B}"/>
              </a:ext>
            </a:extLst>
          </p:cNvPr>
          <p:cNvSpPr txBox="1"/>
          <p:nvPr/>
        </p:nvSpPr>
        <p:spPr>
          <a:xfrm>
            <a:off x="870270" y="5779193"/>
            <a:ext cx="187743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沖縄県の海底調査の様子</a:t>
            </a:r>
            <a:endParaRPr kumimoji="1" lang="en-US" altLang="ja-JP"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1" lang="en" altLang="ja-JP" sz="12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marinedivingweb</a:t>
            </a:r>
            <a:r>
              <a:rPr kumimoji="1" lang="ja-JP" alt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より</a:t>
            </a:r>
            <a:r>
              <a:rPr kumimoji="1" lang="en-US" altLang="ja-JP"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p>
        </p:txBody>
      </p:sp>
      <p:sp>
        <p:nvSpPr>
          <p:cNvPr id="27" name="テキスト ボックス 26">
            <a:extLst>
              <a:ext uri="{FF2B5EF4-FFF2-40B4-BE49-F238E27FC236}">
                <a16:creationId xmlns:a16="http://schemas.microsoft.com/office/drawing/2014/main" id="{12BA70D8-FCCB-7593-1A7A-C63840BD9A87}"/>
              </a:ext>
            </a:extLst>
          </p:cNvPr>
          <p:cNvSpPr txBox="1"/>
          <p:nvPr/>
        </p:nvSpPr>
        <p:spPr>
          <a:xfrm>
            <a:off x="9071354" y="3147070"/>
            <a:ext cx="2613442"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a:ea typeface="Yu Gothic"/>
                <a:cs typeface="Arial"/>
                <a:sym typeface="Arial"/>
              </a:rPr>
              <a:t>水中ドローン</a:t>
            </a:r>
            <a:endParaRPr kumimoji="0" lang="en-US" altLang="ja-JP" sz="1200" b="0" i="0" u="none" strike="noStrike" kern="0" cap="none" spc="0" normalizeH="0" baseline="0" noProof="0">
              <a:ln>
                <a:noFill/>
              </a:ln>
              <a:solidFill>
                <a:srgbClr val="000000"/>
              </a:solidFill>
              <a:effectLst/>
              <a:uLnTx/>
              <a:uFillTx/>
              <a:latin typeface="Yu Gothic"/>
              <a:ea typeface="Yu Gothic"/>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b="0" i="0" u="none" strike="noStrike" kern="0" cap="none" spc="0" normalizeH="0" baseline="0" noProof="0">
                <a:ln>
                  <a:noFill/>
                </a:ln>
                <a:solidFill>
                  <a:srgbClr val="000000"/>
                </a:solidFill>
                <a:effectLst/>
                <a:uLnTx/>
                <a:uFillTx/>
                <a:latin typeface="Yu Gothic"/>
                <a:ea typeface="Yu Gothic"/>
                <a:cs typeface="Arial"/>
                <a:sym typeface="Arial"/>
              </a:rPr>
              <a:t>(Blue Robotics</a:t>
            </a:r>
            <a:r>
              <a:rPr kumimoji="1" lang="ja-JP" altLang="en-US" sz="1200" b="0" i="0" u="none" strike="noStrike" kern="0" cap="none" spc="0" normalizeH="0" baseline="0" noProof="0">
                <a:ln>
                  <a:noFill/>
                </a:ln>
                <a:solidFill>
                  <a:srgbClr val="000000"/>
                </a:solidFill>
                <a:effectLst/>
                <a:uLnTx/>
                <a:uFillTx/>
                <a:latin typeface="Yu Gothic"/>
                <a:ea typeface="Yu Gothic"/>
                <a:cs typeface="Arial"/>
                <a:sym typeface="Arial"/>
              </a:rPr>
              <a:t>社　</a:t>
            </a:r>
            <a:r>
              <a:rPr kumimoji="1" lang="en-US" altLang="ja-JP" sz="1200" b="0" i="0" u="none" strike="noStrike" kern="0" cap="none" spc="0" normalizeH="0" baseline="0" noProof="0">
                <a:ln>
                  <a:noFill/>
                </a:ln>
                <a:solidFill>
                  <a:srgbClr val="000000"/>
                </a:solidFill>
                <a:effectLst/>
                <a:uLnTx/>
                <a:uFillTx/>
                <a:latin typeface="Yu Gothic"/>
                <a:ea typeface="Yu Gothic"/>
                <a:cs typeface="Arial"/>
                <a:sym typeface="Arial"/>
              </a:rPr>
              <a:t>Blue ROV2)</a:t>
            </a:r>
            <a:endParaRPr kumimoji="0" lang="en-US" altLang="ja-JP" sz="1200" b="0" i="0" u="none" strike="noStrike" kern="0" cap="none" spc="0" normalizeH="0" baseline="0" noProof="0">
              <a:ln>
                <a:noFill/>
              </a:ln>
              <a:solidFill>
                <a:srgbClr val="000000"/>
              </a:solidFill>
              <a:effectLst/>
              <a:uLnTx/>
              <a:uFillTx/>
              <a:latin typeface="Yu Gothic"/>
              <a:ea typeface="Yu Gothic"/>
              <a:cs typeface="Arial"/>
              <a:sym typeface="Arial"/>
            </a:endParaRPr>
          </a:p>
        </p:txBody>
      </p:sp>
      <p:pic>
        <p:nvPicPr>
          <p:cNvPr id="1032" name="Picture 8" descr="https://gigazine.net/news/20221020-nazi-shipwreck-environmental-damage/">
            <a:extLst>
              <a:ext uri="{FF2B5EF4-FFF2-40B4-BE49-F238E27FC236}">
                <a16:creationId xmlns:a16="http://schemas.microsoft.com/office/drawing/2014/main" id="{1FE3AB2D-41E3-47E0-12FB-1CED70B0289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5243" t="7812" r="16468" b="10399"/>
          <a:stretch/>
        </p:blipFill>
        <p:spPr bwMode="auto">
          <a:xfrm>
            <a:off x="680914" y="1749025"/>
            <a:ext cx="2109906" cy="1421443"/>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3DB3257A-FC45-E46D-6AA3-BD07495D7AB7}"/>
              </a:ext>
            </a:extLst>
          </p:cNvPr>
          <p:cNvSpPr txBox="1"/>
          <p:nvPr/>
        </p:nvSpPr>
        <p:spPr>
          <a:xfrm>
            <a:off x="509579" y="3180895"/>
            <a:ext cx="252537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環境汚染を引き起こす沈没船</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1" lang="en-US" altLang="ja-JP" sz="14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gigazine</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より</a:t>
            </a: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pic>
        <p:nvPicPr>
          <p:cNvPr id="17" name="Picture 16" descr="Technical Reference">
            <a:extLst>
              <a:ext uri="{FF2B5EF4-FFF2-40B4-BE49-F238E27FC236}">
                <a16:creationId xmlns:a16="http://schemas.microsoft.com/office/drawing/2014/main" id="{36080555-9825-50CC-ED5C-FD03AE407B8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2577" b="10589"/>
          <a:stretch/>
        </p:blipFill>
        <p:spPr bwMode="auto">
          <a:xfrm>
            <a:off x="9463782" y="1710322"/>
            <a:ext cx="1905000" cy="1463684"/>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895AEDDB-72F4-75E0-B030-E83CBE4EFED5}"/>
              </a:ext>
            </a:extLst>
          </p:cNvPr>
          <p:cNvSpPr txBox="1"/>
          <p:nvPr/>
        </p:nvSpPr>
        <p:spPr>
          <a:xfrm>
            <a:off x="8152204" y="5504441"/>
            <a:ext cx="1311578" cy="307777"/>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Arial"/>
                <a:sym typeface="Arial"/>
              </a:rPr>
              <a:t>海底3D</a:t>
            </a:r>
            <a:r>
              <a:rPr kumimoji="1" lang="ja-JP" altLang="en-US" sz="1400" b="0" i="0" u="none" strike="noStrike" kern="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Arial"/>
                <a:sym typeface="Arial"/>
              </a:rPr>
              <a:t>モデル</a:t>
            </a:r>
          </a:p>
        </p:txBody>
      </p:sp>
      <p:pic>
        <p:nvPicPr>
          <p:cNvPr id="13" name="図 12" descr="屋内, テーブル, 座る, 紙 が含まれている画像&#10;&#10;AI 生成コンテンツは間違っている可能性があります。">
            <a:extLst>
              <a:ext uri="{FF2B5EF4-FFF2-40B4-BE49-F238E27FC236}">
                <a16:creationId xmlns:a16="http://schemas.microsoft.com/office/drawing/2014/main" id="{19E4B0F1-69CC-06B1-F3F3-A48E625CD979}"/>
              </a:ext>
            </a:extLst>
          </p:cNvPr>
          <p:cNvPicPr>
            <a:picLocks noChangeAspect="1"/>
          </p:cNvPicPr>
          <p:nvPr/>
        </p:nvPicPr>
        <p:blipFill>
          <a:blip r:embed="rId9"/>
          <a:stretch>
            <a:fillRect/>
          </a:stretch>
        </p:blipFill>
        <p:spPr>
          <a:xfrm>
            <a:off x="9426249" y="4941234"/>
            <a:ext cx="2152994" cy="1382273"/>
          </a:xfrm>
          <a:prstGeom prst="rect">
            <a:avLst/>
          </a:prstGeom>
        </p:spPr>
      </p:pic>
    </p:spTree>
    <p:extLst>
      <p:ext uri="{BB962C8B-B14F-4D97-AF65-F5344CB8AC3E}">
        <p14:creationId xmlns:p14="http://schemas.microsoft.com/office/powerpoint/2010/main" val="2162047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32235EE-E55C-DBF7-12CB-E571D69F5FA2}"/>
            </a:ext>
          </a:extLst>
        </p:cNvPr>
        <p:cNvGrpSpPr/>
        <p:nvPr/>
      </p:nvGrpSpPr>
      <p:grpSpPr>
        <a:xfrm>
          <a:off x="0" y="0"/>
          <a:ext cx="0" cy="0"/>
          <a:chOff x="0" y="0"/>
          <a:chExt cx="0" cy="0"/>
        </a:xfrm>
      </p:grpSpPr>
      <p:sp>
        <p:nvSpPr>
          <p:cNvPr id="134" name="角丸四角形 133">
            <a:extLst>
              <a:ext uri="{FF2B5EF4-FFF2-40B4-BE49-F238E27FC236}">
                <a16:creationId xmlns:a16="http://schemas.microsoft.com/office/drawing/2014/main" id="{99A1ABBB-D8A3-45B7-C4BE-66B0BA14ADE4}"/>
              </a:ext>
            </a:extLst>
          </p:cNvPr>
          <p:cNvSpPr/>
          <p:nvPr/>
        </p:nvSpPr>
        <p:spPr>
          <a:xfrm>
            <a:off x="7970383" y="1441101"/>
            <a:ext cx="3921998" cy="498459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32" name="角丸四角形 131">
            <a:extLst>
              <a:ext uri="{FF2B5EF4-FFF2-40B4-BE49-F238E27FC236}">
                <a16:creationId xmlns:a16="http://schemas.microsoft.com/office/drawing/2014/main" id="{4C2818D3-EFDE-D9FA-E4E0-354CEFD62782}"/>
              </a:ext>
            </a:extLst>
          </p:cNvPr>
          <p:cNvSpPr/>
          <p:nvPr/>
        </p:nvSpPr>
        <p:spPr>
          <a:xfrm>
            <a:off x="346879" y="2659735"/>
            <a:ext cx="3022303" cy="356022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54" name="Google Shape;154;p6">
            <a:extLst>
              <a:ext uri="{FF2B5EF4-FFF2-40B4-BE49-F238E27FC236}">
                <a16:creationId xmlns:a16="http://schemas.microsoft.com/office/drawing/2014/main" id="{A21AA568-0A8E-4914-5487-0252EA12ECC0}"/>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55" name="Google Shape;155;p6">
            <a:extLst>
              <a:ext uri="{FF2B5EF4-FFF2-40B4-BE49-F238E27FC236}">
                <a16:creationId xmlns:a16="http://schemas.microsoft.com/office/drawing/2014/main" id="{D2BD4B4A-E788-1BEB-F4B7-2F391D9E9935}"/>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第１章　今回取り組む地域課題 　</a:t>
            </a:r>
            <a:endParaRPr>
              <a:solidFill>
                <a:srgbClr val="54C1DF"/>
              </a:solidFill>
            </a:endParaRPr>
          </a:p>
        </p:txBody>
      </p:sp>
      <p:grpSp>
        <p:nvGrpSpPr>
          <p:cNvPr id="162" name="Google Shape;162;p6">
            <a:extLst>
              <a:ext uri="{FF2B5EF4-FFF2-40B4-BE49-F238E27FC236}">
                <a16:creationId xmlns:a16="http://schemas.microsoft.com/office/drawing/2014/main" id="{8631CFF5-5E3A-16FD-6A2F-8ADAA90013FB}"/>
              </a:ext>
            </a:extLst>
          </p:cNvPr>
          <p:cNvGrpSpPr/>
          <p:nvPr/>
        </p:nvGrpSpPr>
        <p:grpSpPr>
          <a:xfrm>
            <a:off x="23025" y="541949"/>
            <a:ext cx="2778282" cy="281466"/>
            <a:chOff x="-969988" y="2927930"/>
            <a:chExt cx="2778282" cy="281466"/>
          </a:xfrm>
        </p:grpSpPr>
        <p:sp>
          <p:nvSpPr>
            <p:cNvPr id="163" name="Google Shape;163;p6">
              <a:extLst>
                <a:ext uri="{FF2B5EF4-FFF2-40B4-BE49-F238E27FC236}">
                  <a16:creationId xmlns:a16="http://schemas.microsoft.com/office/drawing/2014/main" id="{9F5855E0-A7CB-1647-9528-B0B2EF2EBF73}"/>
                </a:ext>
              </a:extLst>
            </p:cNvPr>
            <p:cNvSpPr/>
            <p:nvPr/>
          </p:nvSpPr>
          <p:spPr>
            <a:xfrm rot="10800000">
              <a:off x="-732847" y="2938565"/>
              <a:ext cx="2304000"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164;p6">
              <a:extLst>
                <a:ext uri="{FF2B5EF4-FFF2-40B4-BE49-F238E27FC236}">
                  <a16:creationId xmlns:a16="http://schemas.microsoft.com/office/drawing/2014/main" id="{AF51A928-EF3B-2FE3-49D1-FBB135DA9B25}"/>
                </a:ext>
              </a:extLst>
            </p:cNvPr>
            <p:cNvSpPr txBox="1"/>
            <p:nvPr/>
          </p:nvSpPr>
          <p:spPr>
            <a:xfrm rot="-5400000">
              <a:off x="303590" y="1941796"/>
              <a:ext cx="231169" cy="2224676"/>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65" name="Google Shape;165;p6">
              <a:extLst>
                <a:ext uri="{FF2B5EF4-FFF2-40B4-BE49-F238E27FC236}">
                  <a16:creationId xmlns:a16="http://schemas.microsoft.com/office/drawing/2014/main" id="{9005112E-99C0-18F9-4556-876206062D4C}"/>
                </a:ext>
              </a:extLst>
            </p:cNvPr>
            <p:cNvSpPr txBox="1"/>
            <p:nvPr/>
          </p:nvSpPr>
          <p:spPr>
            <a:xfrm>
              <a:off x="-969988" y="2927930"/>
              <a:ext cx="2778282"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FFFFFF"/>
                  </a:solidFill>
                  <a:effectLst/>
                  <a:uLnTx/>
                  <a:uFillTx/>
                  <a:latin typeface="Arial"/>
                  <a:ea typeface="Arial"/>
                  <a:cs typeface="Arial"/>
                  <a:sym typeface="Arial"/>
                </a:rPr>
                <a:t>1.2 </a:t>
              </a: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課題解決の基本的アイデア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 name="テキスト ボックス 1">
            <a:extLst>
              <a:ext uri="{FF2B5EF4-FFF2-40B4-BE49-F238E27FC236}">
                <a16:creationId xmlns:a16="http://schemas.microsoft.com/office/drawing/2014/main" id="{515AF5F6-47F3-0AE6-F8EC-A6A7DD10E1A1}"/>
              </a:ext>
            </a:extLst>
          </p:cNvPr>
          <p:cNvSpPr txBox="1"/>
          <p:nvPr/>
        </p:nvSpPr>
        <p:spPr>
          <a:xfrm>
            <a:off x="617577" y="895217"/>
            <a:ext cx="10341293" cy="461665"/>
          </a:xfrm>
          <a:prstGeom prst="rect">
            <a:avLst/>
          </a:prstGeom>
          <a:solidFill>
            <a:schemeClr val="accent2">
              <a:lumMod val="20000"/>
              <a:lumOff val="80000"/>
            </a:schemeClr>
          </a:solid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Arial"/>
                <a:cs typeface="Arial"/>
                <a:sym typeface="Arial"/>
              </a:rPr>
              <a:t>本提案：電磁センサ搭載水中ドローンによる遠隔海洋ゴミ調査の技術実証</a:t>
            </a:r>
          </a:p>
        </p:txBody>
      </p:sp>
      <p:sp>
        <p:nvSpPr>
          <p:cNvPr id="5" name="テキスト ボックス 4">
            <a:extLst>
              <a:ext uri="{FF2B5EF4-FFF2-40B4-BE49-F238E27FC236}">
                <a16:creationId xmlns:a16="http://schemas.microsoft.com/office/drawing/2014/main" id="{7CA96CCF-F648-9485-8E86-8B9FF3AB80F7}"/>
              </a:ext>
            </a:extLst>
          </p:cNvPr>
          <p:cNvSpPr txBox="1"/>
          <p:nvPr/>
        </p:nvSpPr>
        <p:spPr>
          <a:xfrm>
            <a:off x="8317939" y="2022590"/>
            <a:ext cx="3277514"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a:t>
            </a:r>
            <a:r>
              <a:rPr kumimoji="0" lang="ja-JP" altLang="en-US"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  渦電流の減衰パターンを解析、金属がどれくらい深くにあるかを推定可能、</a:t>
            </a:r>
            <a:r>
              <a:rPr kumimoji="0" lang="ja-JP" altLang="en-US" sz="1200" b="1" i="0" u="none" strike="noStrike" kern="0" cap="none" spc="0" normalizeH="0" baseline="0" noProof="0">
                <a:ln>
                  <a:noFill/>
                </a:ln>
                <a:solidFill>
                  <a:srgbClr val="FF0000"/>
                </a:solidFill>
                <a:effectLst/>
                <a:uLnTx/>
                <a:uFillTx/>
                <a:latin typeface="Arial"/>
                <a:ea typeface="ＭＳ Ｐゴシック" panose="020B0600070205080204" pitchFamily="50" charset="-128"/>
                <a:cs typeface="+mn-cs"/>
                <a:sym typeface="Arial"/>
              </a:rPr>
              <a:t>砂や泥に部分的に埋もれた沈殿物でも検出可能。</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a:t>
            </a: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　</a:t>
            </a:r>
            <a:r>
              <a:rPr kumimoji="0" lang="ja-JP" altLang="en-US" sz="1200" b="1" i="0" u="none" strike="noStrike" kern="0" cap="none" spc="0" normalizeH="0" baseline="0" noProof="0">
                <a:ln>
                  <a:noFill/>
                </a:ln>
                <a:solidFill>
                  <a:schemeClr val="tx1"/>
                </a:solidFill>
                <a:effectLst/>
                <a:uLnTx/>
                <a:uFillTx/>
                <a:latin typeface="Arial"/>
                <a:ea typeface="ＭＳ Ｐゴシック" panose="020B0600070205080204" pitchFamily="50" charset="-128"/>
                <a:cs typeface="+mn-cs"/>
                <a:sym typeface="Arial"/>
              </a:rPr>
              <a:t>腐食や減肉（劣化）の検知にも強い</a:t>
            </a:r>
            <a:endParaRPr kumimoji="0" lang="ja-JP" altLang="en-US" sz="1200" b="0" i="0" u="none" strike="noStrike" kern="0" cap="none" spc="0" normalizeH="0" baseline="0" noProof="0">
              <a:ln>
                <a:noFill/>
              </a:ln>
              <a:solidFill>
                <a:schemeClr val="tx1"/>
              </a:solidFill>
              <a:effectLst/>
              <a:uLnTx/>
              <a:uFillTx/>
              <a:latin typeface="Arial"/>
              <a:ea typeface="ＭＳ Ｐゴシック" panose="020B0600070205080204" pitchFamily="50" charset="-128"/>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a:t>
            </a: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　視界や光に依存しない</a:t>
            </a:r>
            <a:endParaRPr kumimoji="0" lang="ja-JP" altLang="en-US"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a:t>
            </a:r>
            <a:r>
              <a:rPr kumimoji="0" lang="ja-JP" altLang="en-US"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　海中の濁りや暗さに左右されず、</a:t>
            </a: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非接触で金属を検出</a:t>
            </a:r>
            <a:r>
              <a:rPr kumimoji="0" lang="ja-JP" altLang="en-US" sz="12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rPr>
              <a:t>できる。</a:t>
            </a:r>
          </a:p>
        </p:txBody>
      </p:sp>
      <p:sp>
        <p:nvSpPr>
          <p:cNvPr id="7" name="テキスト ボックス 6">
            <a:extLst>
              <a:ext uri="{FF2B5EF4-FFF2-40B4-BE49-F238E27FC236}">
                <a16:creationId xmlns:a16="http://schemas.microsoft.com/office/drawing/2014/main" id="{3EBE9880-E3F6-9011-4DD5-5A1EB6EA958D}"/>
              </a:ext>
            </a:extLst>
          </p:cNvPr>
          <p:cNvSpPr txBox="1"/>
          <p:nvPr/>
        </p:nvSpPr>
        <p:spPr>
          <a:xfrm>
            <a:off x="617578" y="1426095"/>
            <a:ext cx="7305543" cy="830997"/>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600" b="0" i="0" u="none" strike="noStrike" kern="0" cap="none" spc="0" normalizeH="0" baseline="0" noProof="0">
                <a:ln>
                  <a:noFill/>
                </a:ln>
                <a:solidFill>
                  <a:srgbClr val="000000"/>
                </a:solidFill>
                <a:effectLst/>
                <a:uLnTx/>
                <a:uFillTx/>
                <a:latin typeface="Arial"/>
                <a:cs typeface="Arial"/>
                <a:sym typeface="Arial"/>
              </a:rPr>
              <a:t>・現場にドローン設置とケーブル取り回しを行う人を配置し、海底調査の準備。</a:t>
            </a:r>
            <a:endParaRPr kumimoji="1" lang="en-US" altLang="ja-JP" sz="16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600" b="0" i="0" u="none" strike="noStrike" kern="0" cap="none" spc="0" normalizeH="0" baseline="0" noProof="0">
                <a:ln>
                  <a:noFill/>
                </a:ln>
                <a:solidFill>
                  <a:srgbClr val="000000"/>
                </a:solidFill>
                <a:effectLst/>
                <a:uLnTx/>
                <a:uFillTx/>
                <a:latin typeface="Arial"/>
                <a:cs typeface="Arial"/>
                <a:sym typeface="Arial"/>
              </a:rPr>
              <a:t>・陸上からドローンを操作し海底ゴミの調査を行う。</a:t>
            </a:r>
            <a:endParaRPr kumimoji="1" lang="en-US" altLang="ja-JP" sz="16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600" b="0" i="0" u="none" strike="noStrike" kern="0" cap="none" spc="0" normalizeH="0" baseline="0" noProof="0">
                <a:ln>
                  <a:noFill/>
                </a:ln>
                <a:solidFill>
                  <a:srgbClr val="000000"/>
                </a:solidFill>
                <a:effectLst/>
                <a:uLnTx/>
                <a:uFillTx/>
                <a:latin typeface="Arial"/>
                <a:cs typeface="Arial"/>
                <a:sym typeface="Arial"/>
              </a:rPr>
              <a:t>・得られたデータを元にゴミの確認、回収に活用する。</a:t>
            </a:r>
          </a:p>
        </p:txBody>
      </p:sp>
      <p:grpSp>
        <p:nvGrpSpPr>
          <p:cNvPr id="40" name="グループ化 39">
            <a:extLst>
              <a:ext uri="{FF2B5EF4-FFF2-40B4-BE49-F238E27FC236}">
                <a16:creationId xmlns:a16="http://schemas.microsoft.com/office/drawing/2014/main" id="{2FAC09F9-2BF5-75CF-D3A5-A6BF3C0E285E}"/>
              </a:ext>
            </a:extLst>
          </p:cNvPr>
          <p:cNvGrpSpPr/>
          <p:nvPr/>
        </p:nvGrpSpPr>
        <p:grpSpPr>
          <a:xfrm>
            <a:off x="554253" y="2177334"/>
            <a:ext cx="7249901" cy="4128084"/>
            <a:chOff x="551318" y="2705080"/>
            <a:chExt cx="6668573" cy="3245810"/>
          </a:xfrm>
        </p:grpSpPr>
        <p:sp>
          <p:nvSpPr>
            <p:cNvPr id="9" name="正方形/長方形 8">
              <a:extLst>
                <a:ext uri="{FF2B5EF4-FFF2-40B4-BE49-F238E27FC236}">
                  <a16:creationId xmlns:a16="http://schemas.microsoft.com/office/drawing/2014/main" id="{A6C1D7B1-0D58-3789-99F3-3D787755CBA6}"/>
                </a:ext>
              </a:extLst>
            </p:cNvPr>
            <p:cNvSpPr/>
            <p:nvPr/>
          </p:nvSpPr>
          <p:spPr>
            <a:xfrm>
              <a:off x="3184006" y="4360856"/>
              <a:ext cx="467145" cy="1590034"/>
            </a:xfrm>
            <a:prstGeom prst="rect">
              <a:avLst/>
            </a:prstGeom>
            <a:solidFill>
              <a:schemeClr val="bg1">
                <a:lumMod val="6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ysClr val="windowText" lastClr="000000"/>
                  </a:solidFill>
                  <a:effectLst/>
                  <a:uLnTx/>
                  <a:uFillTx/>
                  <a:latin typeface="Yu Gothic" panose="020B0400000000000000" pitchFamily="34" charset="-128"/>
                  <a:ea typeface="Yu Gothic" panose="020B0400000000000000" pitchFamily="34" charset="-128"/>
                  <a:cs typeface="+mn-cs"/>
                  <a:sym typeface="Arial"/>
                </a:rPr>
                <a:t>沿岸</a:t>
              </a:r>
            </a:p>
          </p:txBody>
        </p:sp>
        <p:sp>
          <p:nvSpPr>
            <p:cNvPr id="10" name="正方形/長方形 9">
              <a:extLst>
                <a:ext uri="{FF2B5EF4-FFF2-40B4-BE49-F238E27FC236}">
                  <a16:creationId xmlns:a16="http://schemas.microsoft.com/office/drawing/2014/main" id="{4C2B52AE-18E0-D285-7B0F-5A3110812742}"/>
                </a:ext>
              </a:extLst>
            </p:cNvPr>
            <p:cNvSpPr/>
            <p:nvPr/>
          </p:nvSpPr>
          <p:spPr>
            <a:xfrm>
              <a:off x="3651151" y="4469874"/>
              <a:ext cx="3568740" cy="1253530"/>
            </a:xfrm>
            <a:prstGeom prst="rect">
              <a:avLst/>
            </a:prstGeom>
            <a:solidFill>
              <a:schemeClr val="bg2">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11" name="グループ化 10">
              <a:extLst>
                <a:ext uri="{FF2B5EF4-FFF2-40B4-BE49-F238E27FC236}">
                  <a16:creationId xmlns:a16="http://schemas.microsoft.com/office/drawing/2014/main" id="{1BCFFB29-D869-2752-C9A6-C3289F33A0F1}"/>
                </a:ext>
              </a:extLst>
            </p:cNvPr>
            <p:cNvGrpSpPr/>
            <p:nvPr/>
          </p:nvGrpSpPr>
          <p:grpSpPr>
            <a:xfrm rot="1688381">
              <a:off x="5958738" y="5135421"/>
              <a:ext cx="1161535" cy="564074"/>
              <a:chOff x="5495764" y="4250724"/>
              <a:chExt cx="1161535" cy="564074"/>
            </a:xfrm>
            <a:solidFill>
              <a:schemeClr val="accent6">
                <a:lumMod val="60000"/>
                <a:lumOff val="40000"/>
              </a:schemeClr>
            </a:solidFill>
          </p:grpSpPr>
          <p:sp>
            <p:nvSpPr>
              <p:cNvPr id="12" name="正方形/長方形 6">
                <a:extLst>
                  <a:ext uri="{FF2B5EF4-FFF2-40B4-BE49-F238E27FC236}">
                    <a16:creationId xmlns:a16="http://schemas.microsoft.com/office/drawing/2014/main" id="{B642B214-5227-108A-D270-103CBF9AECB1}"/>
                  </a:ext>
                </a:extLst>
              </p:cNvPr>
              <p:cNvSpPr/>
              <p:nvPr/>
            </p:nvSpPr>
            <p:spPr>
              <a:xfrm>
                <a:off x="5495764" y="4468808"/>
                <a:ext cx="1161535" cy="345990"/>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3" name="正方形/長方形 12">
                <a:extLst>
                  <a:ext uri="{FF2B5EF4-FFF2-40B4-BE49-F238E27FC236}">
                    <a16:creationId xmlns:a16="http://schemas.microsoft.com/office/drawing/2014/main" id="{92307A0B-A430-EF64-5C5D-0FC133D88D74}"/>
                  </a:ext>
                </a:extLst>
              </p:cNvPr>
              <p:cNvSpPr/>
              <p:nvPr/>
            </p:nvSpPr>
            <p:spPr>
              <a:xfrm>
                <a:off x="5980670" y="4250724"/>
                <a:ext cx="494271" cy="22242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14" name="テキスト ボックス 13">
              <a:extLst>
                <a:ext uri="{FF2B5EF4-FFF2-40B4-BE49-F238E27FC236}">
                  <a16:creationId xmlns:a16="http://schemas.microsoft.com/office/drawing/2014/main" id="{0106E563-DA23-DBFE-A04C-770A8C330961}"/>
                </a:ext>
              </a:extLst>
            </p:cNvPr>
            <p:cNvSpPr txBox="1"/>
            <p:nvPr/>
          </p:nvSpPr>
          <p:spPr>
            <a:xfrm>
              <a:off x="6134591" y="4869446"/>
              <a:ext cx="723275"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沈没船</a:t>
              </a:r>
            </a:p>
          </p:txBody>
        </p:sp>
        <p:sp>
          <p:nvSpPr>
            <p:cNvPr id="15" name="星 7 14">
              <a:extLst>
                <a:ext uri="{FF2B5EF4-FFF2-40B4-BE49-F238E27FC236}">
                  <a16:creationId xmlns:a16="http://schemas.microsoft.com/office/drawing/2014/main" id="{8094A62C-07C7-B4BB-95F3-6B20BA786F16}"/>
                </a:ext>
              </a:extLst>
            </p:cNvPr>
            <p:cNvSpPr/>
            <p:nvPr/>
          </p:nvSpPr>
          <p:spPr>
            <a:xfrm rot="1033578">
              <a:off x="5631732" y="5399750"/>
              <a:ext cx="543698" cy="429243"/>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6" name="正方形/長方形 15">
              <a:extLst>
                <a:ext uri="{FF2B5EF4-FFF2-40B4-BE49-F238E27FC236}">
                  <a16:creationId xmlns:a16="http://schemas.microsoft.com/office/drawing/2014/main" id="{36ADBAFC-918A-75BE-0201-F420E0C255FA}"/>
                </a:ext>
              </a:extLst>
            </p:cNvPr>
            <p:cNvSpPr/>
            <p:nvPr/>
          </p:nvSpPr>
          <p:spPr>
            <a:xfrm>
              <a:off x="3651151" y="5723404"/>
              <a:ext cx="3568740" cy="219835"/>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ysClr val="windowText" lastClr="000000"/>
                </a:solidFill>
                <a:effectLst/>
                <a:uLnTx/>
                <a:uFillTx/>
                <a:latin typeface="Arial"/>
                <a:ea typeface="ＭＳ Ｐゴシック" panose="020B0600070205080204" pitchFamily="50" charset="-128"/>
                <a:cs typeface="+mn-cs"/>
                <a:sym typeface="Arial"/>
              </a:endParaRPr>
            </a:p>
          </p:txBody>
        </p:sp>
        <p:sp>
          <p:nvSpPr>
            <p:cNvPr id="17" name="円/楕円 16">
              <a:extLst>
                <a:ext uri="{FF2B5EF4-FFF2-40B4-BE49-F238E27FC236}">
                  <a16:creationId xmlns:a16="http://schemas.microsoft.com/office/drawing/2014/main" id="{5D54D0E5-CC10-BDA6-DC34-C86409B22EA8}"/>
                </a:ext>
              </a:extLst>
            </p:cNvPr>
            <p:cNvSpPr/>
            <p:nvPr/>
          </p:nvSpPr>
          <p:spPr>
            <a:xfrm>
              <a:off x="6692797" y="5289786"/>
              <a:ext cx="121008" cy="12311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8" name="円/楕円 17">
              <a:extLst>
                <a:ext uri="{FF2B5EF4-FFF2-40B4-BE49-F238E27FC236}">
                  <a16:creationId xmlns:a16="http://schemas.microsoft.com/office/drawing/2014/main" id="{C14EF1D2-AA0D-28C4-CBCE-507FFF9570CB}"/>
                </a:ext>
              </a:extLst>
            </p:cNvPr>
            <p:cNvSpPr/>
            <p:nvPr/>
          </p:nvSpPr>
          <p:spPr>
            <a:xfrm rot="1136490">
              <a:off x="4791011" y="4680910"/>
              <a:ext cx="666390" cy="275542"/>
            </a:xfrm>
            <a:prstGeom prst="ellipse">
              <a:avLst/>
            </a:prstGeom>
            <a:solidFill>
              <a:schemeClr val="bg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9" name="角丸四角形 18">
              <a:extLst>
                <a:ext uri="{FF2B5EF4-FFF2-40B4-BE49-F238E27FC236}">
                  <a16:creationId xmlns:a16="http://schemas.microsoft.com/office/drawing/2014/main" id="{CF2787E5-3BE4-02D2-CF62-4A013FBDCA8D}"/>
                </a:ext>
              </a:extLst>
            </p:cNvPr>
            <p:cNvSpPr/>
            <p:nvPr/>
          </p:nvSpPr>
          <p:spPr>
            <a:xfrm rot="1224863">
              <a:off x="4893823" y="4948242"/>
              <a:ext cx="329459" cy="93887"/>
            </a:xfrm>
            <a:prstGeom prst="roundRect">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20" name="グラフィックス 19" descr="Wi-Fi 枠線">
              <a:extLst>
                <a:ext uri="{FF2B5EF4-FFF2-40B4-BE49-F238E27FC236}">
                  <a16:creationId xmlns:a16="http://schemas.microsoft.com/office/drawing/2014/main" id="{8E1D6832-3A38-94C7-5091-3EFA6D2870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6893642">
              <a:off x="5008526" y="4696200"/>
              <a:ext cx="980182" cy="980182"/>
            </a:xfrm>
            <a:prstGeom prst="rect">
              <a:avLst/>
            </a:prstGeom>
          </p:spPr>
        </p:pic>
        <p:pic>
          <p:nvPicPr>
            <p:cNvPr id="21" name="グラフィックス 20" descr="ユーザー 単色塗りつぶし">
              <a:extLst>
                <a:ext uri="{FF2B5EF4-FFF2-40B4-BE49-F238E27FC236}">
                  <a16:creationId xmlns:a16="http://schemas.microsoft.com/office/drawing/2014/main" id="{65A1F0AD-F579-4751-23A1-C7FA0738A5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4607" y="3839123"/>
              <a:ext cx="705941" cy="578672"/>
            </a:xfrm>
            <a:prstGeom prst="rect">
              <a:avLst/>
            </a:prstGeom>
          </p:spPr>
        </p:pic>
        <p:cxnSp>
          <p:nvCxnSpPr>
            <p:cNvPr id="22" name="曲線コネクタ 21">
              <a:extLst>
                <a:ext uri="{FF2B5EF4-FFF2-40B4-BE49-F238E27FC236}">
                  <a16:creationId xmlns:a16="http://schemas.microsoft.com/office/drawing/2014/main" id="{025BA2D2-64E8-9A86-C118-069DCD08733C}"/>
                </a:ext>
              </a:extLst>
            </p:cNvPr>
            <p:cNvCxnSpPr>
              <a:cxnSpLocks/>
              <a:endCxn id="18" idx="2"/>
            </p:cNvCxnSpPr>
            <p:nvPr/>
          </p:nvCxnSpPr>
          <p:spPr>
            <a:xfrm rot="16200000" flipH="1">
              <a:off x="4519912" y="4421384"/>
              <a:ext cx="302942" cy="275340"/>
            </a:xfrm>
            <a:prstGeom prst="curvedConnector2">
              <a:avLst/>
            </a:prstGeom>
            <a:ln w="44450"/>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3D1D5F38-571D-1AC5-4B25-42FA7829CABC}"/>
                </a:ext>
              </a:extLst>
            </p:cNvPr>
            <p:cNvSpPr txBox="1"/>
            <p:nvPr/>
          </p:nvSpPr>
          <p:spPr>
            <a:xfrm>
              <a:off x="4224213" y="3375320"/>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クラウド</a:t>
              </a:r>
            </a:p>
          </p:txBody>
        </p:sp>
        <p:grpSp>
          <p:nvGrpSpPr>
            <p:cNvPr id="24" name="グループ化 23">
              <a:extLst>
                <a:ext uri="{FF2B5EF4-FFF2-40B4-BE49-F238E27FC236}">
                  <a16:creationId xmlns:a16="http://schemas.microsoft.com/office/drawing/2014/main" id="{6BD2D973-AE33-6645-3571-20E96502DDAD}"/>
                </a:ext>
              </a:extLst>
            </p:cNvPr>
            <p:cNvGrpSpPr/>
            <p:nvPr/>
          </p:nvGrpSpPr>
          <p:grpSpPr>
            <a:xfrm>
              <a:off x="4222658" y="4181933"/>
              <a:ext cx="622109" cy="325632"/>
              <a:chOff x="7498001" y="3931921"/>
              <a:chExt cx="636818" cy="473825"/>
            </a:xfrm>
          </p:grpSpPr>
          <p:sp>
            <p:nvSpPr>
              <p:cNvPr id="25" name="角丸四角形 24">
                <a:extLst>
                  <a:ext uri="{FF2B5EF4-FFF2-40B4-BE49-F238E27FC236}">
                    <a16:creationId xmlns:a16="http://schemas.microsoft.com/office/drawing/2014/main" id="{35FF54C7-A5E0-5FD8-F63E-2D4D68534824}"/>
                  </a:ext>
                </a:extLst>
              </p:cNvPr>
              <p:cNvSpPr/>
              <p:nvPr/>
            </p:nvSpPr>
            <p:spPr>
              <a:xfrm>
                <a:off x="7498001" y="3978560"/>
                <a:ext cx="636818" cy="381430"/>
              </a:xfrm>
              <a:prstGeom prst="roundRect">
                <a:avLst/>
              </a:prstGeom>
              <a:solidFill>
                <a:schemeClr val="tx1">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26" name="正方形/長方形 25">
                <a:extLst>
                  <a:ext uri="{FF2B5EF4-FFF2-40B4-BE49-F238E27FC236}">
                    <a16:creationId xmlns:a16="http://schemas.microsoft.com/office/drawing/2014/main" id="{7D873838-762D-E8BC-FDCF-B6B9E49E7C00}"/>
                  </a:ext>
                </a:extLst>
              </p:cNvPr>
              <p:cNvSpPr/>
              <p:nvPr/>
            </p:nvSpPr>
            <p:spPr>
              <a:xfrm>
                <a:off x="7642703" y="3931921"/>
                <a:ext cx="49004" cy="473825"/>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27" name="正方形/長方形 26">
                <a:extLst>
                  <a:ext uri="{FF2B5EF4-FFF2-40B4-BE49-F238E27FC236}">
                    <a16:creationId xmlns:a16="http://schemas.microsoft.com/office/drawing/2014/main" id="{FFED23D9-8A5B-22A0-E6F9-61BA74152FE0}"/>
                  </a:ext>
                </a:extLst>
              </p:cNvPr>
              <p:cNvSpPr/>
              <p:nvPr/>
            </p:nvSpPr>
            <p:spPr>
              <a:xfrm>
                <a:off x="7934583" y="3931922"/>
                <a:ext cx="49088" cy="47382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28" name="テキスト ボックス 27">
              <a:extLst>
                <a:ext uri="{FF2B5EF4-FFF2-40B4-BE49-F238E27FC236}">
                  <a16:creationId xmlns:a16="http://schemas.microsoft.com/office/drawing/2014/main" id="{7C24CEAA-5FF5-B7F1-ECBA-478CDF8C4017}"/>
                </a:ext>
              </a:extLst>
            </p:cNvPr>
            <p:cNvSpPr txBox="1"/>
            <p:nvPr/>
          </p:nvSpPr>
          <p:spPr>
            <a:xfrm>
              <a:off x="4995237" y="5519503"/>
              <a:ext cx="790513" cy="21779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金属ゴミ</a:t>
              </a:r>
            </a:p>
          </p:txBody>
        </p:sp>
        <p:sp>
          <p:nvSpPr>
            <p:cNvPr id="29" name="テキスト ボックス 28">
              <a:extLst>
                <a:ext uri="{FF2B5EF4-FFF2-40B4-BE49-F238E27FC236}">
                  <a16:creationId xmlns:a16="http://schemas.microsoft.com/office/drawing/2014/main" id="{57133AC5-5B55-E7FA-D9AD-D530D8C7DACC}"/>
                </a:ext>
              </a:extLst>
            </p:cNvPr>
            <p:cNvSpPr txBox="1"/>
            <p:nvPr/>
          </p:nvSpPr>
          <p:spPr>
            <a:xfrm>
              <a:off x="3915189" y="4698896"/>
              <a:ext cx="1031051" cy="261610"/>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水中ドローン</a:t>
              </a:r>
            </a:p>
          </p:txBody>
        </p:sp>
        <p:sp>
          <p:nvSpPr>
            <p:cNvPr id="30" name="テキスト ボックス 29">
              <a:extLst>
                <a:ext uri="{FF2B5EF4-FFF2-40B4-BE49-F238E27FC236}">
                  <a16:creationId xmlns:a16="http://schemas.microsoft.com/office/drawing/2014/main" id="{D2370D3F-DF53-4915-04A9-F7813E12E04C}"/>
                </a:ext>
              </a:extLst>
            </p:cNvPr>
            <p:cNvSpPr txBox="1"/>
            <p:nvPr/>
          </p:nvSpPr>
          <p:spPr>
            <a:xfrm>
              <a:off x="4206775" y="5039650"/>
              <a:ext cx="1241428" cy="253916"/>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金属探知センサ</a:t>
              </a:r>
            </a:p>
          </p:txBody>
        </p:sp>
        <p:cxnSp>
          <p:nvCxnSpPr>
            <p:cNvPr id="31" name="直線矢印コネクタ 30">
              <a:extLst>
                <a:ext uri="{FF2B5EF4-FFF2-40B4-BE49-F238E27FC236}">
                  <a16:creationId xmlns:a16="http://schemas.microsoft.com/office/drawing/2014/main" id="{AAF0ADA4-26A0-0BEA-4DD0-679C0B7A403E}"/>
                </a:ext>
              </a:extLst>
            </p:cNvPr>
            <p:cNvCxnSpPr>
              <a:cxnSpLocks/>
            </p:cNvCxnSpPr>
            <p:nvPr/>
          </p:nvCxnSpPr>
          <p:spPr>
            <a:xfrm flipH="1" flipV="1">
              <a:off x="4490862" y="3723291"/>
              <a:ext cx="16893" cy="494054"/>
            </a:xfrm>
            <a:prstGeom prst="straightConnector1">
              <a:avLst/>
            </a:prstGeom>
            <a:ln w="63500" cmpd="sng">
              <a:gradFill flip="none" rotWithShape="1">
                <a:gsLst>
                  <a:gs pos="0">
                    <a:srgbClr val="FF0000"/>
                  </a:gs>
                  <a:gs pos="48000">
                    <a:schemeClr val="accent2">
                      <a:lumMod val="97000"/>
                      <a:lumOff val="3000"/>
                    </a:schemeClr>
                  </a:gs>
                  <a:gs pos="100000">
                    <a:schemeClr val="accent2">
                      <a:lumMod val="60000"/>
                      <a:lumOff val="40000"/>
                    </a:schemeClr>
                  </a:gs>
                </a:gsLst>
                <a:lin ang="16200000" scaled="1"/>
                <a:tileRect/>
              </a:gradFill>
              <a:prstDash val="sysDot"/>
              <a:tailEnd type="triangle" w="lg" len="sm"/>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4D29225-69AF-3EBF-5FE4-7E267969397F}"/>
                </a:ext>
              </a:extLst>
            </p:cNvPr>
            <p:cNvCxnSpPr>
              <a:cxnSpLocks/>
            </p:cNvCxnSpPr>
            <p:nvPr/>
          </p:nvCxnSpPr>
          <p:spPr>
            <a:xfrm flipH="1" flipV="1">
              <a:off x="3184006" y="3382286"/>
              <a:ext cx="765605" cy="7218"/>
            </a:xfrm>
            <a:prstGeom prst="straightConnector1">
              <a:avLst/>
            </a:prstGeom>
            <a:ln w="63500" cmpd="sng">
              <a:solidFill>
                <a:srgbClr val="FF0000"/>
              </a:soli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D118582D-BC24-CA70-C34F-7B42B0964B15}"/>
                </a:ext>
              </a:extLst>
            </p:cNvPr>
            <p:cNvSpPr txBox="1"/>
            <p:nvPr/>
          </p:nvSpPr>
          <p:spPr>
            <a:xfrm>
              <a:off x="4240393" y="2781678"/>
              <a:ext cx="1261884"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データを処理</a:t>
              </a:r>
            </a:p>
          </p:txBody>
        </p:sp>
        <p:sp>
          <p:nvSpPr>
            <p:cNvPr id="36" name="テキスト ボックス 35">
              <a:extLst>
                <a:ext uri="{FF2B5EF4-FFF2-40B4-BE49-F238E27FC236}">
                  <a16:creationId xmlns:a16="http://schemas.microsoft.com/office/drawing/2014/main" id="{D5149AC0-F7FE-2265-18D8-609149797593}"/>
                </a:ext>
              </a:extLst>
            </p:cNvPr>
            <p:cNvSpPr txBox="1"/>
            <p:nvPr/>
          </p:nvSpPr>
          <p:spPr>
            <a:xfrm>
              <a:off x="551318" y="3323660"/>
              <a:ext cx="2544069" cy="24199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GPS,QGIS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と連動、マッピング</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37" name="テキスト ボックス 36">
              <a:extLst>
                <a:ext uri="{FF2B5EF4-FFF2-40B4-BE49-F238E27FC236}">
                  <a16:creationId xmlns:a16="http://schemas.microsoft.com/office/drawing/2014/main" id="{009EF1C6-0AEC-C7B9-A467-F4B6BF66B1FD}"/>
                </a:ext>
              </a:extLst>
            </p:cNvPr>
            <p:cNvSpPr txBox="1"/>
            <p:nvPr/>
          </p:nvSpPr>
          <p:spPr>
            <a:xfrm>
              <a:off x="3055796" y="3713492"/>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ドローン操縦者</a:t>
              </a:r>
            </a:p>
          </p:txBody>
        </p:sp>
        <p:sp>
          <p:nvSpPr>
            <p:cNvPr id="38" name="テキスト ボックス 37">
              <a:extLst>
                <a:ext uri="{FF2B5EF4-FFF2-40B4-BE49-F238E27FC236}">
                  <a16:creationId xmlns:a16="http://schemas.microsoft.com/office/drawing/2014/main" id="{520B64DE-FA0B-44AA-E530-5949682CB65A}"/>
                </a:ext>
              </a:extLst>
            </p:cNvPr>
            <p:cNvSpPr txBox="1"/>
            <p:nvPr/>
          </p:nvSpPr>
          <p:spPr>
            <a:xfrm>
              <a:off x="4808412" y="4196160"/>
              <a:ext cx="1133630" cy="20569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ペリカンケース</a:t>
              </a:r>
            </a:p>
          </p:txBody>
        </p:sp>
        <p:pic>
          <p:nvPicPr>
            <p:cNvPr id="39" name="グラフィックス 38" descr="雲 枠線">
              <a:extLst>
                <a:ext uri="{FF2B5EF4-FFF2-40B4-BE49-F238E27FC236}">
                  <a16:creationId xmlns:a16="http://schemas.microsoft.com/office/drawing/2014/main" id="{53201415-47BE-4FCC-57C1-8157A3F6719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27169" y="2705080"/>
              <a:ext cx="1446845" cy="1329614"/>
            </a:xfrm>
            <a:prstGeom prst="rect">
              <a:avLst/>
            </a:prstGeom>
          </p:spPr>
        </p:pic>
      </p:grpSp>
      <p:pic>
        <p:nvPicPr>
          <p:cNvPr id="42" name="Picture 4">
            <a:extLst>
              <a:ext uri="{FF2B5EF4-FFF2-40B4-BE49-F238E27FC236}">
                <a16:creationId xmlns:a16="http://schemas.microsoft.com/office/drawing/2014/main" id="{380918DB-D25E-C5AA-2CAB-EA81B02A4E82}"/>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5209" t="21702" r="18004" b="22980"/>
          <a:stretch/>
        </p:blipFill>
        <p:spPr bwMode="auto">
          <a:xfrm rot="16200000">
            <a:off x="8165334" y="3319415"/>
            <a:ext cx="1088064" cy="1417624"/>
          </a:xfrm>
          <a:prstGeom prst="rect">
            <a:avLst/>
          </a:prstGeom>
          <a:noFill/>
          <a:extLst>
            <a:ext uri="{909E8E84-426E-40DD-AFC4-6F175D3DCCD1}">
              <a14:hiddenFill xmlns:a14="http://schemas.microsoft.com/office/drawing/2010/main">
                <a:solidFill>
                  <a:srgbClr val="FFFFFF"/>
                </a:solidFill>
              </a14:hiddenFill>
            </a:ext>
          </a:extLst>
        </p:spPr>
      </p:pic>
      <p:sp>
        <p:nvSpPr>
          <p:cNvPr id="43" name="直方体 42">
            <a:extLst>
              <a:ext uri="{FF2B5EF4-FFF2-40B4-BE49-F238E27FC236}">
                <a16:creationId xmlns:a16="http://schemas.microsoft.com/office/drawing/2014/main" id="{69B24843-3D9D-2E6E-53FA-A7BBBD09D158}"/>
              </a:ext>
            </a:extLst>
          </p:cNvPr>
          <p:cNvSpPr/>
          <p:nvPr/>
        </p:nvSpPr>
        <p:spPr>
          <a:xfrm>
            <a:off x="8382695" y="5216494"/>
            <a:ext cx="2918271" cy="1076275"/>
          </a:xfrm>
          <a:prstGeom prst="cube">
            <a:avLst>
              <a:gd name="adj" fmla="val 82747"/>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56" name="グループ化 55">
            <a:extLst>
              <a:ext uri="{FF2B5EF4-FFF2-40B4-BE49-F238E27FC236}">
                <a16:creationId xmlns:a16="http://schemas.microsoft.com/office/drawing/2014/main" id="{E03B1139-129D-424D-616F-20D2AF1E9C60}"/>
              </a:ext>
            </a:extLst>
          </p:cNvPr>
          <p:cNvGrpSpPr/>
          <p:nvPr/>
        </p:nvGrpSpPr>
        <p:grpSpPr>
          <a:xfrm>
            <a:off x="9202534" y="5308763"/>
            <a:ext cx="1332436" cy="698378"/>
            <a:chOff x="9196059" y="5521586"/>
            <a:chExt cx="1332436" cy="698378"/>
          </a:xfrm>
        </p:grpSpPr>
        <p:sp>
          <p:nvSpPr>
            <p:cNvPr id="44" name="ドーナツ 43">
              <a:extLst>
                <a:ext uri="{FF2B5EF4-FFF2-40B4-BE49-F238E27FC236}">
                  <a16:creationId xmlns:a16="http://schemas.microsoft.com/office/drawing/2014/main" id="{F791F13A-13F6-85AA-E74F-32C7413CD8CD}"/>
                </a:ext>
              </a:extLst>
            </p:cNvPr>
            <p:cNvSpPr/>
            <p:nvPr/>
          </p:nvSpPr>
          <p:spPr>
            <a:xfrm>
              <a:off x="9196059" y="5521586"/>
              <a:ext cx="1332436" cy="698378"/>
            </a:xfrm>
            <a:prstGeom prst="donut">
              <a:avLst>
                <a:gd name="adj" fmla="val 0"/>
              </a:avLst>
            </a:prstGeom>
            <a:solidFill>
              <a:srgbClr val="FF0000"/>
            </a:solidFill>
            <a:ln>
              <a:solidFill>
                <a:srgbClr val="A7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6" name="ドーナツ 45">
              <a:extLst>
                <a:ext uri="{FF2B5EF4-FFF2-40B4-BE49-F238E27FC236}">
                  <a16:creationId xmlns:a16="http://schemas.microsoft.com/office/drawing/2014/main" id="{592F6999-4554-6666-1F8F-14B6D609DE13}"/>
                </a:ext>
              </a:extLst>
            </p:cNvPr>
            <p:cNvSpPr/>
            <p:nvPr/>
          </p:nvSpPr>
          <p:spPr>
            <a:xfrm>
              <a:off x="9348390" y="5587024"/>
              <a:ext cx="1027773" cy="567501"/>
            </a:xfrm>
            <a:prstGeom prst="donut">
              <a:avLst>
                <a:gd name="adj" fmla="val 0"/>
              </a:avLst>
            </a:prstGeom>
            <a:solidFill>
              <a:srgbClr val="FF0000"/>
            </a:solidFill>
            <a:ln>
              <a:solidFill>
                <a:srgbClr val="A7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7" name="ドーナツ 46">
              <a:extLst>
                <a:ext uri="{FF2B5EF4-FFF2-40B4-BE49-F238E27FC236}">
                  <a16:creationId xmlns:a16="http://schemas.microsoft.com/office/drawing/2014/main" id="{958AF884-D047-338F-8EF8-482AA9DBC8DB}"/>
                </a:ext>
              </a:extLst>
            </p:cNvPr>
            <p:cNvSpPr/>
            <p:nvPr/>
          </p:nvSpPr>
          <p:spPr>
            <a:xfrm>
              <a:off x="9483844" y="5650137"/>
              <a:ext cx="773810" cy="433425"/>
            </a:xfrm>
            <a:prstGeom prst="donut">
              <a:avLst>
                <a:gd name="adj" fmla="val 0"/>
              </a:avLst>
            </a:prstGeom>
            <a:solidFill>
              <a:srgbClr val="FF0000"/>
            </a:solidFill>
            <a:ln>
              <a:solidFill>
                <a:srgbClr val="A7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8" name="ドーナツ 47">
              <a:extLst>
                <a:ext uri="{FF2B5EF4-FFF2-40B4-BE49-F238E27FC236}">
                  <a16:creationId xmlns:a16="http://schemas.microsoft.com/office/drawing/2014/main" id="{E4C87615-6D9F-E60B-E33D-A3E6B5F0948D}"/>
                </a:ext>
              </a:extLst>
            </p:cNvPr>
            <p:cNvSpPr/>
            <p:nvPr/>
          </p:nvSpPr>
          <p:spPr>
            <a:xfrm>
              <a:off x="9616746" y="5708314"/>
              <a:ext cx="521029" cy="315978"/>
            </a:xfrm>
            <a:prstGeom prst="donut">
              <a:avLst>
                <a:gd name="adj" fmla="val 0"/>
              </a:avLst>
            </a:prstGeom>
            <a:solidFill>
              <a:srgbClr val="FF0000"/>
            </a:solidFill>
            <a:ln>
              <a:solidFill>
                <a:srgbClr val="A7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9" name="ドーナツ 48">
              <a:extLst>
                <a:ext uri="{FF2B5EF4-FFF2-40B4-BE49-F238E27FC236}">
                  <a16:creationId xmlns:a16="http://schemas.microsoft.com/office/drawing/2014/main" id="{EAE2C042-35F8-417E-84A6-3898281E112D}"/>
                </a:ext>
              </a:extLst>
            </p:cNvPr>
            <p:cNvSpPr/>
            <p:nvPr/>
          </p:nvSpPr>
          <p:spPr>
            <a:xfrm>
              <a:off x="9718345" y="5773089"/>
              <a:ext cx="321005" cy="189693"/>
            </a:xfrm>
            <a:prstGeom prst="donut">
              <a:avLst>
                <a:gd name="adj" fmla="val 0"/>
              </a:avLst>
            </a:prstGeom>
            <a:solidFill>
              <a:srgbClr val="FF0000"/>
            </a:solidFill>
            <a:ln>
              <a:solidFill>
                <a:srgbClr val="A7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51" name="テキスト ボックス 50">
            <a:extLst>
              <a:ext uri="{FF2B5EF4-FFF2-40B4-BE49-F238E27FC236}">
                <a16:creationId xmlns:a16="http://schemas.microsoft.com/office/drawing/2014/main" id="{0AB9427F-D159-E382-10D3-6385683DFD3E}"/>
              </a:ext>
            </a:extLst>
          </p:cNvPr>
          <p:cNvSpPr txBox="1"/>
          <p:nvPr/>
        </p:nvSpPr>
        <p:spPr>
          <a:xfrm>
            <a:off x="10267829" y="4384293"/>
            <a:ext cx="126188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センサコイル</a:t>
            </a:r>
          </a:p>
        </p:txBody>
      </p:sp>
      <p:sp>
        <p:nvSpPr>
          <p:cNvPr id="52" name="テキスト ボックス 51">
            <a:extLst>
              <a:ext uri="{FF2B5EF4-FFF2-40B4-BE49-F238E27FC236}">
                <a16:creationId xmlns:a16="http://schemas.microsoft.com/office/drawing/2014/main" id="{72F98DC7-F661-5F53-5655-24A79DA42B9E}"/>
              </a:ext>
            </a:extLst>
          </p:cNvPr>
          <p:cNvSpPr txBox="1"/>
          <p:nvPr/>
        </p:nvSpPr>
        <p:spPr>
          <a:xfrm>
            <a:off x="8635850" y="5787813"/>
            <a:ext cx="723275"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w="1270">
                  <a:noFill/>
                </a:ln>
                <a:solidFill>
                  <a:srgbClr val="000000"/>
                </a:solidFill>
                <a:effectLst/>
                <a:uLnTx/>
                <a:uFillTx/>
                <a:latin typeface="Yu Gothic" panose="020B0400000000000000" pitchFamily="34" charset="-128"/>
                <a:ea typeface="Yu Gothic" panose="020B0400000000000000" pitchFamily="34" charset="-128"/>
                <a:cs typeface="Arial"/>
                <a:sym typeface="Arial"/>
              </a:rPr>
              <a:t>渦電流</a:t>
            </a:r>
          </a:p>
        </p:txBody>
      </p:sp>
      <p:sp>
        <p:nvSpPr>
          <p:cNvPr id="53" name="テキスト ボックス 52">
            <a:extLst>
              <a:ext uri="{FF2B5EF4-FFF2-40B4-BE49-F238E27FC236}">
                <a16:creationId xmlns:a16="http://schemas.microsoft.com/office/drawing/2014/main" id="{6BB7F2E4-C388-1AEA-EA0D-5FA5854D355F}"/>
              </a:ext>
            </a:extLst>
          </p:cNvPr>
          <p:cNvSpPr txBox="1"/>
          <p:nvPr/>
        </p:nvSpPr>
        <p:spPr>
          <a:xfrm>
            <a:off x="10985974" y="5649383"/>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a:t>
            </a:r>
          </a:p>
        </p:txBody>
      </p:sp>
      <p:sp>
        <p:nvSpPr>
          <p:cNvPr id="59" name="稲妻 58">
            <a:extLst>
              <a:ext uri="{FF2B5EF4-FFF2-40B4-BE49-F238E27FC236}">
                <a16:creationId xmlns:a16="http://schemas.microsoft.com/office/drawing/2014/main" id="{C9825134-19C8-BE1E-20B9-56B48F0ED16E}"/>
              </a:ext>
            </a:extLst>
          </p:cNvPr>
          <p:cNvSpPr/>
          <p:nvPr/>
        </p:nvSpPr>
        <p:spPr>
          <a:xfrm rot="1385131">
            <a:off x="9672581" y="4800543"/>
            <a:ext cx="383288" cy="806709"/>
          </a:xfrm>
          <a:prstGeom prst="lightningBolt">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50" name="円柱 49">
            <a:extLst>
              <a:ext uri="{FF2B5EF4-FFF2-40B4-BE49-F238E27FC236}">
                <a16:creationId xmlns:a16="http://schemas.microsoft.com/office/drawing/2014/main" id="{0972BE56-C27B-4B7E-4DDC-AC0774A7C9FA}"/>
              </a:ext>
            </a:extLst>
          </p:cNvPr>
          <p:cNvSpPr/>
          <p:nvPr/>
        </p:nvSpPr>
        <p:spPr>
          <a:xfrm>
            <a:off x="9507012" y="4227144"/>
            <a:ext cx="734466" cy="672282"/>
          </a:xfrm>
          <a:prstGeom prst="can">
            <a:avLst>
              <a:gd name="adj" fmla="val 31338"/>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61" name="図 60" descr="マップ&#10;&#10;AI によって生成されたコンテンツは間違っている可能性があります。">
            <a:extLst>
              <a:ext uri="{FF2B5EF4-FFF2-40B4-BE49-F238E27FC236}">
                <a16:creationId xmlns:a16="http://schemas.microsoft.com/office/drawing/2014/main" id="{BAF76FBC-BF1A-33D4-FD6F-8019BB7BD193}"/>
              </a:ext>
            </a:extLst>
          </p:cNvPr>
          <p:cNvPicPr>
            <a:picLocks noChangeAspect="1"/>
          </p:cNvPicPr>
          <p:nvPr/>
        </p:nvPicPr>
        <p:blipFill>
          <a:blip r:embed="rId11"/>
          <a:stretch>
            <a:fillRect/>
          </a:stretch>
        </p:blipFill>
        <p:spPr>
          <a:xfrm>
            <a:off x="442328" y="3457286"/>
            <a:ext cx="2857584" cy="2408771"/>
          </a:xfrm>
          <a:prstGeom prst="rect">
            <a:avLst/>
          </a:prstGeom>
        </p:spPr>
      </p:pic>
      <p:pic>
        <p:nvPicPr>
          <p:cNvPr id="128" name="グラフィックス 127" descr="マーカー 単色塗りつぶし">
            <a:extLst>
              <a:ext uri="{FF2B5EF4-FFF2-40B4-BE49-F238E27FC236}">
                <a16:creationId xmlns:a16="http://schemas.microsoft.com/office/drawing/2014/main" id="{C60AA94C-E14F-5A9E-8AA1-9F9AADE13DB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69295" y="3499620"/>
            <a:ext cx="1040755" cy="1040755"/>
          </a:xfrm>
          <a:prstGeom prst="rect">
            <a:avLst/>
          </a:prstGeom>
        </p:spPr>
      </p:pic>
      <p:pic>
        <p:nvPicPr>
          <p:cNvPr id="129" name="グラフィックス 128" descr="マーカー 単色塗りつぶし">
            <a:extLst>
              <a:ext uri="{FF2B5EF4-FFF2-40B4-BE49-F238E27FC236}">
                <a16:creationId xmlns:a16="http://schemas.microsoft.com/office/drawing/2014/main" id="{52A25432-C061-1DCE-DA87-28E87F9DF34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97106" y="3700118"/>
            <a:ext cx="1040755" cy="1040755"/>
          </a:xfrm>
          <a:prstGeom prst="rect">
            <a:avLst/>
          </a:prstGeom>
        </p:spPr>
      </p:pic>
      <p:pic>
        <p:nvPicPr>
          <p:cNvPr id="130" name="グラフィックス 129" descr="マーカー 単色塗りつぶし">
            <a:extLst>
              <a:ext uri="{FF2B5EF4-FFF2-40B4-BE49-F238E27FC236}">
                <a16:creationId xmlns:a16="http://schemas.microsoft.com/office/drawing/2014/main" id="{F98D5486-C41C-8CF9-089F-A688209EB8F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37901" y="4671424"/>
            <a:ext cx="1040755" cy="1040755"/>
          </a:xfrm>
          <a:prstGeom prst="rect">
            <a:avLst/>
          </a:prstGeom>
        </p:spPr>
      </p:pic>
      <p:pic>
        <p:nvPicPr>
          <p:cNvPr id="133" name="Picture 8" descr="https://gigazine.net/news/20221020-nazi-shipwreck-environmental-damage/">
            <a:extLst>
              <a:ext uri="{FF2B5EF4-FFF2-40B4-BE49-F238E27FC236}">
                <a16:creationId xmlns:a16="http://schemas.microsoft.com/office/drawing/2014/main" id="{A18B6E8D-8464-4803-749D-EDA744C74411}"/>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5243" t="7812" r="16468" b="10399"/>
          <a:stretch/>
        </p:blipFill>
        <p:spPr bwMode="auto">
          <a:xfrm>
            <a:off x="936665" y="3569933"/>
            <a:ext cx="886131" cy="596986"/>
          </a:xfrm>
          <a:prstGeom prst="rect">
            <a:avLst/>
          </a:prstGeom>
          <a:noFill/>
          <a:ln w="25400" cap="rnd">
            <a:solidFill>
              <a:schemeClr val="tx1"/>
            </a:solidFill>
            <a:bevel/>
          </a:ln>
          <a:extLst>
            <a:ext uri="{909E8E84-426E-40DD-AFC4-6F175D3DCCD1}">
              <a14:hiddenFill xmlns:a14="http://schemas.microsoft.com/office/drawing/2010/main">
                <a:solidFill>
                  <a:srgbClr val="FFFFFF"/>
                </a:solidFill>
              </a14:hiddenFill>
            </a:ext>
          </a:extLst>
        </p:spPr>
      </p:pic>
      <p:pic>
        <p:nvPicPr>
          <p:cNvPr id="2054" name="Picture 6" descr="衝撃】捨てられたはずの自転車が、大量の魚のマンションと化し…【海底ごみ拾い 前編】 - YouTube">
            <a:extLst>
              <a:ext uri="{FF2B5EF4-FFF2-40B4-BE49-F238E27FC236}">
                <a16:creationId xmlns:a16="http://schemas.microsoft.com/office/drawing/2014/main" id="{85C33C2A-1578-949B-8CBF-91200C65F7B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83814" y="3792571"/>
            <a:ext cx="1052197" cy="591201"/>
          </a:xfrm>
          <a:prstGeom prst="rect">
            <a:avLst/>
          </a:prstGeom>
          <a:noFill/>
          <a:ln w="25400" cap="rnd">
            <a:solidFill>
              <a:schemeClr val="tx1"/>
            </a:solidFill>
            <a:bevel/>
          </a:ln>
          <a:extLst>
            <a:ext uri="{909E8E84-426E-40DD-AFC4-6F175D3DCCD1}">
              <a14:hiddenFill xmlns:a14="http://schemas.microsoft.com/office/drawing/2010/main">
                <a:solidFill>
                  <a:srgbClr val="FFFFFF"/>
                </a:solidFill>
              </a14:hiddenFill>
            </a:ext>
          </a:extLst>
        </p:spPr>
      </p:pic>
      <p:pic>
        <p:nvPicPr>
          <p:cNvPr id="2056" name="Picture 8" descr="富士フイルムフォトサロン企画展 鍵井靖章写真展「3.11- あの日から」 | フジフイルムスクエア（FUJIFILM SQUARE）">
            <a:extLst>
              <a:ext uri="{FF2B5EF4-FFF2-40B4-BE49-F238E27FC236}">
                <a16:creationId xmlns:a16="http://schemas.microsoft.com/office/drawing/2014/main" id="{1456BD03-36B3-7579-C912-629B5F5A23D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47925" y="4625522"/>
            <a:ext cx="1052197" cy="702189"/>
          </a:xfrm>
          <a:prstGeom prst="rect">
            <a:avLst/>
          </a:prstGeom>
          <a:noFill/>
          <a:ln w="28575" cap="rnd">
            <a:solidFill>
              <a:schemeClr val="tx1"/>
            </a:solidFill>
            <a:bevel/>
          </a:ln>
          <a:extLst>
            <a:ext uri="{909E8E84-426E-40DD-AFC4-6F175D3DCCD1}">
              <a14:hiddenFill xmlns:a14="http://schemas.microsoft.com/office/drawing/2010/main">
                <a:solidFill>
                  <a:srgbClr val="FFFFFF"/>
                </a:solidFill>
              </a14:hiddenFill>
            </a:ext>
          </a:extLst>
        </p:spPr>
      </p:pic>
      <p:sp>
        <p:nvSpPr>
          <p:cNvPr id="135" name="テキスト ボックス 134">
            <a:extLst>
              <a:ext uri="{FF2B5EF4-FFF2-40B4-BE49-F238E27FC236}">
                <a16:creationId xmlns:a16="http://schemas.microsoft.com/office/drawing/2014/main" id="{5D319BDA-335F-2715-E8F3-5A28E4395B2D}"/>
              </a:ext>
            </a:extLst>
          </p:cNvPr>
          <p:cNvSpPr txBox="1"/>
          <p:nvPr/>
        </p:nvSpPr>
        <p:spPr>
          <a:xfrm>
            <a:off x="8568497" y="1500128"/>
            <a:ext cx="295465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Arial"/>
                <a:cs typeface="Arial"/>
                <a:sym typeface="Arial"/>
              </a:rPr>
              <a:t>パルス渦電流センサ</a:t>
            </a:r>
          </a:p>
        </p:txBody>
      </p:sp>
      <p:sp>
        <p:nvSpPr>
          <p:cNvPr id="4" name="Freeform 24">
            <a:extLst>
              <a:ext uri="{FF2B5EF4-FFF2-40B4-BE49-F238E27FC236}">
                <a16:creationId xmlns:a16="http://schemas.microsoft.com/office/drawing/2014/main" id="{4394C188-CFBF-FC9F-38DD-3F98C8E4804C}"/>
              </a:ext>
            </a:extLst>
          </p:cNvPr>
          <p:cNvSpPr/>
          <p:nvPr/>
        </p:nvSpPr>
        <p:spPr>
          <a:xfrm>
            <a:off x="6347946" y="2966494"/>
            <a:ext cx="865543" cy="736250"/>
          </a:xfrm>
          <a:custGeom>
            <a:avLst/>
            <a:gdLst/>
            <a:ahLst/>
            <a:cxnLst/>
            <a:rect l="l" t="t" r="r" b="b"/>
            <a:pathLst>
              <a:path w="1918012" h="1558821">
                <a:moveTo>
                  <a:pt x="0" y="0"/>
                </a:moveTo>
                <a:lnTo>
                  <a:pt x="1918013" y="0"/>
                </a:lnTo>
                <a:lnTo>
                  <a:pt x="1918013" y="1558821"/>
                </a:lnTo>
                <a:lnTo>
                  <a:pt x="0" y="1558821"/>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8" name="TextBox 40">
            <a:extLst>
              <a:ext uri="{FF2B5EF4-FFF2-40B4-BE49-F238E27FC236}">
                <a16:creationId xmlns:a16="http://schemas.microsoft.com/office/drawing/2014/main" id="{C5946D6D-82B2-8BFE-32D9-3D6D7DCD7B0E}"/>
              </a:ext>
            </a:extLst>
          </p:cNvPr>
          <p:cNvSpPr txBox="1"/>
          <p:nvPr/>
        </p:nvSpPr>
        <p:spPr>
          <a:xfrm>
            <a:off x="5906644" y="2551279"/>
            <a:ext cx="1753890" cy="21281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ct val="0"/>
              </a:spcBef>
              <a:spcAft>
                <a:spcPts val="0"/>
              </a:spcAft>
              <a:buClr>
                <a:srgbClr val="000000"/>
              </a:buClr>
              <a:buSzTx/>
              <a:buFont typeface="Arial"/>
              <a:buNone/>
              <a:tabLst/>
              <a:defRPr/>
            </a:pPr>
            <a:r>
              <a:rPr kumimoji="0" lang="en-US" sz="1266" b="0" i="0" u="none" strike="noStrike" kern="1200" cap="none" spc="0" normalizeH="0" baseline="0" noProof="0">
                <a:ln>
                  <a:noFill/>
                </a:ln>
                <a:solidFill>
                  <a:srgbClr val="000000"/>
                </a:solidFill>
                <a:effectLst/>
                <a:uLnTx/>
                <a:uFillTx/>
                <a:latin typeface="Rounded M+"/>
                <a:ea typeface="Rounded M+"/>
                <a:cs typeface="Rounded M+"/>
                <a:sym typeface="Rounded M+"/>
              </a:rPr>
              <a:t>GPSでの位置情報の取得</a:t>
            </a:r>
          </a:p>
        </p:txBody>
      </p:sp>
      <p:pic>
        <p:nvPicPr>
          <p:cNvPr id="32" name="図 31" descr="アイコン&#10;&#10;AI 生成コンテンツは間違っている可能性があります。">
            <a:extLst>
              <a:ext uri="{FF2B5EF4-FFF2-40B4-BE49-F238E27FC236}">
                <a16:creationId xmlns:a16="http://schemas.microsoft.com/office/drawing/2014/main" id="{19EF431A-1E2C-F07E-ED33-633C89755287}"/>
              </a:ext>
            </a:extLst>
          </p:cNvPr>
          <p:cNvPicPr>
            <a:picLocks noChangeAspect="1"/>
          </p:cNvPicPr>
          <p:nvPr/>
        </p:nvPicPr>
        <p:blipFill>
          <a:blip r:embed="rId23"/>
          <a:stretch>
            <a:fillRect/>
          </a:stretch>
        </p:blipFill>
        <p:spPr>
          <a:xfrm>
            <a:off x="558072" y="5427587"/>
            <a:ext cx="1179034" cy="758441"/>
          </a:xfrm>
          <a:prstGeom prst="rect">
            <a:avLst/>
          </a:prstGeom>
        </p:spPr>
      </p:pic>
    </p:spTree>
    <p:extLst>
      <p:ext uri="{BB962C8B-B14F-4D97-AF65-F5344CB8AC3E}">
        <p14:creationId xmlns:p14="http://schemas.microsoft.com/office/powerpoint/2010/main" val="239671924"/>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A382C355-F594-B7AC-FB0D-5671E0CCDBDB}"/>
            </a:ext>
          </a:extLst>
        </p:cNvPr>
        <p:cNvGrpSpPr/>
        <p:nvPr/>
      </p:nvGrpSpPr>
      <p:grpSpPr>
        <a:xfrm>
          <a:off x="0" y="0"/>
          <a:ext cx="0" cy="0"/>
          <a:chOff x="0" y="0"/>
          <a:chExt cx="0" cy="0"/>
        </a:xfrm>
      </p:grpSpPr>
      <p:sp>
        <p:nvSpPr>
          <p:cNvPr id="154" name="Google Shape;154;p6">
            <a:extLst>
              <a:ext uri="{FF2B5EF4-FFF2-40B4-BE49-F238E27FC236}">
                <a16:creationId xmlns:a16="http://schemas.microsoft.com/office/drawing/2014/main" id="{6CAF0ED2-2296-95FB-1D1F-44E099BD2047}"/>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55" name="Google Shape;155;p6">
            <a:extLst>
              <a:ext uri="{FF2B5EF4-FFF2-40B4-BE49-F238E27FC236}">
                <a16:creationId xmlns:a16="http://schemas.microsoft.com/office/drawing/2014/main" id="{08659BAC-100F-5BDC-45E1-4E6A26AF2750}"/>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第１章　今回取り組む地域課題 　</a:t>
            </a:r>
            <a:endParaRPr>
              <a:solidFill>
                <a:srgbClr val="54C1DF"/>
              </a:solidFill>
            </a:endParaRPr>
          </a:p>
        </p:txBody>
      </p:sp>
      <p:grpSp>
        <p:nvGrpSpPr>
          <p:cNvPr id="162" name="Google Shape;162;p6">
            <a:extLst>
              <a:ext uri="{FF2B5EF4-FFF2-40B4-BE49-F238E27FC236}">
                <a16:creationId xmlns:a16="http://schemas.microsoft.com/office/drawing/2014/main" id="{8885C0AD-CD31-DD4B-47E6-80D9B36B7AC9}"/>
              </a:ext>
            </a:extLst>
          </p:cNvPr>
          <p:cNvGrpSpPr/>
          <p:nvPr/>
        </p:nvGrpSpPr>
        <p:grpSpPr>
          <a:xfrm>
            <a:off x="23025" y="541949"/>
            <a:ext cx="2778282" cy="281466"/>
            <a:chOff x="-969988" y="2927930"/>
            <a:chExt cx="2778282" cy="281466"/>
          </a:xfrm>
        </p:grpSpPr>
        <p:sp>
          <p:nvSpPr>
            <p:cNvPr id="163" name="Google Shape;163;p6">
              <a:extLst>
                <a:ext uri="{FF2B5EF4-FFF2-40B4-BE49-F238E27FC236}">
                  <a16:creationId xmlns:a16="http://schemas.microsoft.com/office/drawing/2014/main" id="{5C05957D-88A2-A20E-63BF-E5B960FC1B08}"/>
                </a:ext>
              </a:extLst>
            </p:cNvPr>
            <p:cNvSpPr/>
            <p:nvPr/>
          </p:nvSpPr>
          <p:spPr>
            <a:xfrm rot="10800000">
              <a:off x="-732847" y="2938565"/>
              <a:ext cx="2304000"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164;p6">
              <a:extLst>
                <a:ext uri="{FF2B5EF4-FFF2-40B4-BE49-F238E27FC236}">
                  <a16:creationId xmlns:a16="http://schemas.microsoft.com/office/drawing/2014/main" id="{36A7E28F-4971-89E7-60FC-74FE9C649DA4}"/>
                </a:ext>
              </a:extLst>
            </p:cNvPr>
            <p:cNvSpPr txBox="1"/>
            <p:nvPr/>
          </p:nvSpPr>
          <p:spPr>
            <a:xfrm rot="-5400000">
              <a:off x="303590" y="1941796"/>
              <a:ext cx="231169" cy="2224676"/>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65" name="Google Shape;165;p6">
              <a:extLst>
                <a:ext uri="{FF2B5EF4-FFF2-40B4-BE49-F238E27FC236}">
                  <a16:creationId xmlns:a16="http://schemas.microsoft.com/office/drawing/2014/main" id="{03ABF256-6396-CFE7-3B3B-5D54F01637A5}"/>
                </a:ext>
              </a:extLst>
            </p:cNvPr>
            <p:cNvSpPr txBox="1"/>
            <p:nvPr/>
          </p:nvSpPr>
          <p:spPr>
            <a:xfrm>
              <a:off x="-969988" y="2927930"/>
              <a:ext cx="2778282"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FFFFFF"/>
                  </a:solidFill>
                  <a:effectLst/>
                  <a:uLnTx/>
                  <a:uFillTx/>
                  <a:latin typeface="Arial"/>
                  <a:ea typeface="Arial"/>
                  <a:cs typeface="Arial"/>
                  <a:sym typeface="Arial"/>
                </a:rPr>
                <a:t>1.2 </a:t>
              </a: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課題解決の基本的アイデア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1" name="グループ化 60">
            <a:extLst>
              <a:ext uri="{FF2B5EF4-FFF2-40B4-BE49-F238E27FC236}">
                <a16:creationId xmlns:a16="http://schemas.microsoft.com/office/drawing/2014/main" id="{1B6519FF-BA84-2C29-F6D5-8DC80650369A}"/>
              </a:ext>
            </a:extLst>
          </p:cNvPr>
          <p:cNvGrpSpPr/>
          <p:nvPr/>
        </p:nvGrpSpPr>
        <p:grpSpPr>
          <a:xfrm>
            <a:off x="594433" y="821849"/>
            <a:ext cx="11003040" cy="5674955"/>
            <a:chOff x="323850" y="747828"/>
            <a:chExt cx="11563350" cy="5813836"/>
          </a:xfrm>
        </p:grpSpPr>
        <p:sp>
          <p:nvSpPr>
            <p:cNvPr id="2" name="Freeform 2">
              <a:extLst>
                <a:ext uri="{FF2B5EF4-FFF2-40B4-BE49-F238E27FC236}">
                  <a16:creationId xmlns:a16="http://schemas.microsoft.com/office/drawing/2014/main" id="{0E2BEC0D-1583-3F07-7AAB-B9E1C25DF535}"/>
                </a:ext>
              </a:extLst>
            </p:cNvPr>
            <p:cNvSpPr/>
            <p:nvPr/>
          </p:nvSpPr>
          <p:spPr>
            <a:xfrm>
              <a:off x="5237825" y="4479253"/>
              <a:ext cx="1337291" cy="1172467"/>
            </a:xfrm>
            <a:custGeom>
              <a:avLst/>
              <a:gdLst/>
              <a:ahLst/>
              <a:cxnLst/>
              <a:rect l="l" t="t" r="r" b="b"/>
              <a:pathLst>
                <a:path w="2005937" h="1758700">
                  <a:moveTo>
                    <a:pt x="0" y="0"/>
                  </a:moveTo>
                  <a:lnTo>
                    <a:pt x="2005937" y="0"/>
                  </a:lnTo>
                  <a:lnTo>
                    <a:pt x="2005937" y="1758700"/>
                  </a:lnTo>
                  <a:lnTo>
                    <a:pt x="0" y="1758700"/>
                  </a:lnTo>
                  <a:lnTo>
                    <a:pt x="0" y="0"/>
                  </a:lnTo>
                  <a:close/>
                </a:path>
              </a:pathLst>
            </a:custGeom>
            <a:blipFill>
              <a:blip r:embed="rId4"/>
              <a:stretch>
                <a:fillRect l="-5666" r="-5666"/>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grpSp>
          <p:nvGrpSpPr>
            <p:cNvPr id="4" name="Group 3">
              <a:extLst>
                <a:ext uri="{FF2B5EF4-FFF2-40B4-BE49-F238E27FC236}">
                  <a16:creationId xmlns:a16="http://schemas.microsoft.com/office/drawing/2014/main" id="{6F54A6CC-574D-5A11-DA59-B74F5FBB3374}"/>
                </a:ext>
              </a:extLst>
            </p:cNvPr>
            <p:cNvGrpSpPr/>
            <p:nvPr/>
          </p:nvGrpSpPr>
          <p:grpSpPr>
            <a:xfrm>
              <a:off x="3129608" y="4331858"/>
              <a:ext cx="1335841" cy="1366234"/>
              <a:chOff x="0" y="-151244"/>
              <a:chExt cx="2671682" cy="2732469"/>
            </a:xfrm>
          </p:grpSpPr>
          <p:grpSp>
            <p:nvGrpSpPr>
              <p:cNvPr id="5" name="Group 4">
                <a:extLst>
                  <a:ext uri="{FF2B5EF4-FFF2-40B4-BE49-F238E27FC236}">
                    <a16:creationId xmlns:a16="http://schemas.microsoft.com/office/drawing/2014/main" id="{6B18A6C7-E7C1-AF96-A761-4936AF1CC88F}"/>
                  </a:ext>
                </a:extLst>
              </p:cNvPr>
              <p:cNvGrpSpPr/>
              <p:nvPr/>
            </p:nvGrpSpPr>
            <p:grpSpPr>
              <a:xfrm>
                <a:off x="0" y="-151244"/>
                <a:ext cx="2671682" cy="2732469"/>
                <a:chOff x="0" y="-47625"/>
                <a:chExt cx="841284" cy="860425"/>
              </a:xfrm>
            </p:grpSpPr>
            <p:sp>
              <p:nvSpPr>
                <p:cNvPr id="15" name="Freeform 5">
                  <a:extLst>
                    <a:ext uri="{FF2B5EF4-FFF2-40B4-BE49-F238E27FC236}">
                      <a16:creationId xmlns:a16="http://schemas.microsoft.com/office/drawing/2014/main" id="{FA91B4AE-1F33-4275-16C5-B6F427CC0E28}"/>
                    </a:ext>
                  </a:extLst>
                </p:cNvPr>
                <p:cNvSpPr/>
                <p:nvPr/>
              </p:nvSpPr>
              <p:spPr>
                <a:xfrm>
                  <a:off x="0" y="0"/>
                  <a:ext cx="841284" cy="812800"/>
                </a:xfrm>
                <a:custGeom>
                  <a:avLst/>
                  <a:gdLst/>
                  <a:ahLst/>
                  <a:cxnLst/>
                  <a:rect l="l" t="t" r="r" b="b"/>
                  <a:pathLst>
                    <a:path w="841284" h="812800">
                      <a:moveTo>
                        <a:pt x="41203" y="0"/>
                      </a:moveTo>
                      <a:lnTo>
                        <a:pt x="800081" y="0"/>
                      </a:lnTo>
                      <a:cubicBezTo>
                        <a:pt x="811009" y="0"/>
                        <a:pt x="821489" y="4341"/>
                        <a:pt x="829216" y="12068"/>
                      </a:cubicBezTo>
                      <a:cubicBezTo>
                        <a:pt x="836943" y="19795"/>
                        <a:pt x="841284" y="30275"/>
                        <a:pt x="841284" y="41203"/>
                      </a:cubicBezTo>
                      <a:lnTo>
                        <a:pt x="841284" y="771597"/>
                      </a:lnTo>
                      <a:cubicBezTo>
                        <a:pt x="841284" y="782525"/>
                        <a:pt x="836943" y="793005"/>
                        <a:pt x="829216" y="800732"/>
                      </a:cubicBezTo>
                      <a:cubicBezTo>
                        <a:pt x="821489" y="808459"/>
                        <a:pt x="811009" y="812800"/>
                        <a:pt x="800081" y="812800"/>
                      </a:cubicBezTo>
                      <a:lnTo>
                        <a:pt x="41203" y="812800"/>
                      </a:lnTo>
                      <a:cubicBezTo>
                        <a:pt x="30275" y="812800"/>
                        <a:pt x="19795" y="808459"/>
                        <a:pt x="12068" y="800732"/>
                      </a:cubicBezTo>
                      <a:cubicBezTo>
                        <a:pt x="4341" y="793005"/>
                        <a:pt x="0" y="782525"/>
                        <a:pt x="0" y="771597"/>
                      </a:cubicBezTo>
                      <a:lnTo>
                        <a:pt x="0" y="41203"/>
                      </a:lnTo>
                      <a:cubicBezTo>
                        <a:pt x="0" y="30275"/>
                        <a:pt x="4341" y="19795"/>
                        <a:pt x="12068" y="12068"/>
                      </a:cubicBezTo>
                      <a:cubicBezTo>
                        <a:pt x="19795" y="4341"/>
                        <a:pt x="30275" y="0"/>
                        <a:pt x="41203" y="0"/>
                      </a:cubicBezTo>
                      <a:close/>
                    </a:path>
                  </a:pathLst>
                </a:custGeom>
                <a:solidFill>
                  <a:srgbClr val="FFFFFF"/>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6" name="TextBox 6">
                  <a:extLst>
                    <a:ext uri="{FF2B5EF4-FFF2-40B4-BE49-F238E27FC236}">
                      <a16:creationId xmlns:a16="http://schemas.microsoft.com/office/drawing/2014/main" id="{E7719BBB-DF5E-49E6-33F5-7FFFECA3615D}"/>
                    </a:ext>
                  </a:extLst>
                </p:cNvPr>
                <p:cNvSpPr txBox="1"/>
                <p:nvPr/>
              </p:nvSpPr>
              <p:spPr>
                <a:xfrm>
                  <a:off x="0" y="-47625"/>
                  <a:ext cx="841284" cy="86042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ts val="0"/>
                    </a:spcBef>
                    <a:spcAft>
                      <a:spcPts val="0"/>
                    </a:spcAft>
                    <a:buClr>
                      <a:srgbClr val="000000"/>
                    </a:buClr>
                    <a:buSzTx/>
                    <a:buFont typeface="Arial"/>
                    <a:buNone/>
                    <a:tabLst/>
                    <a:defRPr/>
                  </a:pPr>
                  <a:endParaRPr kumimoji="0" sz="800" b="0" i="0" u="none" strike="noStrike" kern="1200" cap="none" spc="0" normalizeH="0" baseline="0" noProof="0">
                    <a:ln>
                      <a:noFill/>
                    </a:ln>
                    <a:solidFill>
                      <a:srgbClr val="000000"/>
                    </a:solidFill>
                    <a:effectLst/>
                    <a:uLnTx/>
                    <a:uFillTx/>
                    <a:latin typeface="Arial"/>
                    <a:ea typeface="+mn-ea"/>
                    <a:cs typeface="+mn-cs"/>
                    <a:sym typeface="Arial"/>
                  </a:endParaRPr>
                </a:p>
              </p:txBody>
            </p:sp>
          </p:grpSp>
          <p:sp>
            <p:nvSpPr>
              <p:cNvPr id="6" name="Freeform 7">
                <a:extLst>
                  <a:ext uri="{FF2B5EF4-FFF2-40B4-BE49-F238E27FC236}">
                    <a16:creationId xmlns:a16="http://schemas.microsoft.com/office/drawing/2014/main" id="{518F3BE3-ADE3-82AE-1DFA-9AFC3158EC67}"/>
                  </a:ext>
                </a:extLst>
              </p:cNvPr>
              <p:cNvSpPr/>
              <p:nvPr/>
            </p:nvSpPr>
            <p:spPr>
              <a:xfrm>
                <a:off x="141641" y="150405"/>
                <a:ext cx="753175" cy="634037"/>
              </a:xfrm>
              <a:custGeom>
                <a:avLst/>
                <a:gdLst/>
                <a:ahLst/>
                <a:cxnLst/>
                <a:rect l="l" t="t" r="r" b="b"/>
                <a:pathLst>
                  <a:path w="753175" h="634037">
                    <a:moveTo>
                      <a:pt x="0" y="0"/>
                    </a:moveTo>
                    <a:lnTo>
                      <a:pt x="753176" y="0"/>
                    </a:lnTo>
                    <a:lnTo>
                      <a:pt x="753176"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7" name="Freeform 8">
                <a:extLst>
                  <a:ext uri="{FF2B5EF4-FFF2-40B4-BE49-F238E27FC236}">
                    <a16:creationId xmlns:a16="http://schemas.microsoft.com/office/drawing/2014/main" id="{7E3054F4-42C9-C6E9-3D04-F437C4A04FE3}"/>
                  </a:ext>
                </a:extLst>
              </p:cNvPr>
              <p:cNvSpPr/>
              <p:nvPr/>
            </p:nvSpPr>
            <p:spPr>
              <a:xfrm>
                <a:off x="982451" y="150405"/>
                <a:ext cx="753175" cy="634037"/>
              </a:xfrm>
              <a:custGeom>
                <a:avLst/>
                <a:gdLst/>
                <a:ahLst/>
                <a:cxnLst/>
                <a:rect l="l" t="t" r="r" b="b"/>
                <a:pathLst>
                  <a:path w="753175" h="634037">
                    <a:moveTo>
                      <a:pt x="0" y="0"/>
                    </a:moveTo>
                    <a:lnTo>
                      <a:pt x="753175" y="0"/>
                    </a:lnTo>
                    <a:lnTo>
                      <a:pt x="753175"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8" name="Freeform 9">
                <a:extLst>
                  <a:ext uri="{FF2B5EF4-FFF2-40B4-BE49-F238E27FC236}">
                    <a16:creationId xmlns:a16="http://schemas.microsoft.com/office/drawing/2014/main" id="{2B55CF64-C830-7331-48A8-8E1B3BB16131}"/>
                  </a:ext>
                </a:extLst>
              </p:cNvPr>
              <p:cNvSpPr/>
              <p:nvPr/>
            </p:nvSpPr>
            <p:spPr>
              <a:xfrm>
                <a:off x="1823378" y="150405"/>
                <a:ext cx="753175" cy="634037"/>
              </a:xfrm>
              <a:custGeom>
                <a:avLst/>
                <a:gdLst/>
                <a:ahLst/>
                <a:cxnLst/>
                <a:rect l="l" t="t" r="r" b="b"/>
                <a:pathLst>
                  <a:path w="753175" h="634037">
                    <a:moveTo>
                      <a:pt x="0" y="0"/>
                    </a:moveTo>
                    <a:lnTo>
                      <a:pt x="753176" y="0"/>
                    </a:lnTo>
                    <a:lnTo>
                      <a:pt x="753176"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9" name="Freeform 10">
                <a:extLst>
                  <a:ext uri="{FF2B5EF4-FFF2-40B4-BE49-F238E27FC236}">
                    <a16:creationId xmlns:a16="http://schemas.microsoft.com/office/drawing/2014/main" id="{9D8C0DBC-590F-BD4D-1147-39D03B80E925}"/>
                  </a:ext>
                </a:extLst>
              </p:cNvPr>
              <p:cNvSpPr/>
              <p:nvPr/>
            </p:nvSpPr>
            <p:spPr>
              <a:xfrm>
                <a:off x="141641" y="946462"/>
                <a:ext cx="753175" cy="634037"/>
              </a:xfrm>
              <a:custGeom>
                <a:avLst/>
                <a:gdLst/>
                <a:ahLst/>
                <a:cxnLst/>
                <a:rect l="l" t="t" r="r" b="b"/>
                <a:pathLst>
                  <a:path w="753175" h="634037">
                    <a:moveTo>
                      <a:pt x="0" y="0"/>
                    </a:moveTo>
                    <a:lnTo>
                      <a:pt x="753176" y="0"/>
                    </a:lnTo>
                    <a:lnTo>
                      <a:pt x="753176"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0" name="Freeform 11">
                <a:extLst>
                  <a:ext uri="{FF2B5EF4-FFF2-40B4-BE49-F238E27FC236}">
                    <a16:creationId xmlns:a16="http://schemas.microsoft.com/office/drawing/2014/main" id="{930DD0F1-BCE5-A5F0-2BFD-0A148223091F}"/>
                  </a:ext>
                </a:extLst>
              </p:cNvPr>
              <p:cNvSpPr/>
              <p:nvPr/>
            </p:nvSpPr>
            <p:spPr>
              <a:xfrm>
                <a:off x="982451" y="946462"/>
                <a:ext cx="753175" cy="634037"/>
              </a:xfrm>
              <a:custGeom>
                <a:avLst/>
                <a:gdLst/>
                <a:ahLst/>
                <a:cxnLst/>
                <a:rect l="l" t="t" r="r" b="b"/>
                <a:pathLst>
                  <a:path w="753175" h="634037">
                    <a:moveTo>
                      <a:pt x="0" y="0"/>
                    </a:moveTo>
                    <a:lnTo>
                      <a:pt x="753175" y="0"/>
                    </a:lnTo>
                    <a:lnTo>
                      <a:pt x="753175"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1" name="Freeform 12">
                <a:extLst>
                  <a:ext uri="{FF2B5EF4-FFF2-40B4-BE49-F238E27FC236}">
                    <a16:creationId xmlns:a16="http://schemas.microsoft.com/office/drawing/2014/main" id="{86D37CD9-841F-C5DB-CC69-BC53BDB83312}"/>
                  </a:ext>
                </a:extLst>
              </p:cNvPr>
              <p:cNvSpPr/>
              <p:nvPr/>
            </p:nvSpPr>
            <p:spPr>
              <a:xfrm>
                <a:off x="1823378" y="951744"/>
                <a:ext cx="753175" cy="634037"/>
              </a:xfrm>
              <a:custGeom>
                <a:avLst/>
                <a:gdLst/>
                <a:ahLst/>
                <a:cxnLst/>
                <a:rect l="l" t="t" r="r" b="b"/>
                <a:pathLst>
                  <a:path w="753175" h="634037">
                    <a:moveTo>
                      <a:pt x="0" y="0"/>
                    </a:moveTo>
                    <a:lnTo>
                      <a:pt x="753176" y="0"/>
                    </a:lnTo>
                    <a:lnTo>
                      <a:pt x="753176" y="634036"/>
                    </a:lnTo>
                    <a:lnTo>
                      <a:pt x="0" y="63403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2" name="Freeform 13">
                <a:extLst>
                  <a:ext uri="{FF2B5EF4-FFF2-40B4-BE49-F238E27FC236}">
                    <a16:creationId xmlns:a16="http://schemas.microsoft.com/office/drawing/2014/main" id="{7AE70759-4C08-9AB2-C770-C00C026A1278}"/>
                  </a:ext>
                </a:extLst>
              </p:cNvPr>
              <p:cNvSpPr/>
              <p:nvPr/>
            </p:nvSpPr>
            <p:spPr>
              <a:xfrm>
                <a:off x="982451" y="1750986"/>
                <a:ext cx="753175" cy="634037"/>
              </a:xfrm>
              <a:custGeom>
                <a:avLst/>
                <a:gdLst/>
                <a:ahLst/>
                <a:cxnLst/>
                <a:rect l="l" t="t" r="r" b="b"/>
                <a:pathLst>
                  <a:path w="753175" h="634037">
                    <a:moveTo>
                      <a:pt x="0" y="0"/>
                    </a:moveTo>
                    <a:lnTo>
                      <a:pt x="753175" y="0"/>
                    </a:lnTo>
                    <a:lnTo>
                      <a:pt x="753175"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3" name="Freeform 14">
                <a:extLst>
                  <a:ext uri="{FF2B5EF4-FFF2-40B4-BE49-F238E27FC236}">
                    <a16:creationId xmlns:a16="http://schemas.microsoft.com/office/drawing/2014/main" id="{F7834556-62E3-18F4-2654-C162B0250549}"/>
                  </a:ext>
                </a:extLst>
              </p:cNvPr>
              <p:cNvSpPr/>
              <p:nvPr/>
            </p:nvSpPr>
            <p:spPr>
              <a:xfrm>
                <a:off x="141641" y="1750986"/>
                <a:ext cx="753175" cy="634037"/>
              </a:xfrm>
              <a:custGeom>
                <a:avLst/>
                <a:gdLst/>
                <a:ahLst/>
                <a:cxnLst/>
                <a:rect l="l" t="t" r="r" b="b"/>
                <a:pathLst>
                  <a:path w="753175" h="634037">
                    <a:moveTo>
                      <a:pt x="0" y="0"/>
                    </a:moveTo>
                    <a:lnTo>
                      <a:pt x="753176" y="0"/>
                    </a:lnTo>
                    <a:lnTo>
                      <a:pt x="753176"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4" name="Freeform 15">
                <a:extLst>
                  <a:ext uri="{FF2B5EF4-FFF2-40B4-BE49-F238E27FC236}">
                    <a16:creationId xmlns:a16="http://schemas.microsoft.com/office/drawing/2014/main" id="{4531072A-895B-7E7C-9EA0-161F95698FE1}"/>
                  </a:ext>
                </a:extLst>
              </p:cNvPr>
              <p:cNvSpPr/>
              <p:nvPr/>
            </p:nvSpPr>
            <p:spPr>
              <a:xfrm>
                <a:off x="1823378" y="1750986"/>
                <a:ext cx="753175" cy="634037"/>
              </a:xfrm>
              <a:custGeom>
                <a:avLst/>
                <a:gdLst/>
                <a:ahLst/>
                <a:cxnLst/>
                <a:rect l="l" t="t" r="r" b="b"/>
                <a:pathLst>
                  <a:path w="753175" h="634037">
                    <a:moveTo>
                      <a:pt x="0" y="0"/>
                    </a:moveTo>
                    <a:lnTo>
                      <a:pt x="753176" y="0"/>
                    </a:lnTo>
                    <a:lnTo>
                      <a:pt x="753176" y="634037"/>
                    </a:lnTo>
                    <a:lnTo>
                      <a:pt x="0" y="634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grpSp>
        <p:sp>
          <p:nvSpPr>
            <p:cNvPr id="17" name="Freeform 16">
              <a:extLst>
                <a:ext uri="{FF2B5EF4-FFF2-40B4-BE49-F238E27FC236}">
                  <a16:creationId xmlns:a16="http://schemas.microsoft.com/office/drawing/2014/main" id="{3A74D2E9-C27B-C651-2F2A-7123932EAFDB}"/>
                </a:ext>
              </a:extLst>
            </p:cNvPr>
            <p:cNvSpPr/>
            <p:nvPr/>
          </p:nvSpPr>
          <p:spPr>
            <a:xfrm>
              <a:off x="1246160" y="5360640"/>
              <a:ext cx="881841" cy="723337"/>
            </a:xfrm>
            <a:custGeom>
              <a:avLst/>
              <a:gdLst/>
              <a:ahLst/>
              <a:cxnLst/>
              <a:rect l="l" t="t" r="r" b="b"/>
              <a:pathLst>
                <a:path w="1592635" h="1259630">
                  <a:moveTo>
                    <a:pt x="0" y="0"/>
                  </a:moveTo>
                  <a:lnTo>
                    <a:pt x="1592635" y="0"/>
                  </a:lnTo>
                  <a:lnTo>
                    <a:pt x="1592635" y="1259630"/>
                  </a:lnTo>
                  <a:lnTo>
                    <a:pt x="0" y="12596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8" name="AutoShape 17">
              <a:extLst>
                <a:ext uri="{FF2B5EF4-FFF2-40B4-BE49-F238E27FC236}">
                  <a16:creationId xmlns:a16="http://schemas.microsoft.com/office/drawing/2014/main" id="{E0EB28EA-9B4E-0CBA-87C1-C6BD3FD4813C}"/>
                </a:ext>
              </a:extLst>
            </p:cNvPr>
            <p:cNvSpPr/>
            <p:nvPr/>
          </p:nvSpPr>
          <p:spPr>
            <a:xfrm flipV="1">
              <a:off x="2507140" y="5106851"/>
              <a:ext cx="463717" cy="0"/>
            </a:xfrm>
            <a:prstGeom prst="line">
              <a:avLst/>
            </a:prstGeom>
            <a:ln w="38100" cap="flat">
              <a:solidFill>
                <a:srgbClr val="000000"/>
              </a:solidFill>
              <a:prstDash val="solid"/>
              <a:headEnd type="none" w="sm" len="sm"/>
              <a:tailEnd type="triangle" w="lg" len="med"/>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19" name="AutoShape 18">
              <a:extLst>
                <a:ext uri="{FF2B5EF4-FFF2-40B4-BE49-F238E27FC236}">
                  <a16:creationId xmlns:a16="http://schemas.microsoft.com/office/drawing/2014/main" id="{6EFDFE81-1D02-4743-501E-CFA60CFEE947}"/>
                </a:ext>
              </a:extLst>
            </p:cNvPr>
            <p:cNvSpPr/>
            <p:nvPr/>
          </p:nvSpPr>
          <p:spPr>
            <a:xfrm flipV="1">
              <a:off x="4615358" y="5065487"/>
              <a:ext cx="463717" cy="0"/>
            </a:xfrm>
            <a:prstGeom prst="line">
              <a:avLst/>
            </a:prstGeom>
            <a:ln w="38100" cap="flat">
              <a:solidFill>
                <a:srgbClr val="000000"/>
              </a:solidFill>
              <a:prstDash val="solid"/>
              <a:headEnd type="none" w="sm" len="sm"/>
              <a:tailEnd type="triangle" w="lg" len="med"/>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20" name="AutoShape 30">
              <a:extLst>
                <a:ext uri="{FF2B5EF4-FFF2-40B4-BE49-F238E27FC236}">
                  <a16:creationId xmlns:a16="http://schemas.microsoft.com/office/drawing/2014/main" id="{1DC6CBF8-F36A-4317-3D25-3BE3A4E4CDD8}"/>
                </a:ext>
              </a:extLst>
            </p:cNvPr>
            <p:cNvSpPr/>
            <p:nvPr/>
          </p:nvSpPr>
          <p:spPr>
            <a:xfrm flipV="1">
              <a:off x="6936118" y="5040087"/>
              <a:ext cx="463717" cy="0"/>
            </a:xfrm>
            <a:prstGeom prst="line">
              <a:avLst/>
            </a:prstGeom>
            <a:ln w="38100" cap="flat">
              <a:solidFill>
                <a:srgbClr val="000000"/>
              </a:solidFill>
              <a:prstDash val="solid"/>
              <a:headEnd type="none" w="sm" len="sm"/>
              <a:tailEnd type="triangle" w="lg" len="med"/>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21" name="TextBox 34">
              <a:extLst>
                <a:ext uri="{FF2B5EF4-FFF2-40B4-BE49-F238E27FC236}">
                  <a16:creationId xmlns:a16="http://schemas.microsoft.com/office/drawing/2014/main" id="{722BF4F1-FE09-A365-EE25-F6EB087E7C59}"/>
                </a:ext>
              </a:extLst>
            </p:cNvPr>
            <p:cNvSpPr txBox="1"/>
            <p:nvPr/>
          </p:nvSpPr>
          <p:spPr>
            <a:xfrm>
              <a:off x="3012626" y="5837247"/>
              <a:ext cx="4265343" cy="47296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ts val="0"/>
                </a:spcBef>
                <a:spcAft>
                  <a:spcPts val="0"/>
                </a:spcAft>
                <a:buClr>
                  <a:srgbClr val="000000"/>
                </a:buClr>
                <a:buSzTx/>
                <a:buFont typeface="Arial"/>
                <a:buNone/>
                <a:tabLst/>
                <a:defRPr/>
              </a:pPr>
              <a:r>
                <a:rPr lang="ja-JP" altLang="en-US" sz="1800">
                  <a:solidFill>
                    <a:srgbClr val="000000"/>
                  </a:solidFill>
                  <a:latin typeface="Rounded M+"/>
                  <a:ea typeface="Rounded M+"/>
                  <a:cs typeface="Rounded M+"/>
                  <a:sym typeface="Rounded M+"/>
                </a:rPr>
                <a:t>動画をフレームごとに画像に変換し</a:t>
              </a:r>
              <a:endParaRPr lang="en-US" sz="1800" b="0" i="0" u="none" strike="noStrike" kern="1200" cap="none" spc="0" normalizeH="0" baseline="0" noProof="0">
                <a:ln>
                  <a:noFill/>
                </a:ln>
                <a:solidFill>
                  <a:srgbClr val="000000"/>
                </a:solidFill>
                <a:effectLst/>
                <a:uLnTx/>
                <a:uFillTx/>
                <a:latin typeface="Rounded M+"/>
                <a:ea typeface="Rounded M+"/>
                <a:cs typeface="Rounded M+"/>
              </a:endParaRPr>
            </a:p>
            <a:p>
              <a:pPr marL="0" marR="0" lvl="0" indent="0" algn="ctr" defTabSz="609539" rtl="0" eaLnBrk="1" fontAlgn="auto" latinLnBrk="0" hangingPunct="1">
                <a:lnSpc>
                  <a:spcPts val="1773"/>
                </a:lnSpc>
                <a:spcBef>
                  <a:spcPct val="0"/>
                </a:spcBef>
                <a:spcAft>
                  <a:spcPts val="0"/>
                </a:spcAft>
                <a:buClr>
                  <a:srgbClr val="000000"/>
                </a:buClr>
                <a:buSzTx/>
                <a:buFont typeface="Arial"/>
                <a:buNone/>
                <a:tabLst/>
                <a:defRPr/>
              </a:pPr>
              <a:r>
                <a:rPr kumimoji="0" lang="en-US" sz="1800" b="0" i="0" u="none" strike="noStrike" kern="1200" cap="none" spc="0" normalizeH="0" baseline="0" noProof="0">
                  <a:ln>
                    <a:noFill/>
                  </a:ln>
                  <a:solidFill>
                    <a:srgbClr val="000000"/>
                  </a:solidFill>
                  <a:effectLst/>
                  <a:uLnTx/>
                  <a:uFillTx/>
                  <a:latin typeface="Rounded M+"/>
                  <a:ea typeface="Rounded M+"/>
                  <a:cs typeface="Rounded M+"/>
                  <a:sym typeface="Rounded M+"/>
                </a:rPr>
                <a:t>3</a:t>
              </a:r>
              <a:r>
                <a:rPr kumimoji="0" lang="en-US" altLang="ja-JP" sz="1800" b="0" i="0" u="none" strike="noStrike" kern="1200" cap="none" spc="0" normalizeH="0" baseline="0" noProof="0">
                  <a:ln>
                    <a:noFill/>
                  </a:ln>
                  <a:solidFill>
                    <a:srgbClr val="000000"/>
                  </a:solidFill>
                  <a:effectLst/>
                  <a:uLnTx/>
                  <a:uFillTx/>
                  <a:latin typeface="Rounded M+"/>
                  <a:ea typeface="Rounded M+"/>
                  <a:cs typeface="Rounded M+"/>
                  <a:sym typeface="Rounded M+"/>
                </a:rPr>
                <a:t>D</a:t>
              </a:r>
              <a:r>
                <a:rPr kumimoji="0" lang="en-US" sz="1800" b="0" i="0" u="none" strike="noStrike" kern="1200" cap="none" spc="0" normalizeH="0" baseline="0" noProof="0">
                  <a:ln>
                    <a:noFill/>
                  </a:ln>
                  <a:solidFill>
                    <a:srgbClr val="000000"/>
                  </a:solidFill>
                  <a:effectLst/>
                  <a:uLnTx/>
                  <a:uFillTx/>
                  <a:latin typeface="Rounded M+"/>
                  <a:ea typeface="Rounded M+"/>
                  <a:cs typeface="Rounded M+"/>
                  <a:sym typeface="Rounded M+"/>
                </a:rPr>
                <a:t>イメージを作成</a:t>
              </a:r>
              <a:endParaRPr lang="en-US" sz="1800" b="0" i="0" u="none" strike="noStrike" kern="1200" cap="none" spc="0" normalizeH="0" baseline="0" noProof="0">
                <a:ln>
                  <a:noFill/>
                </a:ln>
                <a:solidFill>
                  <a:srgbClr val="000000"/>
                </a:solidFill>
                <a:effectLst/>
                <a:uLnTx/>
                <a:uFillTx/>
                <a:latin typeface="Rounded M+"/>
                <a:ea typeface="Rounded M+"/>
                <a:cs typeface="Rounded M+"/>
              </a:endParaRPr>
            </a:p>
          </p:txBody>
        </p:sp>
        <p:sp>
          <p:nvSpPr>
            <p:cNvPr id="22" name="Freeform 36">
              <a:extLst>
                <a:ext uri="{FF2B5EF4-FFF2-40B4-BE49-F238E27FC236}">
                  <a16:creationId xmlns:a16="http://schemas.microsoft.com/office/drawing/2014/main" id="{F2CE7F50-E28C-3BDE-0685-6F0FCF623F3E}"/>
                </a:ext>
              </a:extLst>
            </p:cNvPr>
            <p:cNvSpPr/>
            <p:nvPr/>
          </p:nvSpPr>
          <p:spPr>
            <a:xfrm>
              <a:off x="7714475" y="3864623"/>
              <a:ext cx="3860304" cy="2577945"/>
            </a:xfrm>
            <a:custGeom>
              <a:avLst/>
              <a:gdLst/>
              <a:ahLst/>
              <a:cxnLst/>
              <a:rect l="l" t="t" r="r" b="b"/>
              <a:pathLst>
                <a:path w="7482541" h="3826237">
                  <a:moveTo>
                    <a:pt x="0" y="0"/>
                  </a:moveTo>
                  <a:lnTo>
                    <a:pt x="7482541" y="0"/>
                  </a:lnTo>
                  <a:lnTo>
                    <a:pt x="7482541" y="3826237"/>
                  </a:lnTo>
                  <a:lnTo>
                    <a:pt x="0" y="3826237"/>
                  </a:lnTo>
                  <a:lnTo>
                    <a:pt x="0" y="0"/>
                  </a:lnTo>
                  <a:close/>
                </a:path>
              </a:pathLst>
            </a:custGeom>
            <a:blipFill>
              <a:blip r:embed="rId9"/>
              <a:stretch>
                <a:fillRect l="-122042" t="-4597" r="-20863" b="-15833"/>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pic>
          <p:nvPicPr>
            <p:cNvPr id="23" name="Picture 2">
              <a:extLst>
                <a:ext uri="{FF2B5EF4-FFF2-40B4-BE49-F238E27FC236}">
                  <a16:creationId xmlns:a16="http://schemas.microsoft.com/office/drawing/2014/main" id="{5FF06510-A5B7-747D-222A-40D3BD3534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189" y="4101843"/>
              <a:ext cx="1650399" cy="1194921"/>
            </a:xfrm>
            <a:prstGeom prst="rect">
              <a:avLst/>
            </a:prstGeom>
            <a:noFill/>
            <a:extLst>
              <a:ext uri="{909E8E84-426E-40DD-AFC4-6F175D3DCCD1}">
                <a14:hiddenFill xmlns:a14="http://schemas.microsoft.com/office/drawing/2010/main">
                  <a:solidFill>
                    <a:srgbClr val="FFFFFF"/>
                  </a:solidFill>
                </a14:hiddenFill>
              </a:ext>
            </a:extLst>
          </p:spPr>
        </p:pic>
        <p:sp>
          <p:nvSpPr>
            <p:cNvPr id="24" name="Freeform 31">
              <a:extLst>
                <a:ext uri="{FF2B5EF4-FFF2-40B4-BE49-F238E27FC236}">
                  <a16:creationId xmlns:a16="http://schemas.microsoft.com/office/drawing/2014/main" id="{BE0CE551-16AA-6E44-4F4D-B99047D7EE50}"/>
                </a:ext>
              </a:extLst>
            </p:cNvPr>
            <p:cNvSpPr/>
            <p:nvPr/>
          </p:nvSpPr>
          <p:spPr>
            <a:xfrm>
              <a:off x="732307" y="6147853"/>
              <a:ext cx="1967898" cy="312119"/>
            </a:xfrm>
            <a:custGeom>
              <a:avLst/>
              <a:gdLst/>
              <a:ahLst/>
              <a:cxnLst/>
              <a:rect l="l" t="t" r="r" b="b"/>
              <a:pathLst>
                <a:path w="2824848" h="658679">
                  <a:moveTo>
                    <a:pt x="0" y="0"/>
                  </a:moveTo>
                  <a:lnTo>
                    <a:pt x="2824848" y="0"/>
                  </a:lnTo>
                  <a:lnTo>
                    <a:pt x="2824848" y="658679"/>
                  </a:lnTo>
                  <a:lnTo>
                    <a:pt x="0" y="65867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25" name="テキスト ボックス 24">
              <a:extLst>
                <a:ext uri="{FF2B5EF4-FFF2-40B4-BE49-F238E27FC236}">
                  <a16:creationId xmlns:a16="http://schemas.microsoft.com/office/drawing/2014/main" id="{43F5603C-2FD6-0FB9-855C-2DFB9CE716DD}"/>
                </a:ext>
              </a:extLst>
            </p:cNvPr>
            <p:cNvSpPr txBox="1"/>
            <p:nvPr/>
          </p:nvSpPr>
          <p:spPr>
            <a:xfrm>
              <a:off x="4046100" y="1861743"/>
              <a:ext cx="115243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400" b="0" i="0" u="none" strike="noStrike" kern="0" cap="none" spc="0" normalizeH="0" baseline="0" noProof="0">
                  <a:ln>
                    <a:noFill/>
                  </a:ln>
                  <a:solidFill>
                    <a:srgbClr val="000000"/>
                  </a:solidFill>
                  <a:effectLst/>
                  <a:uLnTx/>
                  <a:uFillTx/>
                  <a:latin typeface="Arial"/>
                  <a:cs typeface="Arial"/>
                  <a:sym typeface="Arial"/>
                </a:rPr>
                <a:t>クラウド</a:t>
              </a:r>
            </a:p>
          </p:txBody>
        </p:sp>
        <p:pic>
          <p:nvPicPr>
            <p:cNvPr id="26" name="グラフィックス 25" descr="コンピューター 枠線">
              <a:extLst>
                <a:ext uri="{FF2B5EF4-FFF2-40B4-BE49-F238E27FC236}">
                  <a16:creationId xmlns:a16="http://schemas.microsoft.com/office/drawing/2014/main" id="{56CB946E-76A5-AC2F-3746-8E2893B54D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67009" y="1493226"/>
              <a:ext cx="1235725" cy="1226544"/>
            </a:xfrm>
            <a:prstGeom prst="rect">
              <a:avLst/>
            </a:prstGeom>
          </p:spPr>
        </p:pic>
        <p:cxnSp>
          <p:nvCxnSpPr>
            <p:cNvPr id="27" name="直線矢印コネクタ 26">
              <a:extLst>
                <a:ext uri="{FF2B5EF4-FFF2-40B4-BE49-F238E27FC236}">
                  <a16:creationId xmlns:a16="http://schemas.microsoft.com/office/drawing/2014/main" id="{2149616D-995B-6728-D7E5-E8AD9B6581EA}"/>
                </a:ext>
              </a:extLst>
            </p:cNvPr>
            <p:cNvCxnSpPr>
              <a:cxnSpLocks/>
            </p:cNvCxnSpPr>
            <p:nvPr/>
          </p:nvCxnSpPr>
          <p:spPr>
            <a:xfrm flipV="1">
              <a:off x="5014160" y="1008630"/>
              <a:ext cx="1555974" cy="795665"/>
            </a:xfrm>
            <a:prstGeom prst="straightConnector1">
              <a:avLst/>
            </a:prstGeom>
            <a:ln w="57150">
              <a:solidFill>
                <a:srgbClr val="FF0000"/>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A155EEFD-4DF7-1C0D-DEE9-21379562FBE9}"/>
                </a:ext>
              </a:extLst>
            </p:cNvPr>
            <p:cNvCxnSpPr>
              <a:cxnSpLocks/>
            </p:cNvCxnSpPr>
            <p:nvPr/>
          </p:nvCxnSpPr>
          <p:spPr>
            <a:xfrm>
              <a:off x="2643097" y="2103168"/>
              <a:ext cx="1060985" cy="0"/>
            </a:xfrm>
            <a:prstGeom prst="straightConnector1">
              <a:avLst/>
            </a:prstGeom>
            <a:ln w="57150">
              <a:solidFill>
                <a:srgbClr val="FF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9" name="グループ化 28">
              <a:extLst>
                <a:ext uri="{FF2B5EF4-FFF2-40B4-BE49-F238E27FC236}">
                  <a16:creationId xmlns:a16="http://schemas.microsoft.com/office/drawing/2014/main" id="{36B1EAB2-BDFE-A4E3-52BF-5BAD252BA3C5}"/>
                </a:ext>
              </a:extLst>
            </p:cNvPr>
            <p:cNvGrpSpPr/>
            <p:nvPr/>
          </p:nvGrpSpPr>
          <p:grpSpPr>
            <a:xfrm>
              <a:off x="6637669" y="787420"/>
              <a:ext cx="5033632" cy="2577946"/>
              <a:chOff x="-67685" y="65123"/>
              <a:chExt cx="6029062" cy="3316176"/>
            </a:xfrm>
          </p:grpSpPr>
          <p:sp>
            <p:nvSpPr>
              <p:cNvPr id="30" name="正方形/長方形 29">
                <a:extLst>
                  <a:ext uri="{FF2B5EF4-FFF2-40B4-BE49-F238E27FC236}">
                    <a16:creationId xmlns:a16="http://schemas.microsoft.com/office/drawing/2014/main" id="{FE827C1A-C08F-FE96-78A7-7CDA570C8DAF}"/>
                  </a:ext>
                </a:extLst>
              </p:cNvPr>
              <p:cNvSpPr/>
              <p:nvPr/>
            </p:nvSpPr>
            <p:spPr>
              <a:xfrm>
                <a:off x="814596" y="837017"/>
                <a:ext cx="5146781" cy="2539878"/>
              </a:xfrm>
              <a:prstGeom prst="rect">
                <a:avLst/>
              </a:prstGeom>
              <a:solidFill>
                <a:schemeClr val="bg2">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31" name="Group 5">
                <a:extLst>
                  <a:ext uri="{FF2B5EF4-FFF2-40B4-BE49-F238E27FC236}">
                    <a16:creationId xmlns:a16="http://schemas.microsoft.com/office/drawing/2014/main" id="{6E5E8213-69DC-2A9C-84E7-031669CAC98F}"/>
                  </a:ext>
                </a:extLst>
              </p:cNvPr>
              <p:cNvGrpSpPr/>
              <p:nvPr/>
            </p:nvGrpSpPr>
            <p:grpSpPr>
              <a:xfrm>
                <a:off x="811558" y="2860546"/>
                <a:ext cx="5149280" cy="520753"/>
                <a:chOff x="0" y="-47625"/>
                <a:chExt cx="2233765" cy="294371"/>
              </a:xfrm>
            </p:grpSpPr>
            <p:sp>
              <p:nvSpPr>
                <p:cNvPr id="53" name="Freeform 6">
                  <a:extLst>
                    <a:ext uri="{FF2B5EF4-FFF2-40B4-BE49-F238E27FC236}">
                      <a16:creationId xmlns:a16="http://schemas.microsoft.com/office/drawing/2014/main" id="{7D576840-8895-88C3-F59A-29495E0A48F5}"/>
                    </a:ext>
                  </a:extLst>
                </p:cNvPr>
                <p:cNvSpPr/>
                <p:nvPr/>
              </p:nvSpPr>
              <p:spPr>
                <a:xfrm>
                  <a:off x="0" y="0"/>
                  <a:ext cx="2233765" cy="246746"/>
                </a:xfrm>
                <a:custGeom>
                  <a:avLst/>
                  <a:gdLst/>
                  <a:ahLst/>
                  <a:cxnLst/>
                  <a:rect l="l" t="t" r="r" b="b"/>
                  <a:pathLst>
                    <a:path w="2233765" h="246746">
                      <a:moveTo>
                        <a:pt x="0" y="0"/>
                      </a:moveTo>
                      <a:lnTo>
                        <a:pt x="2233765" y="0"/>
                      </a:lnTo>
                      <a:lnTo>
                        <a:pt x="2233765" y="246746"/>
                      </a:lnTo>
                      <a:lnTo>
                        <a:pt x="0" y="246746"/>
                      </a:lnTo>
                      <a:close/>
                    </a:path>
                  </a:pathLst>
                </a:custGeom>
                <a:solidFill>
                  <a:schemeClr val="accent6">
                    <a:lumMod val="50000"/>
                  </a:scheme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54" name="TextBox 7">
                  <a:extLst>
                    <a:ext uri="{FF2B5EF4-FFF2-40B4-BE49-F238E27FC236}">
                      <a16:creationId xmlns:a16="http://schemas.microsoft.com/office/drawing/2014/main" id="{5C0899E3-8770-DECE-97E4-31191F4FBE8A}"/>
                    </a:ext>
                  </a:extLst>
                </p:cNvPr>
                <p:cNvSpPr txBox="1"/>
                <p:nvPr/>
              </p:nvSpPr>
              <p:spPr>
                <a:xfrm>
                  <a:off x="0" y="-47625"/>
                  <a:ext cx="2233765" cy="294371"/>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ts val="0"/>
                    </a:spcBef>
                    <a:spcAft>
                      <a:spcPts val="0"/>
                    </a:spcAft>
                    <a:buClr>
                      <a:srgbClr val="000000"/>
                    </a:buClr>
                    <a:buSzTx/>
                    <a:buFont typeface="Arial"/>
                    <a:buNone/>
                    <a:tabLst/>
                    <a:defRPr/>
                  </a:pPr>
                  <a:endParaRPr kumimoji="0" sz="800" b="0" i="0" u="none" strike="noStrike" kern="1200" cap="none" spc="0" normalizeH="0" baseline="0" noProof="0">
                    <a:ln>
                      <a:noFill/>
                    </a:ln>
                    <a:solidFill>
                      <a:srgbClr val="000000"/>
                    </a:solidFill>
                    <a:effectLst/>
                    <a:uLnTx/>
                    <a:uFillTx/>
                    <a:latin typeface="Arial"/>
                    <a:ea typeface="+mn-ea"/>
                    <a:cs typeface="+mn-cs"/>
                    <a:sym typeface="Arial"/>
                  </a:endParaRPr>
                </a:p>
              </p:txBody>
            </p:sp>
          </p:grpSp>
          <p:sp>
            <p:nvSpPr>
              <p:cNvPr id="32" name="Freeform 9">
                <a:extLst>
                  <a:ext uri="{FF2B5EF4-FFF2-40B4-BE49-F238E27FC236}">
                    <a16:creationId xmlns:a16="http://schemas.microsoft.com/office/drawing/2014/main" id="{4BE37482-61A1-3F37-000D-38904DC9D8AE}"/>
                  </a:ext>
                </a:extLst>
              </p:cNvPr>
              <p:cNvSpPr/>
              <p:nvPr/>
            </p:nvSpPr>
            <p:spPr>
              <a:xfrm>
                <a:off x="3359456" y="2340911"/>
                <a:ext cx="790897" cy="898303"/>
              </a:xfrm>
              <a:custGeom>
                <a:avLst/>
                <a:gdLst/>
                <a:ahLst/>
                <a:cxnLst/>
                <a:rect l="l" t="t" r="r" b="b"/>
                <a:pathLst>
                  <a:path w="1186346" h="1347455">
                    <a:moveTo>
                      <a:pt x="0" y="0"/>
                    </a:moveTo>
                    <a:lnTo>
                      <a:pt x="1186347" y="0"/>
                    </a:lnTo>
                    <a:lnTo>
                      <a:pt x="1186347" y="1347455"/>
                    </a:lnTo>
                    <a:lnTo>
                      <a:pt x="0" y="134745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3" name="Freeform 10">
                <a:extLst>
                  <a:ext uri="{FF2B5EF4-FFF2-40B4-BE49-F238E27FC236}">
                    <a16:creationId xmlns:a16="http://schemas.microsoft.com/office/drawing/2014/main" id="{685B78D2-EAB7-DD79-8BB0-9849E27162CA}"/>
                  </a:ext>
                </a:extLst>
              </p:cNvPr>
              <p:cNvSpPr/>
              <p:nvPr/>
            </p:nvSpPr>
            <p:spPr>
              <a:xfrm rot="21053403">
                <a:off x="4244347" y="2874761"/>
                <a:ext cx="1483475" cy="296695"/>
              </a:xfrm>
              <a:custGeom>
                <a:avLst/>
                <a:gdLst/>
                <a:ahLst/>
                <a:cxnLst/>
                <a:rect l="l" t="t" r="r" b="b"/>
                <a:pathLst>
                  <a:path w="2225212" h="445042">
                    <a:moveTo>
                      <a:pt x="0" y="0"/>
                    </a:moveTo>
                    <a:lnTo>
                      <a:pt x="2225212" y="0"/>
                    </a:lnTo>
                    <a:lnTo>
                      <a:pt x="2225212" y="445042"/>
                    </a:lnTo>
                    <a:lnTo>
                      <a:pt x="0" y="44504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4" name="Freeform 11">
                <a:extLst>
                  <a:ext uri="{FF2B5EF4-FFF2-40B4-BE49-F238E27FC236}">
                    <a16:creationId xmlns:a16="http://schemas.microsoft.com/office/drawing/2014/main" id="{37A4935F-7428-B0C0-F554-EB3C149871A6}"/>
                  </a:ext>
                </a:extLst>
              </p:cNvPr>
              <p:cNvSpPr/>
              <p:nvPr/>
            </p:nvSpPr>
            <p:spPr>
              <a:xfrm rot="13741969">
                <a:off x="2235333" y="1330642"/>
                <a:ext cx="1018878" cy="831218"/>
              </a:xfrm>
              <a:custGeom>
                <a:avLst/>
                <a:gdLst/>
                <a:ahLst/>
                <a:cxnLst/>
                <a:rect l="l" t="t" r="r" b="b"/>
                <a:pathLst>
                  <a:path w="1652256" h="1356994">
                    <a:moveTo>
                      <a:pt x="0" y="0"/>
                    </a:moveTo>
                    <a:lnTo>
                      <a:pt x="1652256" y="0"/>
                    </a:lnTo>
                    <a:lnTo>
                      <a:pt x="1652256" y="1356993"/>
                    </a:lnTo>
                    <a:lnTo>
                      <a:pt x="0" y="135699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5" name="Freeform 13" descr="モニター, ホイール, 大きい, 時計 が含まれている画像&#10;&#10;AI 生成コンテンツは間違っている可能性があります。">
                <a:extLst>
                  <a:ext uri="{FF2B5EF4-FFF2-40B4-BE49-F238E27FC236}">
                    <a16:creationId xmlns:a16="http://schemas.microsoft.com/office/drawing/2014/main" id="{CA960365-B2DD-E142-F3DF-99B1B8FED0E8}"/>
                  </a:ext>
                </a:extLst>
              </p:cNvPr>
              <p:cNvSpPr/>
              <p:nvPr/>
            </p:nvSpPr>
            <p:spPr>
              <a:xfrm>
                <a:off x="2572679" y="1076598"/>
                <a:ext cx="843173" cy="857218"/>
              </a:xfrm>
              <a:custGeom>
                <a:avLst/>
                <a:gdLst/>
                <a:ahLst/>
                <a:cxnLst/>
                <a:rect l="l" t="t" r="r" b="b"/>
                <a:pathLst>
                  <a:path w="1443781" h="1340912">
                    <a:moveTo>
                      <a:pt x="0" y="0"/>
                    </a:moveTo>
                    <a:lnTo>
                      <a:pt x="1443781" y="0"/>
                    </a:lnTo>
                    <a:lnTo>
                      <a:pt x="1443781" y="1340911"/>
                    </a:lnTo>
                    <a:lnTo>
                      <a:pt x="0" y="1340911"/>
                    </a:lnTo>
                    <a:lnTo>
                      <a:pt x="0" y="0"/>
                    </a:lnTo>
                    <a:close/>
                  </a:path>
                </a:pathLst>
              </a:custGeom>
              <a:blipFill>
                <a:blip r:embed="rId21"/>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6" name="AutoShape 14">
                <a:extLst>
                  <a:ext uri="{FF2B5EF4-FFF2-40B4-BE49-F238E27FC236}">
                    <a16:creationId xmlns:a16="http://schemas.microsoft.com/office/drawing/2014/main" id="{9F4EBB0A-F7FA-7693-E2D0-8D97CEC1B80B}"/>
                  </a:ext>
                </a:extLst>
              </p:cNvPr>
              <p:cNvSpPr/>
              <p:nvPr/>
            </p:nvSpPr>
            <p:spPr>
              <a:xfrm flipH="1">
                <a:off x="3059676" y="807396"/>
                <a:ext cx="304737" cy="331300"/>
              </a:xfrm>
              <a:prstGeom prst="line">
                <a:avLst/>
              </a:prstGeom>
              <a:ln w="38100" cap="flat">
                <a:solidFill>
                  <a:srgbClr val="000000"/>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37" name="TextBox 35">
                <a:extLst>
                  <a:ext uri="{FF2B5EF4-FFF2-40B4-BE49-F238E27FC236}">
                    <a16:creationId xmlns:a16="http://schemas.microsoft.com/office/drawing/2014/main" id="{01682FA0-CA62-B135-48AC-BCC16F496F2B}"/>
                  </a:ext>
                </a:extLst>
              </p:cNvPr>
              <p:cNvSpPr txBox="1"/>
              <p:nvPr/>
            </p:nvSpPr>
            <p:spPr>
              <a:xfrm>
                <a:off x="3664627" y="2024045"/>
                <a:ext cx="160933" cy="21281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ct val="0"/>
                  </a:spcBef>
                  <a:spcAft>
                    <a:spcPts val="0"/>
                  </a:spcAft>
                  <a:buClr>
                    <a:srgbClr val="000000"/>
                  </a:buClr>
                  <a:buSzTx/>
                  <a:buFont typeface="Arial"/>
                  <a:buNone/>
                  <a:tabLst/>
                  <a:defRPr/>
                </a:pPr>
                <a:r>
                  <a:rPr kumimoji="0" lang="en-US" sz="1266" b="0" i="0" u="none" strike="noStrike" kern="1200" cap="none" spc="0" normalizeH="0" baseline="0" noProof="0">
                    <a:ln>
                      <a:noFill/>
                    </a:ln>
                    <a:solidFill>
                      <a:srgbClr val="000000"/>
                    </a:solidFill>
                    <a:effectLst/>
                    <a:uLnTx/>
                    <a:uFillTx/>
                    <a:latin typeface="Rounded M+"/>
                    <a:ea typeface="Rounded M+"/>
                    <a:cs typeface="Rounded M+"/>
                    <a:sym typeface="Rounded M+"/>
                  </a:rPr>
                  <a:t>錨</a:t>
                </a:r>
              </a:p>
            </p:txBody>
          </p:sp>
          <p:sp>
            <p:nvSpPr>
              <p:cNvPr id="38" name="TextBox 36">
                <a:extLst>
                  <a:ext uri="{FF2B5EF4-FFF2-40B4-BE49-F238E27FC236}">
                    <a16:creationId xmlns:a16="http://schemas.microsoft.com/office/drawing/2014/main" id="{3BF74C57-C0B6-8C02-8AC9-3DD54BD72EB9}"/>
                  </a:ext>
                </a:extLst>
              </p:cNvPr>
              <p:cNvSpPr txBox="1"/>
              <p:nvPr/>
            </p:nvSpPr>
            <p:spPr>
              <a:xfrm>
                <a:off x="4328670" y="2159038"/>
                <a:ext cx="932991" cy="28045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ct val="0"/>
                  </a:spcBef>
                  <a:spcAft>
                    <a:spcPts val="0"/>
                  </a:spcAft>
                  <a:buClr>
                    <a:srgbClr val="000000"/>
                  </a:buClr>
                  <a:buSzTx/>
                  <a:buFont typeface="Arial"/>
                  <a:buNone/>
                  <a:tabLst/>
                  <a:defRPr/>
                </a:pPr>
                <a:r>
                  <a:rPr kumimoji="0" lang="en-US" sz="1266" b="0" i="0" u="none" strike="noStrike" kern="1200" cap="none" spc="0" normalizeH="0" baseline="0" noProof="0">
                    <a:ln>
                      <a:noFill/>
                    </a:ln>
                    <a:solidFill>
                      <a:srgbClr val="000000"/>
                    </a:solidFill>
                    <a:effectLst/>
                    <a:uLnTx/>
                    <a:uFillTx/>
                    <a:latin typeface="Rounded M+"/>
                    <a:ea typeface="Rounded M+"/>
                    <a:cs typeface="Rounded M+"/>
                    <a:sym typeface="Rounded M+"/>
                  </a:rPr>
                  <a:t>鉄パイプ</a:t>
                </a:r>
              </a:p>
            </p:txBody>
          </p:sp>
          <p:sp>
            <p:nvSpPr>
              <p:cNvPr id="39" name="TextBox 37">
                <a:extLst>
                  <a:ext uri="{FF2B5EF4-FFF2-40B4-BE49-F238E27FC236}">
                    <a16:creationId xmlns:a16="http://schemas.microsoft.com/office/drawing/2014/main" id="{F68D4FF7-EAD3-582A-DE94-FBB6739B31DB}"/>
                  </a:ext>
                </a:extLst>
              </p:cNvPr>
              <p:cNvSpPr txBox="1"/>
              <p:nvPr/>
            </p:nvSpPr>
            <p:spPr>
              <a:xfrm>
                <a:off x="935337" y="864731"/>
                <a:ext cx="1608535" cy="58236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609539" rtl="0" eaLnBrk="1" fontAlgn="auto" latinLnBrk="0" hangingPunct="1">
                  <a:lnSpc>
                    <a:spcPts val="1773"/>
                  </a:lnSpc>
                  <a:spcBef>
                    <a:spcPct val="0"/>
                  </a:spcBef>
                  <a:spcAft>
                    <a:spcPts val="0"/>
                  </a:spcAft>
                  <a:buClr>
                    <a:srgbClr val="000000"/>
                  </a:buClr>
                  <a:buSzTx/>
                  <a:buFont typeface="Arial"/>
                  <a:buNone/>
                  <a:tabLst/>
                  <a:defRPr/>
                </a:pPr>
                <a:r>
                  <a:rPr kumimoji="0" lang="en-US" b="0" i="0" u="none" strike="noStrike" kern="1200" cap="none" spc="0" normalizeH="0" baseline="0" noProof="0" err="1">
                    <a:ln>
                      <a:noFill/>
                    </a:ln>
                    <a:solidFill>
                      <a:srgbClr val="000000"/>
                    </a:solidFill>
                    <a:effectLst/>
                    <a:uLnTx/>
                    <a:uFillTx/>
                    <a:latin typeface="Rounded M+"/>
                    <a:ea typeface="Rounded M+"/>
                    <a:cs typeface="Rounded M+"/>
                    <a:sym typeface="Rounded M+"/>
                  </a:rPr>
                  <a:t>金属センサによる検知</a:t>
                </a:r>
                <a:endParaRPr kumimoji="0" lang="en-US" b="0" i="0" u="none" strike="noStrike" kern="1200" cap="none" spc="0" normalizeH="0" baseline="0" noProof="0">
                  <a:ln>
                    <a:noFill/>
                  </a:ln>
                  <a:solidFill>
                    <a:srgbClr val="000000"/>
                  </a:solidFill>
                  <a:effectLst/>
                  <a:uLnTx/>
                  <a:uFillTx/>
                  <a:latin typeface="Rounded M+"/>
                  <a:ea typeface="Rounded M+"/>
                  <a:cs typeface="Rounded M+"/>
                  <a:sym typeface="Rounded M+"/>
                </a:endParaRPr>
              </a:p>
            </p:txBody>
          </p:sp>
          <p:sp>
            <p:nvSpPr>
              <p:cNvPr id="40" name="星 7 12">
                <a:extLst>
                  <a:ext uri="{FF2B5EF4-FFF2-40B4-BE49-F238E27FC236}">
                    <a16:creationId xmlns:a16="http://schemas.microsoft.com/office/drawing/2014/main" id="{EAA50B94-EEB3-D5F9-32F2-DF90C1D17D6A}"/>
                  </a:ext>
                </a:extLst>
              </p:cNvPr>
              <p:cNvSpPr/>
              <p:nvPr/>
            </p:nvSpPr>
            <p:spPr>
              <a:xfrm rot="1033578">
                <a:off x="1162760" y="2750503"/>
                <a:ext cx="465994" cy="428844"/>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1" name="正方形/長方形 6">
                <a:extLst>
                  <a:ext uri="{FF2B5EF4-FFF2-40B4-BE49-F238E27FC236}">
                    <a16:creationId xmlns:a16="http://schemas.microsoft.com/office/drawing/2014/main" id="{38FBEBC5-CECD-4417-45FF-3EE9D004F003}"/>
                  </a:ext>
                </a:extLst>
              </p:cNvPr>
              <p:cNvSpPr/>
              <p:nvPr/>
            </p:nvSpPr>
            <p:spPr>
              <a:xfrm rot="1688381">
                <a:off x="1623771" y="2532010"/>
                <a:ext cx="1262791" cy="440037"/>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2" name="正方形/長方形 41">
                <a:extLst>
                  <a:ext uri="{FF2B5EF4-FFF2-40B4-BE49-F238E27FC236}">
                    <a16:creationId xmlns:a16="http://schemas.microsoft.com/office/drawing/2014/main" id="{33554468-5D9B-3B65-65F1-0CA67A4F1B48}"/>
                  </a:ext>
                </a:extLst>
              </p:cNvPr>
              <p:cNvSpPr/>
              <p:nvPr/>
            </p:nvSpPr>
            <p:spPr>
              <a:xfrm rot="1688381">
                <a:off x="2290198" y="2365102"/>
                <a:ext cx="537359" cy="28288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3" name="円/楕円 16">
                <a:extLst>
                  <a:ext uri="{FF2B5EF4-FFF2-40B4-BE49-F238E27FC236}">
                    <a16:creationId xmlns:a16="http://schemas.microsoft.com/office/drawing/2014/main" id="{EC8A96CC-EC5E-16AC-5A13-9AA5DB1E6E0A}"/>
                  </a:ext>
                </a:extLst>
              </p:cNvPr>
              <p:cNvSpPr/>
              <p:nvPr/>
            </p:nvSpPr>
            <p:spPr>
              <a:xfrm>
                <a:off x="2478046" y="2439820"/>
                <a:ext cx="131557" cy="156579"/>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4" name="テキスト ボックス 43">
                <a:extLst>
                  <a:ext uri="{FF2B5EF4-FFF2-40B4-BE49-F238E27FC236}">
                    <a16:creationId xmlns:a16="http://schemas.microsoft.com/office/drawing/2014/main" id="{7B86C28C-F1B8-4492-FE89-D7405BDC34AF}"/>
                  </a:ext>
                </a:extLst>
              </p:cNvPr>
              <p:cNvSpPr txBox="1"/>
              <p:nvPr/>
            </p:nvSpPr>
            <p:spPr>
              <a:xfrm>
                <a:off x="825296" y="2245401"/>
                <a:ext cx="1062377" cy="365298"/>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金属ゴミ</a:t>
                </a:r>
              </a:p>
            </p:txBody>
          </p:sp>
          <p:sp>
            <p:nvSpPr>
              <p:cNvPr id="45" name="テキスト ボックス 44">
                <a:extLst>
                  <a:ext uri="{FF2B5EF4-FFF2-40B4-BE49-F238E27FC236}">
                    <a16:creationId xmlns:a16="http://schemas.microsoft.com/office/drawing/2014/main" id="{EA713209-8F2D-18F4-048F-264AFF15C055}"/>
                  </a:ext>
                </a:extLst>
              </p:cNvPr>
              <p:cNvSpPr txBox="1"/>
              <p:nvPr/>
            </p:nvSpPr>
            <p:spPr>
              <a:xfrm>
                <a:off x="1595758" y="1932766"/>
                <a:ext cx="786326" cy="39143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沈没船</a:t>
                </a:r>
              </a:p>
            </p:txBody>
          </p:sp>
          <p:sp>
            <p:nvSpPr>
              <p:cNvPr id="46" name="角丸四角形 24">
                <a:extLst>
                  <a:ext uri="{FF2B5EF4-FFF2-40B4-BE49-F238E27FC236}">
                    <a16:creationId xmlns:a16="http://schemas.microsoft.com/office/drawing/2014/main" id="{C9A567F5-1298-A5B3-F4F2-5375736F1686}"/>
                  </a:ext>
                </a:extLst>
              </p:cNvPr>
              <p:cNvSpPr/>
              <p:nvPr/>
            </p:nvSpPr>
            <p:spPr>
              <a:xfrm>
                <a:off x="3024190" y="428947"/>
                <a:ext cx="887497" cy="406832"/>
              </a:xfrm>
              <a:prstGeom prst="roundRect">
                <a:avLst/>
              </a:prstGeom>
              <a:solidFill>
                <a:schemeClr val="tx1">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7" name="正方形/長方形 46">
                <a:extLst>
                  <a:ext uri="{FF2B5EF4-FFF2-40B4-BE49-F238E27FC236}">
                    <a16:creationId xmlns:a16="http://schemas.microsoft.com/office/drawing/2014/main" id="{EF3BF282-2498-426E-B127-087B0EC2A388}"/>
                  </a:ext>
                </a:extLst>
              </p:cNvPr>
              <p:cNvSpPr/>
              <p:nvPr/>
            </p:nvSpPr>
            <p:spPr>
              <a:xfrm>
                <a:off x="3212445" y="434087"/>
                <a:ext cx="52135" cy="41414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8" name="正方形/長方形 47">
                <a:extLst>
                  <a:ext uri="{FF2B5EF4-FFF2-40B4-BE49-F238E27FC236}">
                    <a16:creationId xmlns:a16="http://schemas.microsoft.com/office/drawing/2014/main" id="{862E1F5E-9B19-D18F-2650-BF0109C7E46F}"/>
                  </a:ext>
                </a:extLst>
              </p:cNvPr>
              <p:cNvSpPr/>
              <p:nvPr/>
            </p:nvSpPr>
            <p:spPr>
              <a:xfrm>
                <a:off x="3634758" y="424905"/>
                <a:ext cx="52135" cy="41414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49" name="Freeform 32">
                <a:extLst>
                  <a:ext uri="{FF2B5EF4-FFF2-40B4-BE49-F238E27FC236}">
                    <a16:creationId xmlns:a16="http://schemas.microsoft.com/office/drawing/2014/main" id="{8B44209B-94F7-364A-A924-886CABEBF5D2}"/>
                  </a:ext>
                </a:extLst>
              </p:cNvPr>
              <p:cNvSpPr/>
              <p:nvPr/>
            </p:nvSpPr>
            <p:spPr>
              <a:xfrm rot="7380000">
                <a:off x="2885368" y="1697921"/>
                <a:ext cx="596774" cy="259464"/>
              </a:xfrm>
              <a:custGeom>
                <a:avLst/>
                <a:gdLst/>
                <a:ahLst/>
                <a:cxnLst/>
                <a:rect l="l" t="t" r="r" b="b"/>
                <a:pathLst>
                  <a:path w="1005330" h="623304">
                    <a:moveTo>
                      <a:pt x="0" y="0"/>
                    </a:moveTo>
                    <a:lnTo>
                      <a:pt x="1005329" y="0"/>
                    </a:lnTo>
                    <a:lnTo>
                      <a:pt x="1005329" y="623304"/>
                    </a:lnTo>
                    <a:lnTo>
                      <a:pt x="0" y="62330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50" name="Freeform 28">
                <a:extLst>
                  <a:ext uri="{FF2B5EF4-FFF2-40B4-BE49-F238E27FC236}">
                    <a16:creationId xmlns:a16="http://schemas.microsoft.com/office/drawing/2014/main" id="{EEEA1B1B-F881-EDE7-734C-01E956344B45}"/>
                  </a:ext>
                </a:extLst>
              </p:cNvPr>
              <p:cNvSpPr/>
              <p:nvPr/>
            </p:nvSpPr>
            <p:spPr>
              <a:xfrm>
                <a:off x="123704" y="65123"/>
                <a:ext cx="492067" cy="737226"/>
              </a:xfrm>
              <a:custGeom>
                <a:avLst/>
                <a:gdLst/>
                <a:ahLst/>
                <a:cxnLst/>
                <a:rect l="l" t="t" r="r" b="b"/>
                <a:pathLst>
                  <a:path w="960350" h="1439216">
                    <a:moveTo>
                      <a:pt x="0" y="0"/>
                    </a:moveTo>
                    <a:lnTo>
                      <a:pt x="960350" y="0"/>
                    </a:lnTo>
                    <a:lnTo>
                      <a:pt x="960350" y="1439216"/>
                    </a:lnTo>
                    <a:lnTo>
                      <a:pt x="0" y="1439216"/>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51" name="正方形/長方形 50">
                <a:extLst>
                  <a:ext uri="{FF2B5EF4-FFF2-40B4-BE49-F238E27FC236}">
                    <a16:creationId xmlns:a16="http://schemas.microsoft.com/office/drawing/2014/main" id="{9C145381-A473-6189-1254-EB093CFE50F7}"/>
                  </a:ext>
                </a:extLst>
              </p:cNvPr>
              <p:cNvSpPr/>
              <p:nvPr/>
            </p:nvSpPr>
            <p:spPr>
              <a:xfrm>
                <a:off x="-67685" y="817564"/>
                <a:ext cx="874846" cy="2551093"/>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cxnSp>
            <p:nvCxnSpPr>
              <p:cNvPr id="52" name="直線矢印コネクタ 51">
                <a:extLst>
                  <a:ext uri="{FF2B5EF4-FFF2-40B4-BE49-F238E27FC236}">
                    <a16:creationId xmlns:a16="http://schemas.microsoft.com/office/drawing/2014/main" id="{728B13C7-393A-623F-AA99-1AAB7BB83393}"/>
                  </a:ext>
                </a:extLst>
              </p:cNvPr>
              <p:cNvCxnSpPr>
                <a:cxnSpLocks/>
              </p:cNvCxnSpPr>
              <p:nvPr/>
            </p:nvCxnSpPr>
            <p:spPr>
              <a:xfrm>
                <a:off x="699238" y="249136"/>
                <a:ext cx="2221600" cy="207626"/>
              </a:xfrm>
              <a:prstGeom prst="straightConnector1">
                <a:avLst/>
              </a:prstGeom>
              <a:ln w="57150">
                <a:solidFill>
                  <a:srgbClr val="FF0000"/>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grpSp>
        <p:sp>
          <p:nvSpPr>
            <p:cNvPr id="55" name="Freeform 23">
              <a:extLst>
                <a:ext uri="{FF2B5EF4-FFF2-40B4-BE49-F238E27FC236}">
                  <a16:creationId xmlns:a16="http://schemas.microsoft.com/office/drawing/2014/main" id="{F25DA040-6D21-E3BA-43C6-BAEFE7208DB6}"/>
                </a:ext>
              </a:extLst>
            </p:cNvPr>
            <p:cNvSpPr/>
            <p:nvPr/>
          </p:nvSpPr>
          <p:spPr>
            <a:xfrm>
              <a:off x="5573464" y="2004188"/>
              <a:ext cx="601456" cy="478148"/>
            </a:xfrm>
            <a:custGeom>
              <a:avLst/>
              <a:gdLst/>
              <a:ahLst/>
              <a:cxnLst/>
              <a:rect l="l" t="t" r="r" b="b"/>
              <a:pathLst>
                <a:path w="1342859" h="937560">
                  <a:moveTo>
                    <a:pt x="0" y="0"/>
                  </a:moveTo>
                  <a:lnTo>
                    <a:pt x="1342859" y="0"/>
                  </a:lnTo>
                  <a:lnTo>
                    <a:pt x="1342859" y="937560"/>
                  </a:lnTo>
                  <a:lnTo>
                    <a:pt x="0" y="93756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56" name="テキスト ボックス 55">
              <a:extLst>
                <a:ext uri="{FF2B5EF4-FFF2-40B4-BE49-F238E27FC236}">
                  <a16:creationId xmlns:a16="http://schemas.microsoft.com/office/drawing/2014/main" id="{42C06E12-A620-3EE8-3B95-1F083EDEA96C}"/>
                </a:ext>
              </a:extLst>
            </p:cNvPr>
            <p:cNvSpPr txBox="1"/>
            <p:nvPr/>
          </p:nvSpPr>
          <p:spPr>
            <a:xfrm>
              <a:off x="5310694" y="2510312"/>
              <a:ext cx="1340962" cy="3783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800" b="0" i="0" u="none" strike="noStrike" kern="0" cap="none" spc="0" normalizeH="0" baseline="0" noProof="0">
                  <a:ln>
                    <a:noFill/>
                  </a:ln>
                  <a:solidFill>
                    <a:srgbClr val="000000"/>
                  </a:solidFill>
                  <a:effectLst/>
                  <a:uLnTx/>
                  <a:uFillTx/>
                  <a:latin typeface="Arial"/>
                  <a:cs typeface="Arial"/>
                  <a:sym typeface="Arial"/>
                </a:rPr>
                <a:t>遠隔操作</a:t>
              </a:r>
            </a:p>
          </p:txBody>
        </p:sp>
        <p:sp>
          <p:nvSpPr>
            <p:cNvPr id="57" name="グラフィックス 1051" descr="雲 枠線">
              <a:extLst>
                <a:ext uri="{FF2B5EF4-FFF2-40B4-BE49-F238E27FC236}">
                  <a16:creationId xmlns:a16="http://schemas.microsoft.com/office/drawing/2014/main" id="{A8DDDF70-6907-FE43-8B81-A68B90507CA2}"/>
                </a:ext>
              </a:extLst>
            </p:cNvPr>
            <p:cNvSpPr/>
            <p:nvPr/>
          </p:nvSpPr>
          <p:spPr>
            <a:xfrm>
              <a:off x="3797678" y="1505297"/>
              <a:ext cx="1381544" cy="845348"/>
            </a:xfrm>
            <a:custGeom>
              <a:avLst/>
              <a:gdLst>
                <a:gd name="connsiteX0" fmla="*/ 234603 w 1381544"/>
                <a:gd name="connsiteY0" fmla="*/ 843939 h 845348"/>
                <a:gd name="connsiteX1" fmla="*/ 299507 w 1381544"/>
                <a:gd name="connsiteY1" fmla="*/ 845348 h 845348"/>
                <a:gd name="connsiteX2" fmla="*/ 1184989 w 1381544"/>
                <a:gd name="connsiteY2" fmla="*/ 845348 h 845348"/>
                <a:gd name="connsiteX3" fmla="*/ 1381543 w 1381544"/>
                <a:gd name="connsiteY3" fmla="*/ 632361 h 845348"/>
                <a:gd name="connsiteX4" fmla="*/ 1186627 w 1381544"/>
                <a:gd name="connsiteY4" fmla="*/ 421069 h 845348"/>
                <a:gd name="connsiteX5" fmla="*/ 1170242 w 1381544"/>
                <a:gd name="connsiteY5" fmla="*/ 421069 h 845348"/>
                <a:gd name="connsiteX6" fmla="*/ 1067016 w 1381544"/>
                <a:gd name="connsiteY6" fmla="*/ 206104 h 845348"/>
                <a:gd name="connsiteX7" fmla="*/ 842528 w 1381544"/>
                <a:gd name="connsiteY7" fmla="*/ 172636 h 845348"/>
                <a:gd name="connsiteX8" fmla="*/ 445922 w 1381544"/>
                <a:gd name="connsiteY8" fmla="*/ 34822 h 845348"/>
                <a:gd name="connsiteX9" fmla="*/ 285405 w 1381544"/>
                <a:gd name="connsiteY9" fmla="*/ 315352 h 845348"/>
                <a:gd name="connsiteX10" fmla="*/ 285405 w 1381544"/>
                <a:gd name="connsiteY10" fmla="*/ 318875 h 845348"/>
                <a:gd name="connsiteX11" fmla="*/ 246520 w 1381544"/>
                <a:gd name="connsiteY11" fmla="*/ 315470 h 845348"/>
                <a:gd name="connsiteX12" fmla="*/ 0 w 1381544"/>
                <a:gd name="connsiteY12" fmla="*/ 579876 h 845348"/>
                <a:gd name="connsiteX13" fmla="*/ 23225 w 1381544"/>
                <a:gd name="connsiteY13" fmla="*/ 692414 h 845348"/>
                <a:gd name="connsiteX14" fmla="*/ 234603 w 1381544"/>
                <a:gd name="connsiteY14" fmla="*/ 843939 h 845348"/>
                <a:gd name="connsiteX15" fmla="*/ 75630 w 1381544"/>
                <a:gd name="connsiteY15" fmla="*/ 442253 h 845348"/>
                <a:gd name="connsiteX16" fmla="*/ 246510 w 1381544"/>
                <a:gd name="connsiteY16" fmla="*/ 350696 h 845348"/>
                <a:gd name="connsiteX17" fmla="*/ 280100 w 1381544"/>
                <a:gd name="connsiteY17" fmla="*/ 353636 h 845348"/>
                <a:gd name="connsiteX18" fmla="*/ 318164 w 1381544"/>
                <a:gd name="connsiteY18" fmla="*/ 360330 h 845348"/>
                <a:gd name="connsiteX19" fmla="*/ 318164 w 1381544"/>
                <a:gd name="connsiteY19" fmla="*/ 315345 h 845348"/>
                <a:gd name="connsiteX20" fmla="*/ 581770 w 1381544"/>
                <a:gd name="connsiteY20" fmla="*/ 35421 h 845348"/>
                <a:gd name="connsiteX21" fmla="*/ 813369 w 1381544"/>
                <a:gd name="connsiteY21" fmla="*/ 188720 h 845348"/>
                <a:gd name="connsiteX22" fmla="*/ 826382 w 1381544"/>
                <a:gd name="connsiteY22" fmla="*/ 215968 h 845348"/>
                <a:gd name="connsiteX23" fmla="*/ 853290 w 1381544"/>
                <a:gd name="connsiteY23" fmla="*/ 205905 h 845348"/>
                <a:gd name="connsiteX24" fmla="*/ 1125060 w 1381544"/>
                <a:gd name="connsiteY24" fmla="*/ 344178 h 845348"/>
                <a:gd name="connsiteX25" fmla="*/ 1137470 w 1381544"/>
                <a:gd name="connsiteY25" fmla="*/ 421069 h 845348"/>
                <a:gd name="connsiteX26" fmla="*/ 1137470 w 1381544"/>
                <a:gd name="connsiteY26" fmla="*/ 456299 h 845348"/>
                <a:gd name="connsiteX27" fmla="*/ 1186626 w 1381544"/>
                <a:gd name="connsiteY27" fmla="*/ 456299 h 845348"/>
                <a:gd name="connsiteX28" fmla="*/ 1348757 w 1381544"/>
                <a:gd name="connsiteY28" fmla="*/ 635802 h 845348"/>
                <a:gd name="connsiteX29" fmla="*/ 1184989 w 1381544"/>
                <a:gd name="connsiteY29" fmla="*/ 810119 h 845348"/>
                <a:gd name="connsiteX30" fmla="*/ 265584 w 1381544"/>
                <a:gd name="connsiteY30" fmla="*/ 810119 h 845348"/>
                <a:gd name="connsiteX31" fmla="*/ 236383 w 1381544"/>
                <a:gd name="connsiteY31" fmla="*/ 808760 h 845348"/>
                <a:gd name="connsiteX32" fmla="*/ 32867 w 1381544"/>
                <a:gd name="connsiteY32" fmla="*/ 570253 h 845348"/>
                <a:gd name="connsiteX33" fmla="*/ 75625 w 1381544"/>
                <a:gd name="connsiteY33" fmla="*/ 442253 h 84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81544" h="845348">
                  <a:moveTo>
                    <a:pt x="234603" y="843939"/>
                  </a:moveTo>
                  <a:cubicBezTo>
                    <a:pt x="251170" y="844910"/>
                    <a:pt x="299507" y="845348"/>
                    <a:pt x="299507" y="845348"/>
                  </a:cubicBezTo>
                  <a:lnTo>
                    <a:pt x="1184989" y="845348"/>
                  </a:lnTo>
                  <a:cubicBezTo>
                    <a:pt x="1293975" y="844885"/>
                    <a:pt x="1381976" y="749527"/>
                    <a:pt x="1381543" y="632361"/>
                  </a:cubicBezTo>
                  <a:cubicBezTo>
                    <a:pt x="1381117" y="516538"/>
                    <a:pt x="1294358" y="422489"/>
                    <a:pt x="1186627" y="421069"/>
                  </a:cubicBezTo>
                  <a:lnTo>
                    <a:pt x="1170242" y="421069"/>
                  </a:lnTo>
                  <a:cubicBezTo>
                    <a:pt x="1170090" y="335711"/>
                    <a:pt x="1131655" y="255672"/>
                    <a:pt x="1067016" y="206104"/>
                  </a:cubicBezTo>
                  <a:cubicBezTo>
                    <a:pt x="1001526" y="156844"/>
                    <a:pt x="918016" y="144394"/>
                    <a:pt x="842528" y="172636"/>
                  </a:cubicBezTo>
                  <a:cubicBezTo>
                    <a:pt x="768408" y="16841"/>
                    <a:pt x="590841" y="-44860"/>
                    <a:pt x="445922" y="34822"/>
                  </a:cubicBezTo>
                  <a:cubicBezTo>
                    <a:pt x="347861" y="88741"/>
                    <a:pt x="285949" y="196943"/>
                    <a:pt x="285405" y="315352"/>
                  </a:cubicBezTo>
                  <a:lnTo>
                    <a:pt x="285405" y="318875"/>
                  </a:lnTo>
                  <a:cubicBezTo>
                    <a:pt x="272550" y="316613"/>
                    <a:pt x="259546" y="315475"/>
                    <a:pt x="246520" y="315470"/>
                  </a:cubicBezTo>
                  <a:cubicBezTo>
                    <a:pt x="110529" y="315301"/>
                    <a:pt x="158" y="433680"/>
                    <a:pt x="0" y="579876"/>
                  </a:cubicBezTo>
                  <a:cubicBezTo>
                    <a:pt x="-42" y="618768"/>
                    <a:pt x="7888" y="657191"/>
                    <a:pt x="23225" y="692414"/>
                  </a:cubicBezTo>
                  <a:cubicBezTo>
                    <a:pt x="63030" y="780282"/>
                    <a:pt x="143848" y="838218"/>
                    <a:pt x="234603" y="843939"/>
                  </a:cubicBezTo>
                  <a:close/>
                  <a:moveTo>
                    <a:pt x="75630" y="442253"/>
                  </a:moveTo>
                  <a:cubicBezTo>
                    <a:pt x="116511" y="385170"/>
                    <a:pt x="179502" y="351418"/>
                    <a:pt x="246510" y="350696"/>
                  </a:cubicBezTo>
                  <a:cubicBezTo>
                    <a:pt x="257762" y="350707"/>
                    <a:pt x="268994" y="351689"/>
                    <a:pt x="280100" y="353636"/>
                  </a:cubicBezTo>
                  <a:lnTo>
                    <a:pt x="318164" y="360330"/>
                  </a:lnTo>
                  <a:lnTo>
                    <a:pt x="318164" y="315345"/>
                  </a:lnTo>
                  <a:cubicBezTo>
                    <a:pt x="319054" y="159789"/>
                    <a:pt x="437074" y="34465"/>
                    <a:pt x="581770" y="35421"/>
                  </a:cubicBezTo>
                  <a:cubicBezTo>
                    <a:pt x="679527" y="36068"/>
                    <a:pt x="768818" y="95171"/>
                    <a:pt x="813369" y="188720"/>
                  </a:cubicBezTo>
                  <a:lnTo>
                    <a:pt x="826382" y="215968"/>
                  </a:lnTo>
                  <a:lnTo>
                    <a:pt x="853290" y="205905"/>
                  </a:lnTo>
                  <a:cubicBezTo>
                    <a:pt x="963855" y="163409"/>
                    <a:pt x="1085529" y="225315"/>
                    <a:pt x="1125060" y="344178"/>
                  </a:cubicBezTo>
                  <a:cubicBezTo>
                    <a:pt x="1133266" y="368853"/>
                    <a:pt x="1137464" y="394863"/>
                    <a:pt x="1137470" y="421069"/>
                  </a:cubicBezTo>
                  <a:lnTo>
                    <a:pt x="1137470" y="456299"/>
                  </a:lnTo>
                  <a:lnTo>
                    <a:pt x="1186626" y="456299"/>
                  </a:lnTo>
                  <a:cubicBezTo>
                    <a:pt x="1277504" y="457736"/>
                    <a:pt x="1350094" y="538102"/>
                    <a:pt x="1348757" y="635802"/>
                  </a:cubicBezTo>
                  <a:cubicBezTo>
                    <a:pt x="1347438" y="732160"/>
                    <a:pt x="1274629" y="809661"/>
                    <a:pt x="1184989" y="810119"/>
                  </a:cubicBezTo>
                  <a:lnTo>
                    <a:pt x="265584" y="810119"/>
                  </a:lnTo>
                  <a:lnTo>
                    <a:pt x="236383" y="808760"/>
                  </a:lnTo>
                  <a:cubicBezTo>
                    <a:pt x="118919" y="803316"/>
                    <a:pt x="27802" y="696533"/>
                    <a:pt x="32867" y="570253"/>
                  </a:cubicBezTo>
                  <a:cubicBezTo>
                    <a:pt x="34725" y="523914"/>
                    <a:pt x="49636" y="479276"/>
                    <a:pt x="75625" y="442253"/>
                  </a:cubicBezTo>
                  <a:close/>
                </a:path>
              </a:pathLst>
            </a:custGeom>
            <a:solidFill>
              <a:srgbClr val="000000"/>
            </a:solidFill>
            <a:ln w="21238" cap="flat">
              <a:solidFill>
                <a:schemeClr val="tx1"/>
              </a:solidFill>
              <a:prstDash val="solid"/>
              <a:miter/>
            </a:ln>
          </p:spPr>
          <p:txBody>
            <a:bodyPr rtlCol="0" anchor="ctr"/>
            <a:lstStyle/>
            <a:p>
              <a:endParaRPr lang="ja-JP" altLang="en-US"/>
            </a:p>
          </p:txBody>
        </p:sp>
        <p:sp>
          <p:nvSpPr>
            <p:cNvPr id="58" name="四角形: 角を丸くする 57">
              <a:extLst>
                <a:ext uri="{FF2B5EF4-FFF2-40B4-BE49-F238E27FC236}">
                  <a16:creationId xmlns:a16="http://schemas.microsoft.com/office/drawing/2014/main" id="{BC1C00AD-F401-492C-AC78-8B29973A8BC5}"/>
                </a:ext>
              </a:extLst>
            </p:cNvPr>
            <p:cNvSpPr/>
            <p:nvPr/>
          </p:nvSpPr>
          <p:spPr>
            <a:xfrm>
              <a:off x="323850" y="747828"/>
              <a:ext cx="11563350" cy="2875768"/>
            </a:xfrm>
            <a:prstGeom prst="roundRect">
              <a:avLst/>
            </a:prstGeom>
            <a:no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四角形: 角を丸くする 58">
              <a:extLst>
                <a:ext uri="{FF2B5EF4-FFF2-40B4-BE49-F238E27FC236}">
                  <a16:creationId xmlns:a16="http://schemas.microsoft.com/office/drawing/2014/main" id="{EA5394C2-13BE-949C-4154-9FF12D5062BD}"/>
                </a:ext>
              </a:extLst>
            </p:cNvPr>
            <p:cNvSpPr/>
            <p:nvPr/>
          </p:nvSpPr>
          <p:spPr>
            <a:xfrm>
              <a:off x="323850" y="3751349"/>
              <a:ext cx="11563350" cy="2810315"/>
            </a:xfrm>
            <a:prstGeom prst="round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AutoShape 17">
              <a:extLst>
                <a:ext uri="{FF2B5EF4-FFF2-40B4-BE49-F238E27FC236}">
                  <a16:creationId xmlns:a16="http://schemas.microsoft.com/office/drawing/2014/main" id="{4EB70BE6-4904-9E17-58C9-0F99B678B678}"/>
                </a:ext>
              </a:extLst>
            </p:cNvPr>
            <p:cNvSpPr/>
            <p:nvPr/>
          </p:nvSpPr>
          <p:spPr>
            <a:xfrm>
              <a:off x="1657761" y="2600279"/>
              <a:ext cx="9812" cy="1422596"/>
            </a:xfrm>
            <a:prstGeom prst="line">
              <a:avLst/>
            </a:prstGeom>
            <a:ln w="73025" cap="flat">
              <a:gradFill>
                <a:gsLst>
                  <a:gs pos="0">
                    <a:schemeClr val="bg2">
                      <a:lumMod val="40000"/>
                      <a:lumOff val="60000"/>
                    </a:schemeClr>
                  </a:gs>
                  <a:gs pos="100000">
                    <a:schemeClr val="accent2">
                      <a:lumMod val="60000"/>
                      <a:lumOff val="40000"/>
                    </a:schemeClr>
                  </a:gs>
                </a:gsLst>
                <a:lin ang="5400000" scaled="1"/>
              </a:gradFill>
              <a:prstDash val="solid"/>
              <a:headEnd type="none" w="sm" len="sm"/>
              <a:tailEnd type="triangle" w="lg" len="med"/>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grpSp>
      <p:sp>
        <p:nvSpPr>
          <p:cNvPr id="190" name="テキスト ボックス 189">
            <a:extLst>
              <a:ext uri="{FF2B5EF4-FFF2-40B4-BE49-F238E27FC236}">
                <a16:creationId xmlns:a16="http://schemas.microsoft.com/office/drawing/2014/main" id="{80E7B530-2915-3E37-2613-B3DCFC2C2263}"/>
              </a:ext>
            </a:extLst>
          </p:cNvPr>
          <p:cNvSpPr txBox="1"/>
          <p:nvPr/>
        </p:nvSpPr>
        <p:spPr>
          <a:xfrm>
            <a:off x="1585172" y="1363325"/>
            <a:ext cx="18090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800" b="0" i="0" u="none" strike="noStrike" kern="0" cap="none" spc="0" normalizeH="0" baseline="0" noProof="0">
                <a:ln>
                  <a:noFill/>
                </a:ln>
                <a:solidFill>
                  <a:srgbClr val="000000"/>
                </a:solidFill>
                <a:effectLst/>
                <a:uLnTx/>
                <a:uFillTx/>
                <a:latin typeface="Arial"/>
                <a:cs typeface="Arial"/>
                <a:sym typeface="Arial"/>
              </a:rPr>
              <a:t>画像取得</a:t>
            </a:r>
          </a:p>
        </p:txBody>
      </p:sp>
      <p:cxnSp>
        <p:nvCxnSpPr>
          <p:cNvPr id="62" name="直線矢印コネクタ 26">
            <a:extLst>
              <a:ext uri="{FF2B5EF4-FFF2-40B4-BE49-F238E27FC236}">
                <a16:creationId xmlns:a16="http://schemas.microsoft.com/office/drawing/2014/main" id="{9B3F15AD-4C4A-6C87-D317-3D73F2D75804}"/>
              </a:ext>
            </a:extLst>
          </p:cNvPr>
          <p:cNvCxnSpPr>
            <a:cxnSpLocks/>
          </p:cNvCxnSpPr>
          <p:nvPr/>
        </p:nvCxnSpPr>
        <p:spPr>
          <a:xfrm flipV="1">
            <a:off x="5941019" y="1249416"/>
            <a:ext cx="749470" cy="756064"/>
          </a:xfrm>
          <a:prstGeom prst="straightConnector1">
            <a:avLst/>
          </a:prstGeom>
          <a:ln w="57150">
            <a:solidFill>
              <a:srgbClr val="FF0000"/>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92410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13E992E2-488E-2722-0974-BB8262325B52}"/>
            </a:ext>
          </a:extLst>
        </p:cNvPr>
        <p:cNvGrpSpPr/>
        <p:nvPr/>
      </p:nvGrpSpPr>
      <p:grpSpPr>
        <a:xfrm>
          <a:off x="0" y="0"/>
          <a:ext cx="0" cy="0"/>
          <a:chOff x="0" y="0"/>
          <a:chExt cx="0" cy="0"/>
        </a:xfrm>
      </p:grpSpPr>
      <p:sp>
        <p:nvSpPr>
          <p:cNvPr id="170" name="Google Shape;170;p7">
            <a:extLst>
              <a:ext uri="{FF2B5EF4-FFF2-40B4-BE49-F238E27FC236}">
                <a16:creationId xmlns:a16="http://schemas.microsoft.com/office/drawing/2014/main" id="{A3E963EA-45D6-8C95-3230-853CA4780D09}"/>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71" name="Google Shape;171;p7">
            <a:extLst>
              <a:ext uri="{FF2B5EF4-FFF2-40B4-BE49-F238E27FC236}">
                <a16:creationId xmlns:a16="http://schemas.microsoft.com/office/drawing/2014/main" id="{5B28AE5D-E37E-F9E1-C126-07E51B8BC216}"/>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第１章　今回取り組む地域課題　</a:t>
            </a:r>
            <a:endParaRPr>
              <a:solidFill>
                <a:srgbClr val="54C1DF"/>
              </a:solidFill>
            </a:endParaRPr>
          </a:p>
        </p:txBody>
      </p:sp>
      <p:grpSp>
        <p:nvGrpSpPr>
          <p:cNvPr id="182" name="Google Shape;182;p7">
            <a:extLst>
              <a:ext uri="{FF2B5EF4-FFF2-40B4-BE49-F238E27FC236}">
                <a16:creationId xmlns:a16="http://schemas.microsoft.com/office/drawing/2014/main" id="{4A4D34FD-62A9-CC14-E126-6291C5559170}"/>
              </a:ext>
            </a:extLst>
          </p:cNvPr>
          <p:cNvGrpSpPr/>
          <p:nvPr/>
        </p:nvGrpSpPr>
        <p:grpSpPr>
          <a:xfrm>
            <a:off x="32658" y="548240"/>
            <a:ext cx="2778282" cy="281466"/>
            <a:chOff x="-969988" y="2927930"/>
            <a:chExt cx="2778282" cy="281466"/>
          </a:xfrm>
        </p:grpSpPr>
        <p:sp>
          <p:nvSpPr>
            <p:cNvPr id="183" name="Google Shape;183;p7">
              <a:extLst>
                <a:ext uri="{FF2B5EF4-FFF2-40B4-BE49-F238E27FC236}">
                  <a16:creationId xmlns:a16="http://schemas.microsoft.com/office/drawing/2014/main" id="{1B3D9CE0-8180-19C4-9DA6-EA8127C33B20}"/>
                </a:ext>
              </a:extLst>
            </p:cNvPr>
            <p:cNvSpPr/>
            <p:nvPr/>
          </p:nvSpPr>
          <p:spPr>
            <a:xfrm rot="10800000">
              <a:off x="-732847" y="2938565"/>
              <a:ext cx="2304000" cy="270831"/>
            </a:xfrm>
            <a:prstGeom prst="round2SameRect">
              <a:avLst>
                <a:gd name="adj1" fmla="val 50000"/>
                <a:gd name="adj2" fmla="val 0"/>
              </a:avLst>
            </a:prstGeom>
            <a:solidFill>
              <a:srgbClr val="54C1D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184;p7">
              <a:extLst>
                <a:ext uri="{FF2B5EF4-FFF2-40B4-BE49-F238E27FC236}">
                  <a16:creationId xmlns:a16="http://schemas.microsoft.com/office/drawing/2014/main" id="{D23FD1B2-BFB1-2166-F56C-9FD16912D51D}"/>
                </a:ext>
              </a:extLst>
            </p:cNvPr>
            <p:cNvSpPr txBox="1"/>
            <p:nvPr/>
          </p:nvSpPr>
          <p:spPr>
            <a:xfrm rot="16200000">
              <a:off x="303590" y="1941796"/>
              <a:ext cx="231169" cy="2224676"/>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4" b="1"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85" name="Google Shape;185;p7">
              <a:extLst>
                <a:ext uri="{FF2B5EF4-FFF2-40B4-BE49-F238E27FC236}">
                  <a16:creationId xmlns:a16="http://schemas.microsoft.com/office/drawing/2014/main" id="{8BFF1D68-AABE-55EF-075C-08E61308A012}"/>
                </a:ext>
              </a:extLst>
            </p:cNvPr>
            <p:cNvSpPr txBox="1"/>
            <p:nvPr/>
          </p:nvSpPr>
          <p:spPr>
            <a:xfrm>
              <a:off x="-969988" y="2927930"/>
              <a:ext cx="2778282" cy="27699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FFFFFF"/>
                  </a:solidFill>
                  <a:effectLst/>
                  <a:uLnTx/>
                  <a:uFillTx/>
                  <a:latin typeface="Arial"/>
                  <a:ea typeface="Arial"/>
                  <a:cs typeface="Arial"/>
                  <a:sym typeface="Arial"/>
                </a:rPr>
                <a:t>1.3 </a:t>
              </a:r>
              <a:r>
                <a:rPr kumimoji="0" lang="ja-JP" altLang="en-US" sz="1200" b="1" i="0" u="none" strike="noStrike" kern="0" cap="none" spc="0" normalizeH="0" baseline="0" noProof="0">
                  <a:ln>
                    <a:noFill/>
                  </a:ln>
                  <a:solidFill>
                    <a:srgbClr val="FFFFFF"/>
                  </a:solidFill>
                  <a:effectLst/>
                  <a:uLnTx/>
                  <a:uFillTx/>
                  <a:latin typeface="Arial"/>
                  <a:ea typeface="Arial"/>
                  <a:cs typeface="Arial"/>
                  <a:sym typeface="Arial"/>
                </a:rPr>
                <a:t>適用するワイヤレス技術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 name="テキスト ボックス 1">
            <a:extLst>
              <a:ext uri="{FF2B5EF4-FFF2-40B4-BE49-F238E27FC236}">
                <a16:creationId xmlns:a16="http://schemas.microsoft.com/office/drawing/2014/main" id="{F4D641E5-225D-767A-7BEA-639F5A00CBCF}"/>
              </a:ext>
            </a:extLst>
          </p:cNvPr>
          <p:cNvSpPr txBox="1"/>
          <p:nvPr/>
        </p:nvSpPr>
        <p:spPr>
          <a:xfrm>
            <a:off x="309482" y="988907"/>
            <a:ext cx="10956846" cy="83099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Arial"/>
                <a:cs typeface="Arial"/>
                <a:sym typeface="Arial"/>
              </a:rPr>
              <a:t>・水中ドローンから収集した</a:t>
            </a:r>
            <a:r>
              <a:rPr kumimoji="1" lang="ja-JP" altLang="en-US" sz="2400"/>
              <a:t>センサデータや画像、動画の</a:t>
            </a:r>
            <a:r>
              <a:rPr kumimoji="1" lang="ja-JP" altLang="en-US" sz="2400" b="0" i="0" u="none" strike="noStrike" kern="0" cap="none" spc="0" normalizeH="0" baseline="0" noProof="0">
                <a:ln>
                  <a:noFill/>
                </a:ln>
                <a:solidFill>
                  <a:srgbClr val="000000"/>
                </a:solidFill>
                <a:effectLst/>
                <a:uLnTx/>
                <a:uFillTx/>
                <a:latin typeface="Arial"/>
                <a:cs typeface="Arial"/>
                <a:sym typeface="Arial"/>
              </a:rPr>
              <a:t>探査データを</a:t>
            </a:r>
            <a:endParaRPr kumimoji="1" lang="en-US" altLang="ja-JP"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a:t>　データ損失なく</a:t>
            </a:r>
            <a:r>
              <a:rPr kumimoji="1" lang="ja-JP" altLang="en-US" sz="2400" b="0" i="0" u="none" strike="noStrike" kern="0" cap="none" spc="0" normalizeH="0" baseline="0" noProof="0">
                <a:ln>
                  <a:noFill/>
                </a:ln>
                <a:solidFill>
                  <a:srgbClr val="000000"/>
                </a:solidFill>
                <a:effectLst/>
                <a:uLnTx/>
                <a:uFillTx/>
                <a:latin typeface="Arial"/>
                <a:cs typeface="Arial"/>
                <a:sym typeface="Arial"/>
              </a:rPr>
              <a:t>リアルタイムでクラウドを中継して地上に送信できること。</a:t>
            </a:r>
          </a:p>
        </p:txBody>
      </p:sp>
      <p:pic>
        <p:nvPicPr>
          <p:cNvPr id="5" name="図 4">
            <a:extLst>
              <a:ext uri="{FF2B5EF4-FFF2-40B4-BE49-F238E27FC236}">
                <a16:creationId xmlns:a16="http://schemas.microsoft.com/office/drawing/2014/main" id="{702A02BF-878E-995E-7AAA-EF13AED95691}"/>
              </a:ext>
            </a:extLst>
          </p:cNvPr>
          <p:cNvPicPr>
            <a:picLocks noChangeAspect="1"/>
          </p:cNvPicPr>
          <p:nvPr/>
        </p:nvPicPr>
        <p:blipFill>
          <a:blip r:embed="rId3"/>
          <a:stretch>
            <a:fillRect/>
          </a:stretch>
        </p:blipFill>
        <p:spPr>
          <a:xfrm>
            <a:off x="972608" y="3588649"/>
            <a:ext cx="2098136" cy="1059846"/>
          </a:xfrm>
          <a:prstGeom prst="rect">
            <a:avLst/>
          </a:prstGeom>
        </p:spPr>
      </p:pic>
      <p:sp>
        <p:nvSpPr>
          <p:cNvPr id="6" name="テキスト ボックス 5">
            <a:extLst>
              <a:ext uri="{FF2B5EF4-FFF2-40B4-BE49-F238E27FC236}">
                <a16:creationId xmlns:a16="http://schemas.microsoft.com/office/drawing/2014/main" id="{4AD9AAFC-92D9-4646-CDAE-CD07A2693910}"/>
              </a:ext>
            </a:extLst>
          </p:cNvPr>
          <p:cNvSpPr txBox="1"/>
          <p:nvPr/>
        </p:nvSpPr>
        <p:spPr>
          <a:xfrm>
            <a:off x="2587596" y="605487"/>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70C0"/>
                </a:solidFill>
                <a:effectLst/>
                <a:uLnTx/>
                <a:uFillTx/>
                <a:latin typeface="Arial"/>
                <a:cs typeface="Arial"/>
                <a:sym typeface="Arial"/>
              </a:rPr>
              <a:t>技術的要件</a:t>
            </a:r>
          </a:p>
        </p:txBody>
      </p:sp>
      <p:pic>
        <p:nvPicPr>
          <p:cNvPr id="15" name="グラフィックス 14" descr="雲 枠線">
            <a:extLst>
              <a:ext uri="{FF2B5EF4-FFF2-40B4-BE49-F238E27FC236}">
                <a16:creationId xmlns:a16="http://schemas.microsoft.com/office/drawing/2014/main" id="{D7E49B77-99F4-FF42-550C-0809EEB819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13845" y="1815205"/>
            <a:ext cx="1955274" cy="1955274"/>
          </a:xfrm>
          <a:prstGeom prst="rect">
            <a:avLst/>
          </a:prstGeom>
        </p:spPr>
      </p:pic>
      <p:sp>
        <p:nvSpPr>
          <p:cNvPr id="17" name="テキスト ボックス 16">
            <a:extLst>
              <a:ext uri="{FF2B5EF4-FFF2-40B4-BE49-F238E27FC236}">
                <a16:creationId xmlns:a16="http://schemas.microsoft.com/office/drawing/2014/main" id="{7B195973-BCBF-A868-804F-D2912BEB7FA3}"/>
              </a:ext>
            </a:extLst>
          </p:cNvPr>
          <p:cNvSpPr txBox="1"/>
          <p:nvPr/>
        </p:nvSpPr>
        <p:spPr>
          <a:xfrm>
            <a:off x="6752307" y="3548473"/>
            <a:ext cx="2159566" cy="30777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テザーインターフェース</a:t>
            </a:r>
          </a:p>
        </p:txBody>
      </p:sp>
      <p:sp>
        <p:nvSpPr>
          <p:cNvPr id="18" name="テキスト ボックス 17">
            <a:extLst>
              <a:ext uri="{FF2B5EF4-FFF2-40B4-BE49-F238E27FC236}">
                <a16:creationId xmlns:a16="http://schemas.microsoft.com/office/drawing/2014/main" id="{35A38B70-2B47-C64C-E90A-683266FD768F}"/>
              </a:ext>
            </a:extLst>
          </p:cNvPr>
          <p:cNvSpPr txBox="1"/>
          <p:nvPr/>
        </p:nvSpPr>
        <p:spPr>
          <a:xfrm>
            <a:off x="1753419" y="1878614"/>
            <a:ext cx="434734" cy="30777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Arial"/>
                <a:cs typeface="Arial"/>
                <a:sym typeface="Arial"/>
              </a:rPr>
              <a:t>PC</a:t>
            </a:r>
            <a:endParaRPr kumimoji="1" lang="ja-JP"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テキスト ボックス 19">
            <a:extLst>
              <a:ext uri="{FF2B5EF4-FFF2-40B4-BE49-F238E27FC236}">
                <a16:creationId xmlns:a16="http://schemas.microsoft.com/office/drawing/2014/main" id="{5F09A3CD-A44E-7BCE-AD33-B0EF0D551018}"/>
              </a:ext>
            </a:extLst>
          </p:cNvPr>
          <p:cNvSpPr txBox="1"/>
          <p:nvPr/>
        </p:nvSpPr>
        <p:spPr>
          <a:xfrm>
            <a:off x="4772798" y="2746287"/>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クラウド</a:t>
            </a:r>
          </a:p>
        </p:txBody>
      </p:sp>
      <p:sp>
        <p:nvSpPr>
          <p:cNvPr id="21" name="テキスト ボックス 20">
            <a:extLst>
              <a:ext uri="{FF2B5EF4-FFF2-40B4-BE49-F238E27FC236}">
                <a16:creationId xmlns:a16="http://schemas.microsoft.com/office/drawing/2014/main" id="{AF752A93-318A-C1B2-E7A9-15E6D5475D25}"/>
              </a:ext>
            </a:extLst>
          </p:cNvPr>
          <p:cNvSpPr txBox="1"/>
          <p:nvPr/>
        </p:nvSpPr>
        <p:spPr>
          <a:xfrm>
            <a:off x="5812828" y="2426418"/>
            <a:ext cx="1789272" cy="307777"/>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a:t>５G又は</a:t>
            </a:r>
            <a:r>
              <a:rPr kumimoji="1" lang="en-US"/>
              <a:t>4G</a:t>
            </a:r>
            <a:r>
              <a:rPr kumimoji="1" lang="ja-JP" altLang="en-US"/>
              <a:t>（</a:t>
            </a:r>
            <a:r>
              <a:rPr kumimoji="1" lang="en-US" altLang="ja-JP"/>
              <a:t>LTE）</a:t>
            </a:r>
            <a:endParaRPr kumimoji="1" lang="ja-JP"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テキスト ボックス 21">
            <a:extLst>
              <a:ext uri="{FF2B5EF4-FFF2-40B4-BE49-F238E27FC236}">
                <a16:creationId xmlns:a16="http://schemas.microsoft.com/office/drawing/2014/main" id="{9438A43F-2E65-4E97-38DB-865F56FB5663}"/>
              </a:ext>
            </a:extLst>
          </p:cNvPr>
          <p:cNvSpPr txBox="1"/>
          <p:nvPr/>
        </p:nvSpPr>
        <p:spPr>
          <a:xfrm>
            <a:off x="1631482" y="3160281"/>
            <a:ext cx="633507" cy="30777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Arial"/>
                <a:cs typeface="Arial"/>
                <a:sym typeface="Arial"/>
              </a:rPr>
              <a:t>QGIS</a:t>
            </a:r>
          </a:p>
        </p:txBody>
      </p:sp>
      <p:pic>
        <p:nvPicPr>
          <p:cNvPr id="1028" name="Picture 4" descr="BlueROV2純正トップサイド　−　Fathom-X Tether Interface (FXTI)">
            <a:extLst>
              <a:ext uri="{FF2B5EF4-FFF2-40B4-BE49-F238E27FC236}">
                <a16:creationId xmlns:a16="http://schemas.microsoft.com/office/drawing/2014/main" id="{1A6C5854-7262-6130-8C62-69F588A192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0243" y="2299345"/>
            <a:ext cx="1362967" cy="1224945"/>
          </a:xfrm>
          <a:prstGeom prst="rect">
            <a:avLst/>
          </a:prstGeom>
          <a:noFill/>
          <a:extLst>
            <a:ext uri="{909E8E84-426E-40DD-AFC4-6F175D3DCCD1}">
              <a14:hiddenFill xmlns:a14="http://schemas.microsoft.com/office/drawing/2010/main">
                <a:solidFill>
                  <a:srgbClr val="FFFFFF"/>
                </a:solidFill>
              </a14:hiddenFill>
            </a:ext>
          </a:extLst>
        </p:spPr>
      </p:pic>
      <p:sp>
        <p:nvSpPr>
          <p:cNvPr id="8" name="角丸四角形 7">
            <a:extLst>
              <a:ext uri="{FF2B5EF4-FFF2-40B4-BE49-F238E27FC236}">
                <a16:creationId xmlns:a16="http://schemas.microsoft.com/office/drawing/2014/main" id="{CBEA287B-0214-74C4-2642-35FB674BA4D7}"/>
              </a:ext>
            </a:extLst>
          </p:cNvPr>
          <p:cNvSpPr/>
          <p:nvPr/>
        </p:nvSpPr>
        <p:spPr>
          <a:xfrm>
            <a:off x="812612" y="1817549"/>
            <a:ext cx="2368252" cy="46260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cxnSp>
        <p:nvCxnSpPr>
          <p:cNvPr id="10" name="カギ線コネクタ 9">
            <a:extLst>
              <a:ext uri="{FF2B5EF4-FFF2-40B4-BE49-F238E27FC236}">
                <a16:creationId xmlns:a16="http://schemas.microsoft.com/office/drawing/2014/main" id="{0E7AAF27-AA8D-F7A7-9E0E-962D2AB0A065}"/>
              </a:ext>
            </a:extLst>
          </p:cNvPr>
          <p:cNvCxnSpPr>
            <a:cxnSpLocks/>
            <a:endCxn id="1028" idx="3"/>
          </p:cNvCxnSpPr>
          <p:nvPr/>
        </p:nvCxnSpPr>
        <p:spPr>
          <a:xfrm rot="16200000" flipV="1">
            <a:off x="8792555" y="2962473"/>
            <a:ext cx="1666408" cy="1565097"/>
          </a:xfrm>
          <a:prstGeom prst="bentConnector2">
            <a:avLst/>
          </a:prstGeom>
          <a:ln w="38100" cap="rnd">
            <a:solidFill>
              <a:schemeClr val="accent3">
                <a:lumMod val="60000"/>
                <a:lumOff val="40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A2572C5D-87E6-1413-5FA3-68ABF11816FE}"/>
              </a:ext>
            </a:extLst>
          </p:cNvPr>
          <p:cNvCxnSpPr>
            <a:stCxn id="1028" idx="1"/>
          </p:cNvCxnSpPr>
          <p:nvPr/>
        </p:nvCxnSpPr>
        <p:spPr>
          <a:xfrm flipH="1" flipV="1">
            <a:off x="6323364" y="2911817"/>
            <a:ext cx="1156879" cy="1"/>
          </a:xfrm>
          <a:prstGeom prst="straightConnector1">
            <a:avLst/>
          </a:prstGeom>
          <a:ln w="38100">
            <a:solidFill>
              <a:schemeClr val="accent2"/>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34950173-9A6A-F663-8CED-B281D39E80B9}"/>
              </a:ext>
            </a:extLst>
          </p:cNvPr>
          <p:cNvCxnSpPr>
            <a:cxnSpLocks/>
          </p:cNvCxnSpPr>
          <p:nvPr/>
        </p:nvCxnSpPr>
        <p:spPr>
          <a:xfrm flipH="1">
            <a:off x="3311203" y="3003289"/>
            <a:ext cx="1076943" cy="0"/>
          </a:xfrm>
          <a:prstGeom prst="straightConnector1">
            <a:avLst/>
          </a:prstGeom>
          <a:ln w="38100">
            <a:solidFill>
              <a:schemeClr val="accent2"/>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046A8022-7561-A114-5717-18CB1D309058}"/>
              </a:ext>
            </a:extLst>
          </p:cNvPr>
          <p:cNvSpPr txBox="1"/>
          <p:nvPr/>
        </p:nvSpPr>
        <p:spPr>
          <a:xfrm>
            <a:off x="9885639" y="1819911"/>
            <a:ext cx="214193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 Robotics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社</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テザーリール</a:t>
            </a: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150m</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巻き</a:t>
            </a: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0" name="テキスト ボックス 39">
            <a:extLst>
              <a:ext uri="{FF2B5EF4-FFF2-40B4-BE49-F238E27FC236}">
                <a16:creationId xmlns:a16="http://schemas.microsoft.com/office/drawing/2014/main" id="{6AE8310B-3255-C128-D7EE-DE5C8914E8E8}"/>
              </a:ext>
            </a:extLst>
          </p:cNvPr>
          <p:cNvSpPr txBox="1"/>
          <p:nvPr/>
        </p:nvSpPr>
        <p:spPr>
          <a:xfrm>
            <a:off x="6566462" y="3953922"/>
            <a:ext cx="301877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 Robotics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社</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Fathom-X Tether Interface Board)</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pic>
        <p:nvPicPr>
          <p:cNvPr id="44" name="グラフィックス 43" descr="ノート PC 単色塗りつぶし">
            <a:extLst>
              <a:ext uri="{FF2B5EF4-FFF2-40B4-BE49-F238E27FC236}">
                <a16:creationId xmlns:a16="http://schemas.microsoft.com/office/drawing/2014/main" id="{5F20C762-A9FE-6996-67F6-B42DC198B9A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3836" y="2186391"/>
            <a:ext cx="914400" cy="914400"/>
          </a:xfrm>
          <a:prstGeom prst="rect">
            <a:avLst/>
          </a:prstGeom>
        </p:spPr>
      </p:pic>
      <p:pic>
        <p:nvPicPr>
          <p:cNvPr id="48" name="グラフィックス 47" descr="コンピューター 単色塗りつぶし">
            <a:extLst>
              <a:ext uri="{FF2B5EF4-FFF2-40B4-BE49-F238E27FC236}">
                <a16:creationId xmlns:a16="http://schemas.microsoft.com/office/drawing/2014/main" id="{5B2778FC-0FDE-4B11-4FE8-65FFAC6B48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11431" y="2171195"/>
            <a:ext cx="914400" cy="914400"/>
          </a:xfrm>
          <a:prstGeom prst="rect">
            <a:avLst/>
          </a:prstGeom>
        </p:spPr>
      </p:pic>
      <p:pic>
        <p:nvPicPr>
          <p:cNvPr id="1026" name="Picture 2" descr="Blue Robotics Fathom ROVテザー (200m) - RobotShop">
            <a:extLst>
              <a:ext uri="{FF2B5EF4-FFF2-40B4-BE49-F238E27FC236}">
                <a16:creationId xmlns:a16="http://schemas.microsoft.com/office/drawing/2014/main" id="{966117BC-2809-549B-4802-65A6C0ED4B75}"/>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9648456" y="2171102"/>
            <a:ext cx="1519702" cy="1519702"/>
          </a:xfrm>
          <a:prstGeom prst="rect">
            <a:avLst/>
          </a:prstGeom>
          <a:noFill/>
          <a:extLst>
            <a:ext uri="{909E8E84-426E-40DD-AFC4-6F175D3DCCD1}">
              <a14:hiddenFill xmlns:a14="http://schemas.microsoft.com/office/drawing/2010/main">
                <a:solidFill>
                  <a:srgbClr val="FFFFFF"/>
                </a:solidFill>
              </a14:hiddenFill>
            </a:ext>
          </a:extLst>
        </p:spPr>
      </p:pic>
      <p:sp>
        <p:nvSpPr>
          <p:cNvPr id="50" name="テキスト ボックス 49">
            <a:extLst>
              <a:ext uri="{FF2B5EF4-FFF2-40B4-BE49-F238E27FC236}">
                <a16:creationId xmlns:a16="http://schemas.microsoft.com/office/drawing/2014/main" id="{56746AE5-41E4-8DA0-E0D5-465200AD07DE}"/>
              </a:ext>
            </a:extLst>
          </p:cNvPr>
          <p:cNvSpPr txBox="1"/>
          <p:nvPr/>
        </p:nvSpPr>
        <p:spPr>
          <a:xfrm>
            <a:off x="1459842" y="4798183"/>
            <a:ext cx="1074988" cy="307777"/>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３Dモデル</a:t>
            </a:r>
          </a:p>
        </p:txBody>
      </p:sp>
      <p:pic>
        <p:nvPicPr>
          <p:cNvPr id="11" name="Picture 16" descr="Technical Reference">
            <a:extLst>
              <a:ext uri="{FF2B5EF4-FFF2-40B4-BE49-F238E27FC236}">
                <a16:creationId xmlns:a16="http://schemas.microsoft.com/office/drawing/2014/main" id="{4F47182F-C15B-23CD-DBA9-2EBF3223397A}"/>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7920" b="7871"/>
          <a:stretch/>
        </p:blipFill>
        <p:spPr bwMode="auto">
          <a:xfrm>
            <a:off x="9302368" y="4665336"/>
            <a:ext cx="2247810" cy="1866202"/>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descr="屋内, テーブル, 座る, 紙 が含まれている画像&#10;&#10;AI 生成コンテンツは間違っている可能性があります。">
            <a:extLst>
              <a:ext uri="{FF2B5EF4-FFF2-40B4-BE49-F238E27FC236}">
                <a16:creationId xmlns:a16="http://schemas.microsoft.com/office/drawing/2014/main" id="{7DBF55E4-AE03-39F9-A99C-60D910D20487}"/>
              </a:ext>
            </a:extLst>
          </p:cNvPr>
          <p:cNvPicPr>
            <a:picLocks noChangeAspect="1"/>
          </p:cNvPicPr>
          <p:nvPr/>
        </p:nvPicPr>
        <p:blipFill>
          <a:blip r:embed="rId14"/>
          <a:stretch>
            <a:fillRect/>
          </a:stretch>
        </p:blipFill>
        <p:spPr>
          <a:xfrm>
            <a:off x="1016119" y="5155099"/>
            <a:ext cx="2006103" cy="1125213"/>
          </a:xfrm>
          <a:prstGeom prst="rect">
            <a:avLst/>
          </a:prstGeom>
        </p:spPr>
      </p:pic>
      <p:sp>
        <p:nvSpPr>
          <p:cNvPr id="7" name="テキスト ボックス 6">
            <a:extLst>
              <a:ext uri="{FF2B5EF4-FFF2-40B4-BE49-F238E27FC236}">
                <a16:creationId xmlns:a16="http://schemas.microsoft.com/office/drawing/2014/main" id="{338DB510-BE90-44BD-E6F7-F4B9EB33A69A}"/>
              </a:ext>
            </a:extLst>
          </p:cNvPr>
          <p:cNvSpPr txBox="1"/>
          <p:nvPr/>
        </p:nvSpPr>
        <p:spPr>
          <a:xfrm>
            <a:off x="9620737" y="3627011"/>
            <a:ext cx="176522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80Mbps Ethernet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伝送距離 </a:t>
            </a:r>
            <a:r>
              <a:rPr kumimoji="1" lang="en-US" altLang="ja-JP">
                <a:latin typeface="Yu Gothic" panose="020B0400000000000000" pitchFamily="34" charset="-128"/>
                <a:ea typeface="Yu Gothic" panose="020B0400000000000000" pitchFamily="34" charset="-128"/>
              </a:rPr>
              <a:t>300m</a:t>
            </a:r>
            <a:r>
              <a:rPr kumimoji="1" lang="ja-JP" altLang="en-US">
                <a:latin typeface="Yu Gothic" panose="020B0400000000000000" pitchFamily="34" charset="-128"/>
                <a:ea typeface="Yu Gothic" panose="020B0400000000000000" pitchFamily="34" charset="-128"/>
              </a:rPr>
              <a:t>以上</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9" name="テキスト ボックス 8">
            <a:extLst>
              <a:ext uri="{FF2B5EF4-FFF2-40B4-BE49-F238E27FC236}">
                <a16:creationId xmlns:a16="http://schemas.microsoft.com/office/drawing/2014/main" id="{85200380-E7E1-CCDE-9A40-398FA6851141}"/>
              </a:ext>
            </a:extLst>
          </p:cNvPr>
          <p:cNvSpPr txBox="1"/>
          <p:nvPr/>
        </p:nvSpPr>
        <p:spPr>
          <a:xfrm>
            <a:off x="4145284" y="5000808"/>
            <a:ext cx="436369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200,000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5G</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モデム使用料（３ヶ月レンタル料＆技術支援料）</a:t>
            </a:r>
          </a:p>
        </p:txBody>
      </p:sp>
      <p:sp>
        <p:nvSpPr>
          <p:cNvPr id="13" name="テキスト ボックス 12">
            <a:extLst>
              <a:ext uri="{FF2B5EF4-FFF2-40B4-BE49-F238E27FC236}">
                <a16:creationId xmlns:a16="http://schemas.microsoft.com/office/drawing/2014/main" id="{B9EB72B3-61A2-75CD-7F98-6A51450DBFB2}"/>
              </a:ext>
            </a:extLst>
          </p:cNvPr>
          <p:cNvSpPr txBox="1"/>
          <p:nvPr/>
        </p:nvSpPr>
        <p:spPr>
          <a:xfrm>
            <a:off x="4145284" y="4046701"/>
            <a:ext cx="1808508" cy="9541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NTT DOCOMO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5G SA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latin typeface="Yu Gothic" panose="020B0400000000000000" pitchFamily="34" charset="-128"/>
                <a:ea typeface="Yu Gothic" panose="020B0400000000000000" pitchFamily="34" charset="-128"/>
              </a:rPr>
              <a:t>受信時最大</a:t>
            </a:r>
            <a:r>
              <a:rPr kumimoji="1" lang="en-US" altLang="ja-JP">
                <a:latin typeface="Yu Gothic" panose="020B0400000000000000" pitchFamily="34" charset="-128"/>
                <a:ea typeface="Yu Gothic" panose="020B0400000000000000" pitchFamily="34" charset="-128"/>
              </a:rPr>
              <a:t>4.9Gbps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送信時最大</a:t>
            </a: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1.1Gbps </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3" name="テキスト ボックス 2">
            <a:extLst>
              <a:ext uri="{FF2B5EF4-FFF2-40B4-BE49-F238E27FC236}">
                <a16:creationId xmlns:a16="http://schemas.microsoft.com/office/drawing/2014/main" id="{31F4CEC9-0F76-A530-3718-B66D2684D031}"/>
              </a:ext>
            </a:extLst>
          </p:cNvPr>
          <p:cNvSpPr txBox="1"/>
          <p:nvPr/>
        </p:nvSpPr>
        <p:spPr>
          <a:xfrm>
            <a:off x="8619129" y="5928895"/>
            <a:ext cx="157767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 Robotics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社</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 ROV2)</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16" name="テキスト ボックス 15">
            <a:extLst>
              <a:ext uri="{FF2B5EF4-FFF2-40B4-BE49-F238E27FC236}">
                <a16:creationId xmlns:a16="http://schemas.microsoft.com/office/drawing/2014/main" id="{68A3808F-C483-0834-37C5-26DB14F668FB}"/>
              </a:ext>
            </a:extLst>
          </p:cNvPr>
          <p:cNvSpPr txBox="1"/>
          <p:nvPr/>
        </p:nvSpPr>
        <p:spPr>
          <a:xfrm>
            <a:off x="8508979" y="1973659"/>
            <a:ext cx="1441420" cy="307777"/>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テザーケーブル</a:t>
            </a:r>
          </a:p>
        </p:txBody>
      </p:sp>
    </p:spTree>
    <p:extLst>
      <p:ext uri="{BB962C8B-B14F-4D97-AF65-F5344CB8AC3E}">
        <p14:creationId xmlns:p14="http://schemas.microsoft.com/office/powerpoint/2010/main" val="490503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C4F729D9-CC44-73F2-3C43-68FD0C87439C}"/>
            </a:ext>
          </a:extLst>
        </p:cNvPr>
        <p:cNvGrpSpPr/>
        <p:nvPr/>
      </p:nvGrpSpPr>
      <p:grpSpPr>
        <a:xfrm>
          <a:off x="0" y="0"/>
          <a:ext cx="0" cy="0"/>
          <a:chOff x="0" y="0"/>
          <a:chExt cx="0" cy="0"/>
        </a:xfrm>
      </p:grpSpPr>
      <p:sp>
        <p:nvSpPr>
          <p:cNvPr id="190" name="Google Shape;190;p8">
            <a:extLst>
              <a:ext uri="{FF2B5EF4-FFF2-40B4-BE49-F238E27FC236}">
                <a16:creationId xmlns:a16="http://schemas.microsoft.com/office/drawing/2014/main" id="{7FF3B695-9909-EF5E-D2CA-5E732EB8C23C}"/>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91" name="Google Shape;191;p8">
            <a:extLst>
              <a:ext uri="{FF2B5EF4-FFF2-40B4-BE49-F238E27FC236}">
                <a16:creationId xmlns:a16="http://schemas.microsoft.com/office/drawing/2014/main" id="{B4A34FE5-235E-B1C4-AF6B-AD8EA9C3EC1B}"/>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第２章　技術実証の具体的な内容</a:t>
            </a:r>
            <a:endParaRPr/>
          </a:p>
        </p:txBody>
      </p:sp>
      <p:sp>
        <p:nvSpPr>
          <p:cNvPr id="2" name="テキスト ボックス 1">
            <a:extLst>
              <a:ext uri="{FF2B5EF4-FFF2-40B4-BE49-F238E27FC236}">
                <a16:creationId xmlns:a16="http://schemas.microsoft.com/office/drawing/2014/main" id="{F60206EC-7F9B-1F10-65D3-E870563C6DD2}"/>
              </a:ext>
            </a:extLst>
          </p:cNvPr>
          <p:cNvSpPr txBox="1"/>
          <p:nvPr/>
        </p:nvSpPr>
        <p:spPr>
          <a:xfrm>
            <a:off x="293382" y="465680"/>
            <a:ext cx="94003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2400" b="0" i="0" u="none" strike="noStrike" kern="0" cap="none" spc="0" normalizeH="0" baseline="0" noProof="0">
                <a:ln>
                  <a:noFill/>
                </a:ln>
                <a:solidFill>
                  <a:srgbClr val="0070C0"/>
                </a:solidFill>
                <a:effectLst/>
                <a:uLnTx/>
                <a:uFillTx/>
                <a:latin typeface="Arial"/>
                <a:cs typeface="Arial"/>
                <a:sym typeface="Arial"/>
              </a:rPr>
              <a:t>2.1</a:t>
            </a:r>
            <a:r>
              <a:rPr kumimoji="1" lang="ja-JP" altLang="en-US" sz="2400" b="0" i="0" u="none" strike="noStrike" kern="0" cap="none" spc="0" normalizeH="0" baseline="0" noProof="0">
                <a:ln>
                  <a:noFill/>
                </a:ln>
                <a:solidFill>
                  <a:srgbClr val="0070C0"/>
                </a:solidFill>
                <a:effectLst/>
                <a:uLnTx/>
                <a:uFillTx/>
                <a:latin typeface="Arial"/>
                <a:cs typeface="Arial"/>
                <a:sym typeface="Arial"/>
              </a:rPr>
              <a:t>  水中ドローン及び金属探知センサの設計開発と利用法の検討</a:t>
            </a:r>
          </a:p>
        </p:txBody>
      </p:sp>
      <p:pic>
        <p:nvPicPr>
          <p:cNvPr id="2064" name="Picture 16" descr="Technical Reference">
            <a:extLst>
              <a:ext uri="{FF2B5EF4-FFF2-40B4-BE49-F238E27FC236}">
                <a16:creationId xmlns:a16="http://schemas.microsoft.com/office/drawing/2014/main" id="{C0FF7D6D-601A-87DE-9E4A-FFD72AA16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816" y="2528286"/>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5987630E-C2A3-D9C6-1493-FFFF51AAB885}"/>
              </a:ext>
            </a:extLst>
          </p:cNvPr>
          <p:cNvSpPr txBox="1"/>
          <p:nvPr/>
        </p:nvSpPr>
        <p:spPr>
          <a:xfrm>
            <a:off x="431863" y="993512"/>
            <a:ext cx="8751608" cy="707886"/>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a:ln>
                  <a:noFill/>
                </a:ln>
                <a:solidFill>
                  <a:srgbClr val="000000"/>
                </a:solidFill>
                <a:effectLst/>
                <a:uLnTx/>
                <a:uFillTx/>
                <a:latin typeface="Arial"/>
                <a:cs typeface="Arial"/>
                <a:sym typeface="Arial"/>
              </a:rPr>
              <a:t>・金属探知センサを開発制作し、水中ドローンに搭載する方法を検討する。</a:t>
            </a:r>
            <a:endParaRPr kumimoji="1" lang="en-US" altLang="ja-JP" sz="20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a:ln>
                  <a:noFill/>
                </a:ln>
                <a:solidFill>
                  <a:srgbClr val="000000"/>
                </a:solidFill>
                <a:effectLst/>
                <a:uLnTx/>
                <a:uFillTx/>
                <a:latin typeface="Arial"/>
                <a:cs typeface="Arial"/>
                <a:sym typeface="Arial"/>
              </a:rPr>
              <a:t>・佐世保高専の水槽でセンサを取り付けた水中ドローンの動作検証を行う。</a:t>
            </a:r>
          </a:p>
        </p:txBody>
      </p:sp>
      <p:sp>
        <p:nvSpPr>
          <p:cNvPr id="10" name="テキスト ボックス 9">
            <a:extLst>
              <a:ext uri="{FF2B5EF4-FFF2-40B4-BE49-F238E27FC236}">
                <a16:creationId xmlns:a16="http://schemas.microsoft.com/office/drawing/2014/main" id="{E3D2940E-9714-8EB5-BA10-3F037E98A3C2}"/>
              </a:ext>
            </a:extLst>
          </p:cNvPr>
          <p:cNvSpPr txBox="1"/>
          <p:nvPr/>
        </p:nvSpPr>
        <p:spPr>
          <a:xfrm>
            <a:off x="657172" y="2096416"/>
            <a:ext cx="4801314" cy="461665"/>
          </a:xfrm>
          <a:prstGeom prst="rect">
            <a:avLst/>
          </a:prstGeom>
          <a:solidFill>
            <a:schemeClr val="accent3">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Arial"/>
                <a:cs typeface="Arial"/>
                <a:sym typeface="Arial"/>
              </a:rPr>
              <a:t>金属探知機能を持つ水中ドローン</a:t>
            </a:r>
          </a:p>
        </p:txBody>
      </p:sp>
      <p:pic>
        <p:nvPicPr>
          <p:cNvPr id="13" name="Picture 4">
            <a:extLst>
              <a:ext uri="{FF2B5EF4-FFF2-40B4-BE49-F238E27FC236}">
                <a16:creationId xmlns:a16="http://schemas.microsoft.com/office/drawing/2014/main" id="{A93FFCA1-66E5-E84A-C0B1-25D5A2DFF50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209" t="21702" r="18004" b="22980"/>
          <a:stretch/>
        </p:blipFill>
        <p:spPr bwMode="auto">
          <a:xfrm rot="16200000">
            <a:off x="3535275" y="2548737"/>
            <a:ext cx="1439764" cy="1875848"/>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CFB53A2B-FEEF-ABE6-A882-F1957D35A5B1}"/>
              </a:ext>
            </a:extLst>
          </p:cNvPr>
          <p:cNvSpPr txBox="1"/>
          <p:nvPr/>
        </p:nvSpPr>
        <p:spPr>
          <a:xfrm>
            <a:off x="102646" y="4487258"/>
            <a:ext cx="337945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水中ドローン 佐世保高専保有</a:t>
            </a:r>
            <a:endParaRPr kumimoji="1" lang="en-US" altLang="ja-JP"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 Robotics</a:t>
            </a: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社　</a:t>
            </a:r>
            <a:r>
              <a:rPr kumimoji="1" lang="en-US" altLang="ja-JP"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BlueROV2)</a:t>
            </a:r>
            <a:endPar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18" name="テキスト ボックス 17">
            <a:extLst>
              <a:ext uri="{FF2B5EF4-FFF2-40B4-BE49-F238E27FC236}">
                <a16:creationId xmlns:a16="http://schemas.microsoft.com/office/drawing/2014/main" id="{92D9D9C8-3E85-A5BF-0F52-FC14319E66E3}"/>
              </a:ext>
            </a:extLst>
          </p:cNvPr>
          <p:cNvSpPr txBox="1"/>
          <p:nvPr/>
        </p:nvSpPr>
        <p:spPr>
          <a:xfrm>
            <a:off x="3601214" y="4491377"/>
            <a:ext cx="1800493"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水中で動作する</a:t>
            </a:r>
            <a:endParaRPr kumimoji="1" lang="en-US" altLang="ja-JP"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金属探知センサ</a:t>
            </a:r>
          </a:p>
        </p:txBody>
      </p:sp>
      <p:cxnSp>
        <p:nvCxnSpPr>
          <p:cNvPr id="26" name="直線矢印コネクタ 25">
            <a:extLst>
              <a:ext uri="{FF2B5EF4-FFF2-40B4-BE49-F238E27FC236}">
                <a16:creationId xmlns:a16="http://schemas.microsoft.com/office/drawing/2014/main" id="{770CC393-7241-4E44-4BEF-BEA580FE7B41}"/>
              </a:ext>
            </a:extLst>
          </p:cNvPr>
          <p:cNvCxnSpPr>
            <a:stCxn id="2064" idx="3"/>
          </p:cNvCxnSpPr>
          <p:nvPr/>
        </p:nvCxnSpPr>
        <p:spPr>
          <a:xfrm>
            <a:off x="2496816" y="3480786"/>
            <a:ext cx="650421" cy="0"/>
          </a:xfrm>
          <a:prstGeom prst="straightConnector1">
            <a:avLst/>
          </a:prstGeom>
          <a:ln w="38100">
            <a:solidFill>
              <a:schemeClr val="accent3">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8" name="角丸四角形 27">
            <a:extLst>
              <a:ext uri="{FF2B5EF4-FFF2-40B4-BE49-F238E27FC236}">
                <a16:creationId xmlns:a16="http://schemas.microsoft.com/office/drawing/2014/main" id="{B1288D15-F7F3-B574-F450-08C09C3CFE18}"/>
              </a:ext>
            </a:extLst>
          </p:cNvPr>
          <p:cNvSpPr/>
          <p:nvPr/>
        </p:nvSpPr>
        <p:spPr>
          <a:xfrm>
            <a:off x="133959" y="1879600"/>
            <a:ext cx="5847741" cy="40767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a:extLst>
              <a:ext uri="{FF2B5EF4-FFF2-40B4-BE49-F238E27FC236}">
                <a16:creationId xmlns:a16="http://schemas.microsoft.com/office/drawing/2014/main" id="{38D1FDDA-145E-748F-9248-BF65D7FBA4D9}"/>
              </a:ext>
            </a:extLst>
          </p:cNvPr>
          <p:cNvPicPr>
            <a:picLocks noChangeAspect="1"/>
          </p:cNvPicPr>
          <p:nvPr/>
        </p:nvPicPr>
        <p:blipFill>
          <a:blip r:embed="rId5"/>
          <a:srcRect l="23355" t="15503" r="15378" b="7258"/>
          <a:stretch/>
        </p:blipFill>
        <p:spPr>
          <a:xfrm>
            <a:off x="7096449" y="2674650"/>
            <a:ext cx="4261290" cy="2885026"/>
          </a:xfrm>
          <a:prstGeom prst="rect">
            <a:avLst/>
          </a:prstGeom>
        </p:spPr>
      </p:pic>
      <p:sp>
        <p:nvSpPr>
          <p:cNvPr id="4" name="角丸四角形 27">
            <a:extLst>
              <a:ext uri="{FF2B5EF4-FFF2-40B4-BE49-F238E27FC236}">
                <a16:creationId xmlns:a16="http://schemas.microsoft.com/office/drawing/2014/main" id="{D1F26AEB-142B-A631-6578-1268BF13F4B7}"/>
              </a:ext>
            </a:extLst>
          </p:cNvPr>
          <p:cNvSpPr/>
          <p:nvPr/>
        </p:nvSpPr>
        <p:spPr>
          <a:xfrm>
            <a:off x="6219933" y="1879600"/>
            <a:ext cx="5847741" cy="407670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
        <p:nvSpPr>
          <p:cNvPr id="5" name="楕円 4">
            <a:extLst>
              <a:ext uri="{FF2B5EF4-FFF2-40B4-BE49-F238E27FC236}">
                <a16:creationId xmlns:a16="http://schemas.microsoft.com/office/drawing/2014/main" id="{90CE800E-D130-0F44-1D9E-E7839FA75ABF}"/>
              </a:ext>
            </a:extLst>
          </p:cNvPr>
          <p:cNvSpPr/>
          <p:nvPr/>
        </p:nvSpPr>
        <p:spPr>
          <a:xfrm>
            <a:off x="7970920" y="4431631"/>
            <a:ext cx="1051577" cy="812132"/>
          </a:xfrm>
          <a:prstGeom prst="ellipse">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テキスト ボックス 5">
            <a:extLst>
              <a:ext uri="{FF2B5EF4-FFF2-40B4-BE49-F238E27FC236}">
                <a16:creationId xmlns:a16="http://schemas.microsoft.com/office/drawing/2014/main" id="{34ADDB77-0387-F136-7C61-69D952E285A2}"/>
              </a:ext>
            </a:extLst>
          </p:cNvPr>
          <p:cNvSpPr txBox="1"/>
          <p:nvPr/>
        </p:nvSpPr>
        <p:spPr>
          <a:xfrm>
            <a:off x="7871792" y="5398052"/>
            <a:ext cx="1811157" cy="338554"/>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600" b="0" i="0" u="none" strike="noStrike" kern="0" cap="none" spc="0" normalizeH="0" baseline="0" noProof="0">
                <a:ln>
                  <a:noFill/>
                </a:ln>
                <a:solidFill>
                  <a:srgbClr val="000000"/>
                </a:solidFill>
                <a:effectLst/>
                <a:uLnTx/>
                <a:uFillTx/>
                <a:latin typeface="Arial"/>
                <a:ea typeface="ＭＳ Ｐゴシック"/>
                <a:cs typeface="+mn-cs"/>
                <a:sym typeface="Arial"/>
              </a:rPr>
              <a:t>水中ドローン操作​</a:t>
            </a:r>
            <a:endParaRPr kumimoji="0" lang="ja-JP" altLang="en-US" sz="1400" b="0" i="0" u="none" strike="noStrike" kern="0" cap="none" spc="0" normalizeH="0" baseline="0" noProof="0">
              <a:ln>
                <a:noFill/>
              </a:ln>
              <a:solidFill>
                <a:srgbClr val="000000"/>
              </a:solidFill>
              <a:effectLst/>
              <a:uLnTx/>
              <a:uFillTx/>
              <a:latin typeface="Arial"/>
              <a:ea typeface="ＭＳ Ｐゴシック"/>
              <a:cs typeface="+mn-cs"/>
              <a:sym typeface="Arial"/>
            </a:endParaRPr>
          </a:p>
        </p:txBody>
      </p:sp>
      <p:sp>
        <p:nvSpPr>
          <p:cNvPr id="7" name="テキスト ボックス 6">
            <a:extLst>
              <a:ext uri="{FF2B5EF4-FFF2-40B4-BE49-F238E27FC236}">
                <a16:creationId xmlns:a16="http://schemas.microsoft.com/office/drawing/2014/main" id="{BC0EE1DF-25B5-CD12-A4D7-B1AFF1F1C933}"/>
              </a:ext>
            </a:extLst>
          </p:cNvPr>
          <p:cNvSpPr txBox="1"/>
          <p:nvPr/>
        </p:nvSpPr>
        <p:spPr>
          <a:xfrm>
            <a:off x="6629350" y="2096416"/>
            <a:ext cx="5028905" cy="400110"/>
          </a:xfrm>
          <a:prstGeom prst="rect">
            <a:avLst/>
          </a:prstGeom>
          <a:solidFill>
            <a:schemeClr val="accent3">
              <a:lumMod val="20000"/>
              <a:lumOff val="80000"/>
            </a:schemeClr>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0" i="0" u="none" strike="noStrike" kern="0" cap="none" spc="0" normalizeH="0" baseline="0" noProof="0">
                <a:ln>
                  <a:noFill/>
                </a:ln>
                <a:solidFill>
                  <a:srgbClr val="000000"/>
                </a:solidFill>
                <a:effectLst/>
                <a:uLnTx/>
                <a:uFillTx/>
                <a:latin typeface="Arial"/>
                <a:cs typeface="Arial"/>
                <a:sym typeface="Arial"/>
              </a:rPr>
              <a:t>大型水槽を用いた水中ドローンの動作検証</a:t>
            </a:r>
          </a:p>
        </p:txBody>
      </p:sp>
      <p:pic>
        <p:nvPicPr>
          <p:cNvPr id="11" name="グラフィックス 34" descr="Wi-Fi 枠線">
            <a:extLst>
              <a:ext uri="{FF2B5EF4-FFF2-40B4-BE49-F238E27FC236}">
                <a16:creationId xmlns:a16="http://schemas.microsoft.com/office/drawing/2014/main" id="{A09D1944-6C8E-ECF2-A0CD-A54168D023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320000">
            <a:off x="3862537" y="3896570"/>
            <a:ext cx="792443" cy="792443"/>
          </a:xfrm>
          <a:prstGeom prst="rect">
            <a:avLst/>
          </a:prstGeom>
        </p:spPr>
      </p:pic>
    </p:spTree>
    <p:extLst>
      <p:ext uri="{BB962C8B-B14F-4D97-AF65-F5344CB8AC3E}">
        <p14:creationId xmlns:p14="http://schemas.microsoft.com/office/powerpoint/2010/main" val="2102203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31A49D38-046F-2C0D-F64F-477F1A3DAD66}"/>
            </a:ext>
          </a:extLst>
        </p:cNvPr>
        <p:cNvGrpSpPr/>
        <p:nvPr/>
      </p:nvGrpSpPr>
      <p:grpSpPr>
        <a:xfrm>
          <a:off x="0" y="0"/>
          <a:ext cx="0" cy="0"/>
          <a:chOff x="0" y="0"/>
          <a:chExt cx="0" cy="0"/>
        </a:xfrm>
      </p:grpSpPr>
      <p:sp>
        <p:nvSpPr>
          <p:cNvPr id="190" name="Google Shape;190;p8">
            <a:extLst>
              <a:ext uri="{FF2B5EF4-FFF2-40B4-BE49-F238E27FC236}">
                <a16:creationId xmlns:a16="http://schemas.microsoft.com/office/drawing/2014/main" id="{E4C7F6F5-A250-1889-8C4A-F9FA8573551B}"/>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91" name="Google Shape;191;p8">
            <a:extLst>
              <a:ext uri="{FF2B5EF4-FFF2-40B4-BE49-F238E27FC236}">
                <a16:creationId xmlns:a16="http://schemas.microsoft.com/office/drawing/2014/main" id="{8DB642AA-D2E6-9F2A-FAE7-0ADB5F940B74}"/>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第２章　技術実証の具体的な内容</a:t>
            </a:r>
            <a:endParaRPr/>
          </a:p>
        </p:txBody>
      </p:sp>
      <p:sp>
        <p:nvSpPr>
          <p:cNvPr id="2" name="テキスト ボックス 1">
            <a:extLst>
              <a:ext uri="{FF2B5EF4-FFF2-40B4-BE49-F238E27FC236}">
                <a16:creationId xmlns:a16="http://schemas.microsoft.com/office/drawing/2014/main" id="{FE756E17-8FA2-0D59-A162-650B7B64AA22}"/>
              </a:ext>
            </a:extLst>
          </p:cNvPr>
          <p:cNvSpPr txBox="1"/>
          <p:nvPr/>
        </p:nvSpPr>
        <p:spPr>
          <a:xfrm>
            <a:off x="293382" y="465680"/>
            <a:ext cx="100832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2400" b="0" i="0" u="none" strike="noStrike" kern="0" cap="none" spc="0" normalizeH="0" baseline="0" noProof="0">
                <a:ln>
                  <a:noFill/>
                </a:ln>
                <a:solidFill>
                  <a:srgbClr val="0070C0"/>
                </a:solidFill>
                <a:effectLst/>
                <a:uLnTx/>
                <a:uFillTx/>
                <a:latin typeface="Arial"/>
                <a:cs typeface="Arial"/>
                <a:sym typeface="Arial"/>
              </a:rPr>
              <a:t>2.2</a:t>
            </a:r>
            <a:r>
              <a:rPr kumimoji="1" lang="ja-JP" altLang="en-US" sz="2400" b="0" i="0" u="none" strike="noStrike" kern="0" cap="none" spc="0" normalizeH="0" baseline="0" noProof="0">
                <a:ln>
                  <a:noFill/>
                </a:ln>
                <a:solidFill>
                  <a:srgbClr val="0070C0"/>
                </a:solidFill>
                <a:effectLst/>
                <a:uLnTx/>
                <a:uFillTx/>
                <a:latin typeface="Arial"/>
                <a:cs typeface="Arial"/>
                <a:sym typeface="Arial"/>
              </a:rPr>
              <a:t> ワイヤレス通信システムの構築及び</a:t>
            </a:r>
            <a:r>
              <a:rPr kumimoji="1" lang="en-US" altLang="ja-JP" sz="2400" b="0" i="0" u="none" strike="noStrike" kern="0" cap="none" spc="0" normalizeH="0" baseline="0" noProof="0">
                <a:ln>
                  <a:noFill/>
                </a:ln>
                <a:solidFill>
                  <a:srgbClr val="0070C0"/>
                </a:solidFill>
                <a:effectLst/>
                <a:uLnTx/>
                <a:uFillTx/>
                <a:latin typeface="Arial"/>
                <a:cs typeface="Arial"/>
                <a:sym typeface="Arial"/>
              </a:rPr>
              <a:t>QGIS</a:t>
            </a:r>
            <a:r>
              <a:rPr kumimoji="1" lang="ja-JP" altLang="en-US" sz="2400" b="0" i="0" u="none" strike="noStrike" kern="0" cap="none" spc="0" normalizeH="0" baseline="0" noProof="0">
                <a:ln>
                  <a:noFill/>
                </a:ln>
                <a:solidFill>
                  <a:srgbClr val="0070C0"/>
                </a:solidFill>
                <a:effectLst/>
                <a:uLnTx/>
                <a:uFillTx/>
                <a:latin typeface="Arial"/>
                <a:cs typeface="Arial"/>
                <a:sym typeface="Arial"/>
              </a:rPr>
              <a:t>などデータ活用方法の検証</a:t>
            </a:r>
          </a:p>
        </p:txBody>
      </p:sp>
      <p:sp>
        <p:nvSpPr>
          <p:cNvPr id="3" name="テキスト ボックス 2">
            <a:extLst>
              <a:ext uri="{FF2B5EF4-FFF2-40B4-BE49-F238E27FC236}">
                <a16:creationId xmlns:a16="http://schemas.microsoft.com/office/drawing/2014/main" id="{3E816D9F-86D4-7329-3C10-5D788F6FF881}"/>
              </a:ext>
            </a:extLst>
          </p:cNvPr>
          <p:cNvSpPr txBox="1"/>
          <p:nvPr/>
        </p:nvSpPr>
        <p:spPr>
          <a:xfrm>
            <a:off x="8603788" y="2103502"/>
            <a:ext cx="2749471" cy="400110"/>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a:ln>
                  <a:noFill/>
                </a:ln>
                <a:solidFill>
                  <a:srgbClr val="000000"/>
                </a:solidFill>
                <a:effectLst/>
                <a:uLnTx/>
                <a:uFillTx/>
                <a:latin typeface="Arial"/>
                <a:cs typeface="Arial"/>
                <a:sym typeface="Arial"/>
              </a:rPr>
              <a:t>ペリカンケースへ収納</a:t>
            </a:r>
          </a:p>
        </p:txBody>
      </p:sp>
      <p:sp>
        <p:nvSpPr>
          <p:cNvPr id="4" name="テキスト ボックス 3">
            <a:extLst>
              <a:ext uri="{FF2B5EF4-FFF2-40B4-BE49-F238E27FC236}">
                <a16:creationId xmlns:a16="http://schemas.microsoft.com/office/drawing/2014/main" id="{7EEC5AAE-2378-A0B4-589B-2B10B2A3292B}"/>
              </a:ext>
            </a:extLst>
          </p:cNvPr>
          <p:cNvSpPr txBox="1"/>
          <p:nvPr/>
        </p:nvSpPr>
        <p:spPr>
          <a:xfrm>
            <a:off x="9061293" y="5840840"/>
            <a:ext cx="3196986"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4</a:t>
            </a:r>
            <a:r>
              <a:rPr kumimoji="1" lang="en"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a:t>
            </a:r>
            <a:r>
              <a:rPr kumimoji="1" lang="ja-JP" altLang="en"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1" lang="en"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LTE</a:t>
            </a:r>
            <a:r>
              <a:rPr kumimoji="1" lang="ja-JP" altLang="en"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通信モジュール</a:t>
            </a:r>
            <a:endPar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4GPi</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5" name="テキスト ボックス 4">
            <a:extLst>
              <a:ext uri="{FF2B5EF4-FFF2-40B4-BE49-F238E27FC236}">
                <a16:creationId xmlns:a16="http://schemas.microsoft.com/office/drawing/2014/main" id="{2580FB3C-94CC-BD01-F32B-3F85DA460B2E}"/>
              </a:ext>
            </a:extLst>
          </p:cNvPr>
          <p:cNvSpPr txBox="1"/>
          <p:nvPr/>
        </p:nvSpPr>
        <p:spPr>
          <a:xfrm>
            <a:off x="4180664" y="2088664"/>
            <a:ext cx="230864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a:ln>
                  <a:noFill/>
                </a:ln>
                <a:solidFill>
                  <a:srgbClr val="000000"/>
                </a:solidFill>
                <a:effectLst/>
                <a:uLnTx/>
                <a:uFillTx/>
                <a:latin typeface="Arial"/>
                <a:cs typeface="Arial"/>
                <a:sym typeface="Arial"/>
              </a:rPr>
              <a:t>クラウド（</a:t>
            </a:r>
            <a:r>
              <a:rPr kumimoji="1" lang="en-US" altLang="ja-JP" sz="2000" b="0" i="0" u="none" strike="noStrike" kern="0" cap="none" spc="0" normalizeH="0" baseline="0" noProof="0" dirty="0">
                <a:ln>
                  <a:noFill/>
                </a:ln>
                <a:solidFill>
                  <a:srgbClr val="000000"/>
                </a:solidFill>
                <a:effectLst/>
                <a:uLnTx/>
                <a:uFillTx/>
                <a:latin typeface="Arial"/>
                <a:cs typeface="Arial"/>
                <a:sym typeface="Arial"/>
              </a:rPr>
              <a:t>AWS</a:t>
            </a:r>
            <a:r>
              <a:rPr kumimoji="1" lang="ja-JP" altLang="en-US" sz="2000" b="0" i="0" u="none" strike="noStrike" kern="0" cap="none" spc="0" normalizeH="0" baseline="0" noProof="0">
                <a:ln>
                  <a:noFill/>
                </a:ln>
                <a:solidFill>
                  <a:srgbClr val="000000"/>
                </a:solidFill>
                <a:effectLst/>
                <a:uLnTx/>
                <a:uFillTx/>
                <a:latin typeface="Arial"/>
                <a:cs typeface="Arial"/>
                <a:sym typeface="Arial"/>
              </a:rPr>
              <a:t>）</a:t>
            </a:r>
            <a:endParaRPr kumimoji="1" lang="en-US" altLang="ja-JP" sz="2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テキスト ボックス 5">
            <a:extLst>
              <a:ext uri="{FF2B5EF4-FFF2-40B4-BE49-F238E27FC236}">
                <a16:creationId xmlns:a16="http://schemas.microsoft.com/office/drawing/2014/main" id="{3C9D3FB0-3C56-85B6-BD81-DA05690F2795}"/>
              </a:ext>
            </a:extLst>
          </p:cNvPr>
          <p:cNvSpPr txBox="1"/>
          <p:nvPr/>
        </p:nvSpPr>
        <p:spPr>
          <a:xfrm>
            <a:off x="601378" y="1916310"/>
            <a:ext cx="2236510"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dirty="0">
                <a:ln>
                  <a:noFill/>
                </a:ln>
                <a:solidFill>
                  <a:srgbClr val="000000"/>
                </a:solidFill>
                <a:effectLst/>
                <a:uLnTx/>
                <a:uFillTx/>
                <a:latin typeface="Arial"/>
                <a:cs typeface="Arial"/>
                <a:sym typeface="Arial"/>
              </a:rPr>
              <a:t>ローカル</a:t>
            </a:r>
            <a:endParaRPr kumimoji="1" lang="en-US" altLang="ja-JP"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dirty="0">
                <a:ln>
                  <a:noFill/>
                </a:ln>
                <a:solidFill>
                  <a:srgbClr val="000000"/>
                </a:solidFill>
                <a:effectLst/>
                <a:uLnTx/>
                <a:uFillTx/>
                <a:latin typeface="Arial"/>
                <a:cs typeface="Arial"/>
                <a:sym typeface="Arial"/>
              </a:rPr>
              <a:t>アプリケーション</a:t>
            </a:r>
            <a:endParaRPr kumimoji="1" lang="en-US" altLang="ja-JP" sz="2000" b="0" i="0" u="none" strike="noStrike" kern="0" cap="none" spc="0" normalizeH="0" baseline="0" noProof="0" dirty="0">
              <a:ln>
                <a:noFill/>
              </a:ln>
              <a:solidFill>
                <a:srgbClr val="000000"/>
              </a:solidFill>
              <a:effectLst/>
              <a:uLnTx/>
              <a:uFillTx/>
              <a:latin typeface="Arial"/>
              <a:cs typeface="Arial"/>
              <a:sym typeface="Arial"/>
            </a:endParaRPr>
          </a:p>
        </p:txBody>
      </p:sp>
      <p:sp>
        <p:nvSpPr>
          <p:cNvPr id="14" name="角丸四角形 13">
            <a:extLst>
              <a:ext uri="{FF2B5EF4-FFF2-40B4-BE49-F238E27FC236}">
                <a16:creationId xmlns:a16="http://schemas.microsoft.com/office/drawing/2014/main" id="{4A865275-060D-24F0-691A-6FB02E9E510E}"/>
              </a:ext>
            </a:extLst>
          </p:cNvPr>
          <p:cNvSpPr/>
          <p:nvPr/>
        </p:nvSpPr>
        <p:spPr>
          <a:xfrm>
            <a:off x="3776968" y="2552830"/>
            <a:ext cx="2948694" cy="3324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7" name="正方形/長方形 16">
            <a:extLst>
              <a:ext uri="{FF2B5EF4-FFF2-40B4-BE49-F238E27FC236}">
                <a16:creationId xmlns:a16="http://schemas.microsoft.com/office/drawing/2014/main" id="{9ADEF2FD-29CB-6C6F-48F8-524447B64B36}"/>
              </a:ext>
            </a:extLst>
          </p:cNvPr>
          <p:cNvSpPr/>
          <p:nvPr/>
        </p:nvSpPr>
        <p:spPr>
          <a:xfrm>
            <a:off x="7942816" y="2571451"/>
            <a:ext cx="3931684" cy="38208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4098" name="Picture 2" descr="Amazon | ラズベリーパイ4 コンピューターモデルB 4GB Raspberry Pi 4 Computer Model B  (Raspberry Pi 4 4GB) | seeed studio | ベアボーンPC 通販">
            <a:extLst>
              <a:ext uri="{FF2B5EF4-FFF2-40B4-BE49-F238E27FC236}">
                <a16:creationId xmlns:a16="http://schemas.microsoft.com/office/drawing/2014/main" id="{4945343B-8DFF-09CF-C809-4589B68133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222" y="3000345"/>
            <a:ext cx="1544122" cy="101146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ラズベリーパイ用4G（LTE）通信モジュール「4GPi」">
            <a:extLst>
              <a:ext uri="{FF2B5EF4-FFF2-40B4-BE49-F238E27FC236}">
                <a16:creationId xmlns:a16="http://schemas.microsoft.com/office/drawing/2014/main" id="{A438C360-AF4F-626D-C4E0-94DDB1346E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548" t="21806" r="10789" b="16156"/>
          <a:stretch/>
        </p:blipFill>
        <p:spPr bwMode="auto">
          <a:xfrm>
            <a:off x="10105317" y="4811663"/>
            <a:ext cx="1442904" cy="101146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aspberry Pi用GPSモジュール">
            <a:extLst>
              <a:ext uri="{FF2B5EF4-FFF2-40B4-BE49-F238E27FC236}">
                <a16:creationId xmlns:a16="http://schemas.microsoft.com/office/drawing/2014/main" id="{528478A8-27B6-0FFC-0802-EEF84F0B50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1371" y="4811663"/>
            <a:ext cx="1066907" cy="89620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アマゾン ウェブ サービス(AWS)が人道的支援のために技術リソースを提供 - About Amazon | Japan">
            <a:extLst>
              <a:ext uri="{FF2B5EF4-FFF2-40B4-BE49-F238E27FC236}">
                <a16:creationId xmlns:a16="http://schemas.microsoft.com/office/drawing/2014/main" id="{94BE53BA-E03A-E078-4B88-2AB76CC44A6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387" t="6145" r="7282" b="8002"/>
          <a:stretch/>
        </p:blipFill>
        <p:spPr bwMode="auto">
          <a:xfrm>
            <a:off x="4290361" y="2761060"/>
            <a:ext cx="1823579" cy="1390580"/>
          </a:xfrm>
          <a:prstGeom prst="ellipse">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EBAE3FA3-0CD0-B878-BCCE-809B19C35D0B}"/>
              </a:ext>
            </a:extLst>
          </p:cNvPr>
          <p:cNvSpPr txBox="1"/>
          <p:nvPr/>
        </p:nvSpPr>
        <p:spPr>
          <a:xfrm>
            <a:off x="6823988" y="3920807"/>
            <a:ext cx="105509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2400" b="0" i="0" u="none" strike="noStrike" kern="0" cap="none" spc="0" normalizeH="0" baseline="0" noProof="0">
                <a:ln>
                  <a:noFill/>
                </a:ln>
                <a:solidFill>
                  <a:srgbClr val="000000"/>
                </a:solidFill>
                <a:effectLst/>
                <a:uLnTx/>
                <a:uFillTx/>
                <a:latin typeface="Arial"/>
                <a:cs typeface="Arial"/>
                <a:sym typeface="Arial"/>
              </a:rPr>
              <a:t>MQTT</a:t>
            </a:r>
            <a:endParaRPr kumimoji="1" lang="ja-JP" altLang="en-US" sz="2400" b="0" i="0" u="none" strike="noStrike" kern="0" cap="none" spc="0" normalizeH="0" baseline="0" noProof="0">
              <a:ln>
                <a:noFill/>
              </a:ln>
              <a:solidFill>
                <a:srgbClr val="000000"/>
              </a:solidFill>
              <a:effectLst/>
              <a:uLnTx/>
              <a:uFillTx/>
              <a:latin typeface="Arial"/>
              <a:cs typeface="Arial"/>
              <a:sym typeface="Arial"/>
            </a:endParaRPr>
          </a:p>
        </p:txBody>
      </p:sp>
      <p:sp>
        <p:nvSpPr>
          <p:cNvPr id="20" name="テキスト ボックス 19">
            <a:extLst>
              <a:ext uri="{FF2B5EF4-FFF2-40B4-BE49-F238E27FC236}">
                <a16:creationId xmlns:a16="http://schemas.microsoft.com/office/drawing/2014/main" id="{4C686DFE-DE1D-5BD9-3AA0-5638678F3EF2}"/>
              </a:ext>
            </a:extLst>
          </p:cNvPr>
          <p:cNvSpPr txBox="1"/>
          <p:nvPr/>
        </p:nvSpPr>
        <p:spPr>
          <a:xfrm>
            <a:off x="3874359" y="4593541"/>
            <a:ext cx="2727029" cy="7386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AWS</a:t>
            </a:r>
            <a:r>
              <a:rPr kumimoji="1" lang="ja-JP" altLang="en-US" sz="1400" b="0" i="0" u="none" strike="noStrike" kern="0" cap="none" spc="0" normalizeH="0" baseline="0" noProof="0">
                <a:ln>
                  <a:noFill/>
                </a:ln>
                <a:solidFill>
                  <a:srgbClr val="000000"/>
                </a:solidFill>
                <a:effectLst/>
                <a:uLnTx/>
                <a:uFillTx/>
                <a:latin typeface="Arial"/>
                <a:cs typeface="Arial"/>
                <a:sym typeface="Arial"/>
              </a:rPr>
              <a:t> </a:t>
            </a:r>
            <a:r>
              <a:rPr kumimoji="1" lang="en-US" altLang="ja-JP" sz="1400" b="0" i="0" u="none" strike="noStrike" kern="0" cap="none" spc="0" normalizeH="0" baseline="0" noProof="0">
                <a:ln>
                  <a:noFill/>
                </a:ln>
                <a:solidFill>
                  <a:srgbClr val="000000"/>
                </a:solidFill>
                <a:effectLst/>
                <a:uLnTx/>
                <a:uFillTx/>
                <a:latin typeface="Arial"/>
                <a:cs typeface="Arial"/>
                <a:sym typeface="Arial"/>
              </a:rPr>
              <a:t>IoT</a:t>
            </a:r>
            <a:r>
              <a:rPr kumimoji="1" lang="ja-JP" altLang="en-US" sz="1400" b="0" i="0" u="none" strike="noStrike" kern="0" cap="none" spc="0" normalizeH="0" baseline="0" noProof="0">
                <a:ln>
                  <a:noFill/>
                </a:ln>
                <a:solidFill>
                  <a:srgbClr val="000000"/>
                </a:solidFill>
                <a:effectLst/>
                <a:uLnTx/>
                <a:uFillTx/>
                <a:latin typeface="Arial"/>
                <a:cs typeface="Arial"/>
                <a:sym typeface="Arial"/>
              </a:rPr>
              <a:t> </a:t>
            </a:r>
            <a:r>
              <a:rPr kumimoji="1" lang="en-US" altLang="ja-JP" sz="1400" b="0" i="0" u="none" strike="noStrike" kern="0" cap="none" spc="0" normalizeH="0" baseline="0" noProof="0">
                <a:ln>
                  <a:noFill/>
                </a:ln>
                <a:solidFill>
                  <a:srgbClr val="000000"/>
                </a:solidFill>
                <a:effectLst/>
                <a:uLnTx/>
                <a:uFillTx/>
                <a:latin typeface="Arial"/>
                <a:cs typeface="Arial"/>
                <a:sym typeface="Arial"/>
              </a:rPr>
              <a:t>Core</a:t>
            </a:r>
            <a:r>
              <a:rPr kumimoji="1" lang="ja-JP" altLang="en-US" sz="1400" b="0" i="0" u="none" strike="noStrike" kern="0" cap="none" spc="0" normalizeH="0" baseline="0" noProof="0">
                <a:ln>
                  <a:noFill/>
                </a:ln>
                <a:solidFill>
                  <a:srgbClr val="000000"/>
                </a:solidFill>
                <a:effectLst/>
                <a:uLnTx/>
                <a:uFillTx/>
                <a:latin typeface="Arial"/>
                <a:cs typeface="Arial"/>
                <a:sym typeface="Arial"/>
              </a:rPr>
              <a:t>がデータ受信</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AWS Lambda</a:t>
            </a:r>
            <a:r>
              <a:rPr kumimoji="1" lang="ja-JP" altLang="en-US" sz="1400" b="0" i="0" u="none" strike="noStrike" kern="0" cap="none" spc="0" normalizeH="0" baseline="0" noProof="0">
                <a:ln>
                  <a:noFill/>
                </a:ln>
                <a:solidFill>
                  <a:srgbClr val="000000"/>
                </a:solidFill>
                <a:effectLst/>
                <a:uLnTx/>
                <a:uFillTx/>
                <a:latin typeface="Arial"/>
                <a:cs typeface="Arial"/>
                <a:sym typeface="Arial"/>
              </a:rPr>
              <a:t>にてデータ処理</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DynamoDB</a:t>
            </a:r>
            <a:r>
              <a:rPr kumimoji="1" lang="ja-JP" altLang="en-US" sz="1400" b="0" i="0" u="none" strike="noStrike" kern="0" cap="none" spc="0" normalizeH="0" baseline="0" noProof="0">
                <a:ln>
                  <a:noFill/>
                </a:ln>
                <a:solidFill>
                  <a:srgbClr val="000000"/>
                </a:solidFill>
                <a:effectLst/>
                <a:uLnTx/>
                <a:uFillTx/>
                <a:latin typeface="Arial"/>
                <a:cs typeface="Arial"/>
                <a:sym typeface="Arial"/>
              </a:rPr>
              <a:t>にデータを保管</a:t>
            </a:r>
          </a:p>
        </p:txBody>
      </p:sp>
      <p:sp>
        <p:nvSpPr>
          <p:cNvPr id="24" name="テキスト ボックス 23">
            <a:extLst>
              <a:ext uri="{FF2B5EF4-FFF2-40B4-BE49-F238E27FC236}">
                <a16:creationId xmlns:a16="http://schemas.microsoft.com/office/drawing/2014/main" id="{5755A8C2-901C-6A1B-D7E7-3257D1D70021}"/>
              </a:ext>
            </a:extLst>
          </p:cNvPr>
          <p:cNvSpPr txBox="1"/>
          <p:nvPr/>
        </p:nvSpPr>
        <p:spPr>
          <a:xfrm>
            <a:off x="8718522" y="2749191"/>
            <a:ext cx="213552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Raspberry Pi 4 Model B</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28" name="テキスト ボックス 27">
            <a:extLst>
              <a:ext uri="{FF2B5EF4-FFF2-40B4-BE49-F238E27FC236}">
                <a16:creationId xmlns:a16="http://schemas.microsoft.com/office/drawing/2014/main" id="{97FBD19B-99E6-AD05-CCA8-91C5CE05B060}"/>
              </a:ext>
            </a:extLst>
          </p:cNvPr>
          <p:cNvSpPr txBox="1"/>
          <p:nvPr/>
        </p:nvSpPr>
        <p:spPr>
          <a:xfrm>
            <a:off x="8002167" y="5805130"/>
            <a:ext cx="144290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GPS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モジュール</a:t>
            </a:r>
          </a:p>
        </p:txBody>
      </p:sp>
      <p:sp>
        <p:nvSpPr>
          <p:cNvPr id="30" name="正方形/長方形 29">
            <a:extLst>
              <a:ext uri="{FF2B5EF4-FFF2-40B4-BE49-F238E27FC236}">
                <a16:creationId xmlns:a16="http://schemas.microsoft.com/office/drawing/2014/main" id="{27BF8F7C-95D8-1D59-6749-98E199F7DD3C}"/>
              </a:ext>
            </a:extLst>
          </p:cNvPr>
          <p:cNvSpPr/>
          <p:nvPr/>
        </p:nvSpPr>
        <p:spPr>
          <a:xfrm>
            <a:off x="268175" y="2588952"/>
            <a:ext cx="2760246" cy="3252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2" name="グラフィックス 31" descr="コンピューター 単色塗りつぶし">
            <a:extLst>
              <a:ext uri="{FF2B5EF4-FFF2-40B4-BE49-F238E27FC236}">
                <a16:creationId xmlns:a16="http://schemas.microsoft.com/office/drawing/2014/main" id="{710924B5-3AA5-DDA6-4C50-DDF2A70745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6090" y="3153949"/>
            <a:ext cx="914400" cy="914400"/>
          </a:xfrm>
          <a:prstGeom prst="rect">
            <a:avLst/>
          </a:prstGeom>
        </p:spPr>
      </p:pic>
      <p:pic>
        <p:nvPicPr>
          <p:cNvPr id="34" name="グラフィックス 33" descr="ノート PC 単色塗りつぶし">
            <a:extLst>
              <a:ext uri="{FF2B5EF4-FFF2-40B4-BE49-F238E27FC236}">
                <a16:creationId xmlns:a16="http://schemas.microsoft.com/office/drawing/2014/main" id="{8A155FC4-E3F4-2C6A-E407-C749164C5E8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66991" y="3153949"/>
            <a:ext cx="914400" cy="914400"/>
          </a:xfrm>
          <a:prstGeom prst="rect">
            <a:avLst/>
          </a:prstGeom>
        </p:spPr>
      </p:pic>
      <p:sp>
        <p:nvSpPr>
          <p:cNvPr id="35" name="テキスト ボックス 34">
            <a:extLst>
              <a:ext uri="{FF2B5EF4-FFF2-40B4-BE49-F238E27FC236}">
                <a16:creationId xmlns:a16="http://schemas.microsoft.com/office/drawing/2014/main" id="{C726FB57-6A42-E998-21A8-159ADB158D28}"/>
              </a:ext>
            </a:extLst>
          </p:cNvPr>
          <p:cNvSpPr txBox="1"/>
          <p:nvPr/>
        </p:nvSpPr>
        <p:spPr>
          <a:xfrm>
            <a:off x="500093" y="4419969"/>
            <a:ext cx="1980029" cy="11695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・画像、動画</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3D</a:t>
            </a:r>
            <a:r>
              <a:rPr kumimoji="1" lang="ja-JP" altLang="en-US" sz="1400" b="0" i="0" u="none" strike="noStrike" kern="0" cap="none" spc="0" normalizeH="0" baseline="0" noProof="0">
                <a:ln>
                  <a:noFill/>
                </a:ln>
                <a:solidFill>
                  <a:srgbClr val="000000"/>
                </a:solidFill>
                <a:effectLst/>
                <a:uLnTx/>
                <a:uFillTx/>
                <a:latin typeface="Arial"/>
                <a:cs typeface="Arial"/>
                <a:sym typeface="Arial"/>
              </a:rPr>
              <a:t>モデル</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・位置情報、発見日時</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QGIS</a:t>
            </a:r>
            <a:r>
              <a:rPr kumimoji="1" lang="ja-JP" altLang="en-US" sz="1400" b="0" i="0" u="none" strike="noStrike" kern="0" cap="none" spc="0" normalizeH="0" baseline="0" noProof="0">
                <a:ln>
                  <a:noFill/>
                </a:ln>
                <a:solidFill>
                  <a:srgbClr val="000000"/>
                </a:solidFill>
                <a:effectLst/>
                <a:uLnTx/>
                <a:uFillTx/>
                <a:latin typeface="Arial"/>
                <a:cs typeface="Arial"/>
                <a:sym typeface="Arial"/>
              </a:rPr>
              <a:t>の検討</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・その他データの確認</a:t>
            </a:r>
          </a:p>
        </p:txBody>
      </p:sp>
      <p:cxnSp>
        <p:nvCxnSpPr>
          <p:cNvPr id="37" name="直線矢印コネクタ 36">
            <a:extLst>
              <a:ext uri="{FF2B5EF4-FFF2-40B4-BE49-F238E27FC236}">
                <a16:creationId xmlns:a16="http://schemas.microsoft.com/office/drawing/2014/main" id="{95B0B019-F0E1-9672-C281-BAC6B417BDC8}"/>
              </a:ext>
            </a:extLst>
          </p:cNvPr>
          <p:cNvCxnSpPr>
            <a:stCxn id="17" idx="1"/>
          </p:cNvCxnSpPr>
          <p:nvPr/>
        </p:nvCxnSpPr>
        <p:spPr>
          <a:xfrm flipH="1" flipV="1">
            <a:off x="6725662" y="4481885"/>
            <a:ext cx="1217154" cy="1"/>
          </a:xfrm>
          <a:prstGeom prst="straightConnector1">
            <a:avLst/>
          </a:prstGeom>
          <a:ln w="38100">
            <a:solidFill>
              <a:schemeClr val="accent2">
                <a:lumMod val="40000"/>
                <a:lumOff val="6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6612637A-F463-3724-27CD-AC655065ABB2}"/>
              </a:ext>
            </a:extLst>
          </p:cNvPr>
          <p:cNvCxnSpPr>
            <a:cxnSpLocks/>
            <a:stCxn id="4102" idx="0"/>
          </p:cNvCxnSpPr>
          <p:nvPr/>
        </p:nvCxnSpPr>
        <p:spPr>
          <a:xfrm flipV="1">
            <a:off x="8784825" y="4028276"/>
            <a:ext cx="789264" cy="783387"/>
          </a:xfrm>
          <a:prstGeom prst="straightConnector1">
            <a:avLst/>
          </a:prstGeom>
          <a:ln w="3810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A2BFEBBC-97C3-B81C-7F2C-0EE0D3ABEFF3}"/>
              </a:ext>
            </a:extLst>
          </p:cNvPr>
          <p:cNvCxnSpPr>
            <a:cxnSpLocks/>
            <a:stCxn id="4100" idx="0"/>
          </p:cNvCxnSpPr>
          <p:nvPr/>
        </p:nvCxnSpPr>
        <p:spPr>
          <a:xfrm flipH="1" flipV="1">
            <a:off x="9978524" y="4011809"/>
            <a:ext cx="848245" cy="799854"/>
          </a:xfrm>
          <a:prstGeom prst="straightConnector1">
            <a:avLst/>
          </a:prstGeom>
          <a:ln w="3810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7A6F030E-7B57-2C61-A724-0FCDA6D16F91}"/>
              </a:ext>
            </a:extLst>
          </p:cNvPr>
          <p:cNvCxnSpPr>
            <a:cxnSpLocks/>
          </p:cNvCxnSpPr>
          <p:nvPr/>
        </p:nvCxnSpPr>
        <p:spPr>
          <a:xfrm flipH="1">
            <a:off x="3028421" y="4481885"/>
            <a:ext cx="696275" cy="0"/>
          </a:xfrm>
          <a:prstGeom prst="straightConnector1">
            <a:avLst/>
          </a:prstGeom>
          <a:ln w="38100">
            <a:solidFill>
              <a:schemeClr val="accent2">
                <a:lumMod val="40000"/>
                <a:lumOff val="6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B7537419-4EC9-D675-DCE8-51B6B6FB3E3C}"/>
              </a:ext>
            </a:extLst>
          </p:cNvPr>
          <p:cNvSpPr txBox="1"/>
          <p:nvPr/>
        </p:nvSpPr>
        <p:spPr>
          <a:xfrm>
            <a:off x="293382" y="965506"/>
            <a:ext cx="10802957" cy="923330"/>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・ラズベリーパイによる位置情報取得システム、センサからのデータを送信するシステムを構築する。</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・クラウド上のデータ処理システムを構築する。</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・活用法の検証。</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9093146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D6B65C82-8680-B265-B8EE-9454DA018F3D}"/>
            </a:ext>
          </a:extLst>
        </p:cNvPr>
        <p:cNvGrpSpPr/>
        <p:nvPr/>
      </p:nvGrpSpPr>
      <p:grpSpPr>
        <a:xfrm>
          <a:off x="0" y="0"/>
          <a:ext cx="0" cy="0"/>
          <a:chOff x="0" y="0"/>
          <a:chExt cx="0" cy="0"/>
        </a:xfrm>
      </p:grpSpPr>
      <p:sp>
        <p:nvSpPr>
          <p:cNvPr id="190" name="Google Shape;190;p8">
            <a:extLst>
              <a:ext uri="{FF2B5EF4-FFF2-40B4-BE49-F238E27FC236}">
                <a16:creationId xmlns:a16="http://schemas.microsoft.com/office/drawing/2014/main" id="{7A51E885-5C91-C1A4-7AE3-B7BE8DB25404}"/>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191" name="Google Shape;191;p8">
            <a:extLst>
              <a:ext uri="{FF2B5EF4-FFF2-40B4-BE49-F238E27FC236}">
                <a16:creationId xmlns:a16="http://schemas.microsoft.com/office/drawing/2014/main" id="{C8A087FE-E7DB-2DDE-18C2-C61EB0A01F48}"/>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第２章　技術実証の具体的な内容</a:t>
            </a:r>
            <a:endParaRPr/>
          </a:p>
        </p:txBody>
      </p:sp>
      <p:sp>
        <p:nvSpPr>
          <p:cNvPr id="3" name="テキスト ボックス 2">
            <a:extLst>
              <a:ext uri="{FF2B5EF4-FFF2-40B4-BE49-F238E27FC236}">
                <a16:creationId xmlns:a16="http://schemas.microsoft.com/office/drawing/2014/main" id="{573C1228-2467-DA28-197A-01EACC9C0CB2}"/>
              </a:ext>
            </a:extLst>
          </p:cNvPr>
          <p:cNvSpPr txBox="1"/>
          <p:nvPr/>
        </p:nvSpPr>
        <p:spPr>
          <a:xfrm>
            <a:off x="293382" y="465680"/>
            <a:ext cx="816922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2400" b="0" i="0" u="none" strike="noStrike" kern="0" cap="none" spc="0" normalizeH="0" baseline="0" noProof="0">
                <a:ln>
                  <a:noFill/>
                </a:ln>
                <a:solidFill>
                  <a:srgbClr val="0070C0"/>
                </a:solidFill>
                <a:effectLst/>
                <a:uLnTx/>
                <a:uFillTx/>
                <a:latin typeface="Arial"/>
                <a:cs typeface="Arial"/>
                <a:sym typeface="Arial"/>
              </a:rPr>
              <a:t>2.3</a:t>
            </a:r>
            <a:r>
              <a:rPr kumimoji="1" lang="ja-JP" altLang="en-US" sz="2400" b="0" i="0" u="none" strike="noStrike" kern="0" cap="none" spc="0" normalizeH="0" baseline="0" noProof="0">
                <a:ln>
                  <a:noFill/>
                </a:ln>
                <a:solidFill>
                  <a:srgbClr val="0070C0"/>
                </a:solidFill>
                <a:effectLst/>
                <a:uLnTx/>
                <a:uFillTx/>
                <a:latin typeface="Arial"/>
                <a:cs typeface="Arial"/>
                <a:sym typeface="Arial"/>
              </a:rPr>
              <a:t>  金属探知センサ搭載水中ドローンの現地での技術実証</a:t>
            </a:r>
          </a:p>
        </p:txBody>
      </p:sp>
      <p:grpSp>
        <p:nvGrpSpPr>
          <p:cNvPr id="2" name="グループ化 1">
            <a:extLst>
              <a:ext uri="{FF2B5EF4-FFF2-40B4-BE49-F238E27FC236}">
                <a16:creationId xmlns:a16="http://schemas.microsoft.com/office/drawing/2014/main" id="{DC165E0C-9C87-19FF-3B6D-EAB546C8E3B9}"/>
              </a:ext>
            </a:extLst>
          </p:cNvPr>
          <p:cNvGrpSpPr/>
          <p:nvPr/>
        </p:nvGrpSpPr>
        <p:grpSpPr>
          <a:xfrm>
            <a:off x="121618" y="2329784"/>
            <a:ext cx="7315338" cy="4155627"/>
            <a:chOff x="491128" y="2683424"/>
            <a:chExt cx="6728763" cy="3267466"/>
          </a:xfrm>
        </p:grpSpPr>
        <p:sp>
          <p:nvSpPr>
            <p:cNvPr id="4" name="正方形/長方形 3">
              <a:extLst>
                <a:ext uri="{FF2B5EF4-FFF2-40B4-BE49-F238E27FC236}">
                  <a16:creationId xmlns:a16="http://schemas.microsoft.com/office/drawing/2014/main" id="{698D607E-8831-58C0-8A45-EA46D8290E1C}"/>
                </a:ext>
              </a:extLst>
            </p:cNvPr>
            <p:cNvSpPr/>
            <p:nvPr/>
          </p:nvSpPr>
          <p:spPr>
            <a:xfrm>
              <a:off x="3184006" y="4360856"/>
              <a:ext cx="467145" cy="1590034"/>
            </a:xfrm>
            <a:prstGeom prst="rect">
              <a:avLst/>
            </a:prstGeom>
            <a:solidFill>
              <a:schemeClr val="bg1">
                <a:lumMod val="6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ysClr val="windowText" lastClr="000000"/>
                  </a:solidFill>
                  <a:effectLst/>
                  <a:uLnTx/>
                  <a:uFillTx/>
                  <a:latin typeface="Yu Gothic" panose="020B0400000000000000" pitchFamily="34" charset="-128"/>
                  <a:ea typeface="Yu Gothic" panose="020B0400000000000000" pitchFamily="34" charset="-128"/>
                  <a:cs typeface="+mn-cs"/>
                  <a:sym typeface="Arial"/>
                </a:rPr>
                <a:t>沿岸</a:t>
              </a:r>
            </a:p>
          </p:txBody>
        </p:sp>
        <p:sp>
          <p:nvSpPr>
            <p:cNvPr id="6" name="正方形/長方形 5">
              <a:extLst>
                <a:ext uri="{FF2B5EF4-FFF2-40B4-BE49-F238E27FC236}">
                  <a16:creationId xmlns:a16="http://schemas.microsoft.com/office/drawing/2014/main" id="{4BC48B67-3248-8D26-723E-DAF4F670EFA2}"/>
                </a:ext>
              </a:extLst>
            </p:cNvPr>
            <p:cNvSpPr/>
            <p:nvPr/>
          </p:nvSpPr>
          <p:spPr>
            <a:xfrm>
              <a:off x="3651151" y="4469874"/>
              <a:ext cx="3568740" cy="1253530"/>
            </a:xfrm>
            <a:prstGeom prst="rect">
              <a:avLst/>
            </a:prstGeom>
            <a:solidFill>
              <a:schemeClr val="bg2">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nvGrpSpPr>
            <p:cNvPr id="7" name="グループ化 6">
              <a:extLst>
                <a:ext uri="{FF2B5EF4-FFF2-40B4-BE49-F238E27FC236}">
                  <a16:creationId xmlns:a16="http://schemas.microsoft.com/office/drawing/2014/main" id="{C4C1C611-8C26-3285-B708-CED2598A9A52}"/>
                </a:ext>
              </a:extLst>
            </p:cNvPr>
            <p:cNvGrpSpPr/>
            <p:nvPr/>
          </p:nvGrpSpPr>
          <p:grpSpPr>
            <a:xfrm rot="1688381">
              <a:off x="5960966" y="5136880"/>
              <a:ext cx="1161535" cy="568065"/>
              <a:chOff x="5499357" y="4250724"/>
              <a:chExt cx="1161535" cy="568065"/>
            </a:xfrm>
            <a:solidFill>
              <a:schemeClr val="accent6">
                <a:lumMod val="60000"/>
                <a:lumOff val="40000"/>
              </a:schemeClr>
            </a:solidFill>
          </p:grpSpPr>
          <p:sp>
            <p:nvSpPr>
              <p:cNvPr id="32" name="正方形/長方形 6">
                <a:extLst>
                  <a:ext uri="{FF2B5EF4-FFF2-40B4-BE49-F238E27FC236}">
                    <a16:creationId xmlns:a16="http://schemas.microsoft.com/office/drawing/2014/main" id="{C1EAAB80-55C2-05EC-6421-75184506E487}"/>
                  </a:ext>
                </a:extLst>
              </p:cNvPr>
              <p:cNvSpPr/>
              <p:nvPr/>
            </p:nvSpPr>
            <p:spPr>
              <a:xfrm>
                <a:off x="5499357" y="4472799"/>
                <a:ext cx="1161535" cy="345990"/>
              </a:xfrm>
              <a:custGeom>
                <a:avLst/>
                <a:gdLst>
                  <a:gd name="connsiteX0" fmla="*/ 0 w 1161535"/>
                  <a:gd name="connsiteY0" fmla="*/ 0 h 333633"/>
                  <a:gd name="connsiteX1" fmla="*/ 1161535 w 1161535"/>
                  <a:gd name="connsiteY1" fmla="*/ 0 h 333633"/>
                  <a:gd name="connsiteX2" fmla="*/ 1161535 w 1161535"/>
                  <a:gd name="connsiteY2" fmla="*/ 333633 h 333633"/>
                  <a:gd name="connsiteX3" fmla="*/ 0 w 1161535"/>
                  <a:gd name="connsiteY3" fmla="*/ 333633 h 333633"/>
                  <a:gd name="connsiteX4" fmla="*/ 0 w 1161535"/>
                  <a:gd name="connsiteY4" fmla="*/ 0 h 333633"/>
                  <a:gd name="connsiteX0" fmla="*/ 0 w 1161535"/>
                  <a:gd name="connsiteY0" fmla="*/ 0 h 333633"/>
                  <a:gd name="connsiteX1" fmla="*/ 1161535 w 1161535"/>
                  <a:gd name="connsiteY1" fmla="*/ 0 h 333633"/>
                  <a:gd name="connsiteX2" fmla="*/ 1161535 w 1161535"/>
                  <a:gd name="connsiteY2" fmla="*/ 333633 h 333633"/>
                  <a:gd name="connsiteX3" fmla="*/ 234778 w 1161535"/>
                  <a:gd name="connsiteY3" fmla="*/ 333633 h 333633"/>
                  <a:gd name="connsiteX4" fmla="*/ 0 w 1161535"/>
                  <a:gd name="connsiteY4" fmla="*/ 0 h 333633"/>
                  <a:gd name="connsiteX0" fmla="*/ 0 w 1161535"/>
                  <a:gd name="connsiteY0" fmla="*/ 0 h 345990"/>
                  <a:gd name="connsiteX1" fmla="*/ 1161535 w 1161535"/>
                  <a:gd name="connsiteY1" fmla="*/ 0 h 345990"/>
                  <a:gd name="connsiteX2" fmla="*/ 1161535 w 1161535"/>
                  <a:gd name="connsiteY2" fmla="*/ 333633 h 345990"/>
                  <a:gd name="connsiteX3" fmla="*/ 358346 w 1161535"/>
                  <a:gd name="connsiteY3" fmla="*/ 345990 h 345990"/>
                  <a:gd name="connsiteX4" fmla="*/ 0 w 1161535"/>
                  <a:gd name="connsiteY4" fmla="*/ 0 h 34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35" h="345990">
                    <a:moveTo>
                      <a:pt x="0" y="0"/>
                    </a:moveTo>
                    <a:lnTo>
                      <a:pt x="1161535" y="0"/>
                    </a:lnTo>
                    <a:lnTo>
                      <a:pt x="1161535" y="333633"/>
                    </a:lnTo>
                    <a:lnTo>
                      <a:pt x="358346" y="345990"/>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3" name="正方形/長方形 32">
                <a:extLst>
                  <a:ext uri="{FF2B5EF4-FFF2-40B4-BE49-F238E27FC236}">
                    <a16:creationId xmlns:a16="http://schemas.microsoft.com/office/drawing/2014/main" id="{9D1F4731-010A-5666-57EC-1E9803DE59D7}"/>
                  </a:ext>
                </a:extLst>
              </p:cNvPr>
              <p:cNvSpPr/>
              <p:nvPr/>
            </p:nvSpPr>
            <p:spPr>
              <a:xfrm>
                <a:off x="5980670" y="4250724"/>
                <a:ext cx="494271" cy="22242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8" name="テキスト ボックス 7">
              <a:extLst>
                <a:ext uri="{FF2B5EF4-FFF2-40B4-BE49-F238E27FC236}">
                  <a16:creationId xmlns:a16="http://schemas.microsoft.com/office/drawing/2014/main" id="{F08B6EF9-2744-8EE4-B870-4CED9CC057C0}"/>
                </a:ext>
              </a:extLst>
            </p:cNvPr>
            <p:cNvSpPr txBox="1"/>
            <p:nvPr/>
          </p:nvSpPr>
          <p:spPr>
            <a:xfrm>
              <a:off x="6134591" y="4869446"/>
              <a:ext cx="723275" cy="30777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沈没船</a:t>
              </a:r>
            </a:p>
          </p:txBody>
        </p:sp>
        <p:sp>
          <p:nvSpPr>
            <p:cNvPr id="9" name="星 7 8">
              <a:extLst>
                <a:ext uri="{FF2B5EF4-FFF2-40B4-BE49-F238E27FC236}">
                  <a16:creationId xmlns:a16="http://schemas.microsoft.com/office/drawing/2014/main" id="{1ED44B35-7B8D-C1B9-0404-3C1834B128C8}"/>
                </a:ext>
              </a:extLst>
            </p:cNvPr>
            <p:cNvSpPr/>
            <p:nvPr/>
          </p:nvSpPr>
          <p:spPr>
            <a:xfrm rot="1033578">
              <a:off x="5631732" y="5399750"/>
              <a:ext cx="543698" cy="429243"/>
            </a:xfrm>
            <a:prstGeom prst="star7">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正方形/長方形 9">
              <a:extLst>
                <a:ext uri="{FF2B5EF4-FFF2-40B4-BE49-F238E27FC236}">
                  <a16:creationId xmlns:a16="http://schemas.microsoft.com/office/drawing/2014/main" id="{18CF9A57-635A-CC2D-87FB-477A4987EA59}"/>
                </a:ext>
              </a:extLst>
            </p:cNvPr>
            <p:cNvSpPr/>
            <p:nvPr/>
          </p:nvSpPr>
          <p:spPr>
            <a:xfrm>
              <a:off x="3651151" y="5723404"/>
              <a:ext cx="3568740" cy="219835"/>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ysClr val="windowText" lastClr="000000"/>
                </a:solidFill>
                <a:effectLst/>
                <a:uLnTx/>
                <a:uFillTx/>
                <a:latin typeface="Arial"/>
                <a:ea typeface="ＭＳ Ｐゴシック" panose="020B0600070205080204" pitchFamily="50" charset="-128"/>
                <a:cs typeface="+mn-cs"/>
                <a:sym typeface="Arial"/>
              </a:endParaRPr>
            </a:p>
          </p:txBody>
        </p:sp>
        <p:sp>
          <p:nvSpPr>
            <p:cNvPr id="11" name="円/楕円 10">
              <a:extLst>
                <a:ext uri="{FF2B5EF4-FFF2-40B4-BE49-F238E27FC236}">
                  <a16:creationId xmlns:a16="http://schemas.microsoft.com/office/drawing/2014/main" id="{327FB8F7-8C79-6F61-3BB9-F35E0A99EA0B}"/>
                </a:ext>
              </a:extLst>
            </p:cNvPr>
            <p:cNvSpPr/>
            <p:nvPr/>
          </p:nvSpPr>
          <p:spPr>
            <a:xfrm>
              <a:off x="6692797" y="5289786"/>
              <a:ext cx="121008" cy="12311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円/楕円 11">
              <a:extLst>
                <a:ext uri="{FF2B5EF4-FFF2-40B4-BE49-F238E27FC236}">
                  <a16:creationId xmlns:a16="http://schemas.microsoft.com/office/drawing/2014/main" id="{2B2E9F74-3BF4-F805-FF5B-19449A172201}"/>
                </a:ext>
              </a:extLst>
            </p:cNvPr>
            <p:cNvSpPr/>
            <p:nvPr/>
          </p:nvSpPr>
          <p:spPr>
            <a:xfrm rot="1136490">
              <a:off x="4791011" y="4680910"/>
              <a:ext cx="666390" cy="275542"/>
            </a:xfrm>
            <a:prstGeom prst="ellipse">
              <a:avLst/>
            </a:prstGeom>
            <a:solidFill>
              <a:schemeClr val="bg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3" name="角丸四角形 12">
              <a:extLst>
                <a:ext uri="{FF2B5EF4-FFF2-40B4-BE49-F238E27FC236}">
                  <a16:creationId xmlns:a16="http://schemas.microsoft.com/office/drawing/2014/main" id="{A710B2D0-C976-1637-E140-2AEC256DCDB0}"/>
                </a:ext>
              </a:extLst>
            </p:cNvPr>
            <p:cNvSpPr/>
            <p:nvPr/>
          </p:nvSpPr>
          <p:spPr>
            <a:xfrm rot="1224863">
              <a:off x="4893823" y="4948242"/>
              <a:ext cx="329459" cy="93887"/>
            </a:xfrm>
            <a:prstGeom prst="roundRect">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14" name="グラフィックス 13" descr="Wi-Fi 枠線">
              <a:extLst>
                <a:ext uri="{FF2B5EF4-FFF2-40B4-BE49-F238E27FC236}">
                  <a16:creationId xmlns:a16="http://schemas.microsoft.com/office/drawing/2014/main" id="{85FCD57D-527E-680D-2140-E443D4768E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6893642">
              <a:off x="5008526" y="4696200"/>
              <a:ext cx="980182" cy="980182"/>
            </a:xfrm>
            <a:prstGeom prst="rect">
              <a:avLst/>
            </a:prstGeom>
          </p:spPr>
        </p:pic>
        <p:pic>
          <p:nvPicPr>
            <p:cNvPr id="15" name="グラフィックス 14" descr="ユーザー 単色塗りつぶし">
              <a:extLst>
                <a:ext uri="{FF2B5EF4-FFF2-40B4-BE49-F238E27FC236}">
                  <a16:creationId xmlns:a16="http://schemas.microsoft.com/office/drawing/2014/main" id="{3058A5A0-8339-FF9E-26F9-A306769DBD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64607" y="3839123"/>
              <a:ext cx="705941" cy="578672"/>
            </a:xfrm>
            <a:prstGeom prst="rect">
              <a:avLst/>
            </a:prstGeom>
          </p:spPr>
        </p:pic>
        <p:cxnSp>
          <p:nvCxnSpPr>
            <p:cNvPr id="16" name="曲線コネクタ 15">
              <a:extLst>
                <a:ext uri="{FF2B5EF4-FFF2-40B4-BE49-F238E27FC236}">
                  <a16:creationId xmlns:a16="http://schemas.microsoft.com/office/drawing/2014/main" id="{B5205164-086C-7BE0-62A0-8BE64B029FB1}"/>
                </a:ext>
              </a:extLst>
            </p:cNvPr>
            <p:cNvCxnSpPr>
              <a:cxnSpLocks/>
              <a:endCxn id="12" idx="2"/>
            </p:cNvCxnSpPr>
            <p:nvPr/>
          </p:nvCxnSpPr>
          <p:spPr>
            <a:xfrm rot="16200000" flipH="1">
              <a:off x="4519912" y="4421384"/>
              <a:ext cx="302942" cy="275340"/>
            </a:xfrm>
            <a:prstGeom prst="curvedConnector2">
              <a:avLst/>
            </a:prstGeom>
            <a:ln w="44450"/>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12B7CD6E-8953-8AFD-7027-2DE265EB66AB}"/>
                </a:ext>
              </a:extLst>
            </p:cNvPr>
            <p:cNvSpPr txBox="1"/>
            <p:nvPr/>
          </p:nvSpPr>
          <p:spPr>
            <a:xfrm>
              <a:off x="4697110" y="3353664"/>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クラウド</a:t>
              </a:r>
            </a:p>
          </p:txBody>
        </p:sp>
        <p:grpSp>
          <p:nvGrpSpPr>
            <p:cNvPr id="18" name="グループ化 17">
              <a:extLst>
                <a:ext uri="{FF2B5EF4-FFF2-40B4-BE49-F238E27FC236}">
                  <a16:creationId xmlns:a16="http://schemas.microsoft.com/office/drawing/2014/main" id="{5EA3CAAB-29CE-E84A-2DE3-6EEBFBA9E756}"/>
                </a:ext>
              </a:extLst>
            </p:cNvPr>
            <p:cNvGrpSpPr/>
            <p:nvPr/>
          </p:nvGrpSpPr>
          <p:grpSpPr>
            <a:xfrm>
              <a:off x="4222658" y="4181933"/>
              <a:ext cx="622109" cy="325632"/>
              <a:chOff x="7498001" y="3931921"/>
              <a:chExt cx="636818" cy="473825"/>
            </a:xfrm>
          </p:grpSpPr>
          <p:sp>
            <p:nvSpPr>
              <p:cNvPr id="29" name="角丸四角形 28">
                <a:extLst>
                  <a:ext uri="{FF2B5EF4-FFF2-40B4-BE49-F238E27FC236}">
                    <a16:creationId xmlns:a16="http://schemas.microsoft.com/office/drawing/2014/main" id="{991E047B-A29A-7D7A-2F05-5096C618A37E}"/>
                  </a:ext>
                </a:extLst>
              </p:cNvPr>
              <p:cNvSpPr/>
              <p:nvPr/>
            </p:nvSpPr>
            <p:spPr>
              <a:xfrm>
                <a:off x="7498001" y="3978560"/>
                <a:ext cx="636818" cy="381430"/>
              </a:xfrm>
              <a:prstGeom prst="roundRect">
                <a:avLst/>
              </a:prstGeom>
              <a:solidFill>
                <a:schemeClr val="tx1">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0" name="正方形/長方形 29">
                <a:extLst>
                  <a:ext uri="{FF2B5EF4-FFF2-40B4-BE49-F238E27FC236}">
                    <a16:creationId xmlns:a16="http://schemas.microsoft.com/office/drawing/2014/main" id="{7853A8C3-56B8-1073-7653-B0BF4E8F1E3B}"/>
                  </a:ext>
                </a:extLst>
              </p:cNvPr>
              <p:cNvSpPr/>
              <p:nvPr/>
            </p:nvSpPr>
            <p:spPr>
              <a:xfrm>
                <a:off x="7642703" y="3931921"/>
                <a:ext cx="49004" cy="473825"/>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1" name="正方形/長方形 30">
                <a:extLst>
                  <a:ext uri="{FF2B5EF4-FFF2-40B4-BE49-F238E27FC236}">
                    <a16:creationId xmlns:a16="http://schemas.microsoft.com/office/drawing/2014/main" id="{509988B3-601E-26FE-74D7-4B102F4E2A16}"/>
                  </a:ext>
                </a:extLst>
              </p:cNvPr>
              <p:cNvSpPr/>
              <p:nvPr/>
            </p:nvSpPr>
            <p:spPr>
              <a:xfrm>
                <a:off x="7934583" y="3931922"/>
                <a:ext cx="49088" cy="473824"/>
              </a:xfrm>
              <a:prstGeom prst="rect">
                <a:avLst/>
              </a:prstGeom>
              <a:solidFill>
                <a:schemeClr val="tx1"/>
              </a:solid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grpSp>
        <p:sp>
          <p:nvSpPr>
            <p:cNvPr id="19" name="テキスト ボックス 18">
              <a:extLst>
                <a:ext uri="{FF2B5EF4-FFF2-40B4-BE49-F238E27FC236}">
                  <a16:creationId xmlns:a16="http://schemas.microsoft.com/office/drawing/2014/main" id="{950E29AE-46EE-3E7F-7A3B-1A6DA3CAC3AB}"/>
                </a:ext>
              </a:extLst>
            </p:cNvPr>
            <p:cNvSpPr txBox="1"/>
            <p:nvPr/>
          </p:nvSpPr>
          <p:spPr>
            <a:xfrm>
              <a:off x="4995237" y="5519503"/>
              <a:ext cx="790513" cy="21779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金属ゴミ</a:t>
              </a:r>
            </a:p>
          </p:txBody>
        </p:sp>
        <p:sp>
          <p:nvSpPr>
            <p:cNvPr id="20" name="テキスト ボックス 19">
              <a:extLst>
                <a:ext uri="{FF2B5EF4-FFF2-40B4-BE49-F238E27FC236}">
                  <a16:creationId xmlns:a16="http://schemas.microsoft.com/office/drawing/2014/main" id="{A6DD04E0-493C-80C0-A63A-CD174D701147}"/>
                </a:ext>
              </a:extLst>
            </p:cNvPr>
            <p:cNvSpPr txBox="1"/>
            <p:nvPr/>
          </p:nvSpPr>
          <p:spPr>
            <a:xfrm>
              <a:off x="3915189" y="4698896"/>
              <a:ext cx="1031051" cy="261610"/>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水中ドローン</a:t>
              </a:r>
            </a:p>
          </p:txBody>
        </p:sp>
        <p:sp>
          <p:nvSpPr>
            <p:cNvPr id="21" name="テキスト ボックス 20">
              <a:extLst>
                <a:ext uri="{FF2B5EF4-FFF2-40B4-BE49-F238E27FC236}">
                  <a16:creationId xmlns:a16="http://schemas.microsoft.com/office/drawing/2014/main" id="{A4C70E15-50E4-2C49-7B42-8C97BB4C426F}"/>
                </a:ext>
              </a:extLst>
            </p:cNvPr>
            <p:cNvSpPr txBox="1"/>
            <p:nvPr/>
          </p:nvSpPr>
          <p:spPr>
            <a:xfrm>
              <a:off x="4206775" y="5039650"/>
              <a:ext cx="1241428" cy="253916"/>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05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金属探知センサ</a:t>
              </a:r>
            </a:p>
          </p:txBody>
        </p:sp>
        <p:cxnSp>
          <p:nvCxnSpPr>
            <p:cNvPr id="22" name="直線矢印コネクタ 21">
              <a:extLst>
                <a:ext uri="{FF2B5EF4-FFF2-40B4-BE49-F238E27FC236}">
                  <a16:creationId xmlns:a16="http://schemas.microsoft.com/office/drawing/2014/main" id="{62F45A5C-C0BD-2930-B02F-90E9538B371B}"/>
                </a:ext>
              </a:extLst>
            </p:cNvPr>
            <p:cNvCxnSpPr>
              <a:cxnSpLocks/>
            </p:cNvCxnSpPr>
            <p:nvPr/>
          </p:nvCxnSpPr>
          <p:spPr>
            <a:xfrm flipV="1">
              <a:off x="4533712" y="3744948"/>
              <a:ext cx="590494" cy="436985"/>
            </a:xfrm>
            <a:prstGeom prst="straightConnector1">
              <a:avLst/>
            </a:prstGeom>
            <a:ln w="63500" cmpd="sng">
              <a:gradFill flip="none" rotWithShape="1">
                <a:gsLst>
                  <a:gs pos="0">
                    <a:srgbClr val="FF0000"/>
                  </a:gs>
                  <a:gs pos="48000">
                    <a:schemeClr val="accent2">
                      <a:lumMod val="97000"/>
                      <a:lumOff val="3000"/>
                    </a:schemeClr>
                  </a:gs>
                  <a:gs pos="100000">
                    <a:schemeClr val="accent2">
                      <a:lumMod val="60000"/>
                      <a:lumOff val="40000"/>
                    </a:schemeClr>
                  </a:gs>
                </a:gsLst>
                <a:lin ang="16200000" scaled="1"/>
                <a:tileRect/>
              </a:gradFill>
              <a:prstDash val="sysDot"/>
              <a:tailEnd type="triangle" w="lg" len="sm"/>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2EAC9EAC-4AA7-093B-06F8-D2ABCDDE40E0}"/>
                </a:ext>
              </a:extLst>
            </p:cNvPr>
            <p:cNvCxnSpPr>
              <a:cxnSpLocks/>
            </p:cNvCxnSpPr>
            <p:nvPr/>
          </p:nvCxnSpPr>
          <p:spPr>
            <a:xfrm flipH="1">
              <a:off x="3184006" y="3382286"/>
              <a:ext cx="1230056" cy="0"/>
            </a:xfrm>
            <a:prstGeom prst="straightConnector1">
              <a:avLst/>
            </a:prstGeom>
            <a:ln w="63500" cmpd="sng">
              <a:solidFill>
                <a:srgbClr val="FF0000"/>
              </a:solidFill>
              <a:prstDash val="sysDot"/>
              <a:tailEnd type="triangle" w="lg" len="sm"/>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C964610D-310E-4EEA-4017-4A5B6B3E7C44}"/>
                </a:ext>
              </a:extLst>
            </p:cNvPr>
            <p:cNvSpPr txBox="1"/>
            <p:nvPr/>
          </p:nvSpPr>
          <p:spPr>
            <a:xfrm>
              <a:off x="5563917" y="3017063"/>
              <a:ext cx="1443798" cy="290397"/>
            </a:xfrm>
            <a:prstGeom prst="rect">
              <a:avLst/>
            </a:prstGeom>
            <a:noFill/>
            <a:ln w="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データを処理</a:t>
              </a:r>
            </a:p>
          </p:txBody>
        </p:sp>
        <p:sp>
          <p:nvSpPr>
            <p:cNvPr id="25" name="テキスト ボックス 24">
              <a:extLst>
                <a:ext uri="{FF2B5EF4-FFF2-40B4-BE49-F238E27FC236}">
                  <a16:creationId xmlns:a16="http://schemas.microsoft.com/office/drawing/2014/main" id="{0C627692-815E-5F70-6F9B-C4BD2C5A83A2}"/>
                </a:ext>
              </a:extLst>
            </p:cNvPr>
            <p:cNvSpPr txBox="1"/>
            <p:nvPr/>
          </p:nvSpPr>
          <p:spPr>
            <a:xfrm>
              <a:off x="491128" y="3525154"/>
              <a:ext cx="2544069" cy="290397"/>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実験データの確認、活用</a:t>
              </a:r>
              <a:endParaRPr kumimoji="1" lang="en-US" altLang="ja-JP"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26" name="テキスト ボックス 25">
              <a:extLst>
                <a:ext uri="{FF2B5EF4-FFF2-40B4-BE49-F238E27FC236}">
                  <a16:creationId xmlns:a16="http://schemas.microsoft.com/office/drawing/2014/main" id="{EB0FD23B-1197-240E-807C-F032F4622AC1}"/>
                </a:ext>
              </a:extLst>
            </p:cNvPr>
            <p:cNvSpPr txBox="1"/>
            <p:nvPr/>
          </p:nvSpPr>
          <p:spPr>
            <a:xfrm>
              <a:off x="2858827" y="3722738"/>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ドローン操縦者</a:t>
              </a:r>
            </a:p>
          </p:txBody>
        </p:sp>
        <p:sp>
          <p:nvSpPr>
            <p:cNvPr id="27" name="テキスト ボックス 26">
              <a:extLst>
                <a:ext uri="{FF2B5EF4-FFF2-40B4-BE49-F238E27FC236}">
                  <a16:creationId xmlns:a16="http://schemas.microsoft.com/office/drawing/2014/main" id="{891424F6-0B16-225B-71F2-F38BECC048D8}"/>
                </a:ext>
              </a:extLst>
            </p:cNvPr>
            <p:cNvSpPr txBox="1"/>
            <p:nvPr/>
          </p:nvSpPr>
          <p:spPr>
            <a:xfrm>
              <a:off x="4837032" y="4250514"/>
              <a:ext cx="1505191" cy="261610"/>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1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ペリカンケース</a:t>
              </a:r>
            </a:p>
          </p:txBody>
        </p:sp>
        <p:pic>
          <p:nvPicPr>
            <p:cNvPr id="28" name="グラフィックス 27" descr="雲 枠線">
              <a:extLst>
                <a:ext uri="{FF2B5EF4-FFF2-40B4-BE49-F238E27FC236}">
                  <a16:creationId xmlns:a16="http://schemas.microsoft.com/office/drawing/2014/main" id="{B7CBC1AD-D34F-9C6E-D736-4039C33AD22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33843" y="2683424"/>
              <a:ext cx="1446845" cy="1329614"/>
            </a:xfrm>
            <a:prstGeom prst="rect">
              <a:avLst/>
            </a:prstGeom>
          </p:spPr>
        </p:pic>
      </p:grpSp>
      <p:sp>
        <p:nvSpPr>
          <p:cNvPr id="34" name="テキスト ボックス 33">
            <a:extLst>
              <a:ext uri="{FF2B5EF4-FFF2-40B4-BE49-F238E27FC236}">
                <a16:creationId xmlns:a16="http://schemas.microsoft.com/office/drawing/2014/main" id="{93267B54-0249-B75F-81B7-A291ED252A23}"/>
              </a:ext>
            </a:extLst>
          </p:cNvPr>
          <p:cNvSpPr txBox="1"/>
          <p:nvPr/>
        </p:nvSpPr>
        <p:spPr>
          <a:xfrm>
            <a:off x="293382" y="1070505"/>
            <a:ext cx="10956846" cy="400110"/>
          </a:xfrm>
          <a:prstGeom prst="rect">
            <a:avLst/>
          </a:prstGeom>
          <a:solidFill>
            <a:schemeClr val="accent2">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0" i="0" u="none" strike="noStrike" kern="0" cap="none" spc="0" normalizeH="0" baseline="0" noProof="0">
                <a:ln>
                  <a:noFill/>
                </a:ln>
                <a:solidFill>
                  <a:srgbClr val="000000"/>
                </a:solidFill>
                <a:effectLst/>
                <a:uLnTx/>
                <a:uFillTx/>
                <a:latin typeface="Arial"/>
                <a:cs typeface="Arial"/>
                <a:sym typeface="Arial"/>
              </a:rPr>
              <a:t>「現状は人が潜って海底のゴミを捜索している。ゴミの場所は全て人の記憶に頼っている。」</a:t>
            </a:r>
          </a:p>
        </p:txBody>
      </p:sp>
      <p:sp>
        <p:nvSpPr>
          <p:cNvPr id="35" name="テキスト ボックス 34">
            <a:extLst>
              <a:ext uri="{FF2B5EF4-FFF2-40B4-BE49-F238E27FC236}">
                <a16:creationId xmlns:a16="http://schemas.microsoft.com/office/drawing/2014/main" id="{BA0B311F-0C20-3DE8-C8A5-E29B7A3054BF}"/>
              </a:ext>
            </a:extLst>
          </p:cNvPr>
          <p:cNvSpPr txBox="1"/>
          <p:nvPr/>
        </p:nvSpPr>
        <p:spPr>
          <a:xfrm>
            <a:off x="293382" y="1527075"/>
            <a:ext cx="6878806" cy="923330"/>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・英虞湾に赴き現地にて水中ドローンを投入し動作確認する。</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・陸上からドローンを操縦し海底金属ゴミの探査を実際に行う。</a:t>
            </a:r>
            <a:endParaRPr kumimoji="1" lang="en-US" altLang="ja-JP" sz="18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800" b="0" i="0" u="none" strike="noStrike" kern="0" cap="none" spc="0" normalizeH="0" baseline="0" noProof="0">
                <a:ln>
                  <a:noFill/>
                </a:ln>
                <a:solidFill>
                  <a:srgbClr val="000000"/>
                </a:solidFill>
                <a:effectLst/>
                <a:uLnTx/>
                <a:uFillTx/>
                <a:latin typeface="Arial"/>
                <a:cs typeface="Arial"/>
                <a:sym typeface="Arial"/>
              </a:rPr>
              <a:t>・ドローンから得られたデータを確認。</a:t>
            </a:r>
          </a:p>
        </p:txBody>
      </p:sp>
      <p:sp>
        <p:nvSpPr>
          <p:cNvPr id="37" name="テキスト ボックス 36">
            <a:extLst>
              <a:ext uri="{FF2B5EF4-FFF2-40B4-BE49-F238E27FC236}">
                <a16:creationId xmlns:a16="http://schemas.microsoft.com/office/drawing/2014/main" id="{8DB366B4-F9C2-6EA6-21F9-0FA47BB6AC59}"/>
              </a:ext>
            </a:extLst>
          </p:cNvPr>
          <p:cNvSpPr txBox="1"/>
          <p:nvPr/>
        </p:nvSpPr>
        <p:spPr>
          <a:xfrm>
            <a:off x="6369025" y="4097654"/>
            <a:ext cx="1418051" cy="461665"/>
          </a:xfrm>
          <a:prstGeom prst="rect">
            <a:avLst/>
          </a:prstGeom>
          <a:noFill/>
          <a:ln w="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HGP創英角ｺﾞｼｯｸUB" panose="020B0900000000000000" pitchFamily="50" charset="-128"/>
                <a:ea typeface="HGP創英角ｺﾞｼｯｸUB" panose="020B0900000000000000" pitchFamily="50" charset="-128"/>
                <a:sym typeface="Arial"/>
              </a:rPr>
              <a:t>英虞湾</a:t>
            </a:r>
          </a:p>
        </p:txBody>
      </p:sp>
      <p:sp>
        <p:nvSpPr>
          <p:cNvPr id="38" name="角丸四角形 37">
            <a:extLst>
              <a:ext uri="{FF2B5EF4-FFF2-40B4-BE49-F238E27FC236}">
                <a16:creationId xmlns:a16="http://schemas.microsoft.com/office/drawing/2014/main" id="{2C771778-F0A7-99B7-0041-FD74218E52DE}"/>
              </a:ext>
            </a:extLst>
          </p:cNvPr>
          <p:cNvSpPr/>
          <p:nvPr/>
        </p:nvSpPr>
        <p:spPr>
          <a:xfrm>
            <a:off x="187056" y="2949829"/>
            <a:ext cx="2588042" cy="23200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9" name="テキスト ボックス 38">
            <a:extLst>
              <a:ext uri="{FF2B5EF4-FFF2-40B4-BE49-F238E27FC236}">
                <a16:creationId xmlns:a16="http://schemas.microsoft.com/office/drawing/2014/main" id="{51F4C31D-7A1C-FB83-532B-BB0DF0BEAFA3}"/>
              </a:ext>
            </a:extLst>
          </p:cNvPr>
          <p:cNvSpPr txBox="1"/>
          <p:nvPr/>
        </p:nvSpPr>
        <p:spPr>
          <a:xfrm>
            <a:off x="1002106" y="2963536"/>
            <a:ext cx="8002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400" b="0" i="0" u="none" strike="noStrike" kern="0" cap="none" spc="0" normalizeH="0" baseline="0" noProof="0">
                <a:ln>
                  <a:noFill/>
                </a:ln>
                <a:solidFill>
                  <a:srgbClr val="000000"/>
                </a:solidFill>
                <a:effectLst/>
                <a:uLnTx/>
                <a:uFillTx/>
                <a:latin typeface="Arial"/>
                <a:cs typeface="Arial"/>
                <a:sym typeface="Arial"/>
              </a:rPr>
              <a:t>陸上</a:t>
            </a:r>
          </a:p>
        </p:txBody>
      </p:sp>
      <p:pic>
        <p:nvPicPr>
          <p:cNvPr id="41" name="グラフィックス 40" descr="ユーザー 単色塗りつぶし">
            <a:extLst>
              <a:ext uri="{FF2B5EF4-FFF2-40B4-BE49-F238E27FC236}">
                <a16:creationId xmlns:a16="http://schemas.microsoft.com/office/drawing/2014/main" id="{F022B61F-ACDA-ADA7-204F-7801DCD30E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4906" y="3926709"/>
            <a:ext cx="914400" cy="914400"/>
          </a:xfrm>
          <a:prstGeom prst="rect">
            <a:avLst/>
          </a:prstGeom>
        </p:spPr>
      </p:pic>
      <p:pic>
        <p:nvPicPr>
          <p:cNvPr id="43" name="グラフィックス 42" descr="ノート PC 単色塗りつぶし">
            <a:extLst>
              <a:ext uri="{FF2B5EF4-FFF2-40B4-BE49-F238E27FC236}">
                <a16:creationId xmlns:a16="http://schemas.microsoft.com/office/drawing/2014/main" id="{6BF71441-3D47-C60F-027C-E0AB3702F3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11930" y="3961844"/>
            <a:ext cx="914400" cy="914400"/>
          </a:xfrm>
          <a:prstGeom prst="rect">
            <a:avLst/>
          </a:prstGeom>
        </p:spPr>
      </p:pic>
      <p:pic>
        <p:nvPicPr>
          <p:cNvPr id="3074" name="Picture 2" descr="船で行く 1日1組限定の絶景お宿 うみらぼ（志摩市）：（最新料金：2025年）">
            <a:extLst>
              <a:ext uri="{FF2B5EF4-FFF2-40B4-BE49-F238E27FC236}">
                <a16:creationId xmlns:a16="http://schemas.microsoft.com/office/drawing/2014/main" id="{0CFCD2C8-8D6D-74E4-FE63-75E3065384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7133" y="2649740"/>
            <a:ext cx="3585535" cy="2388146"/>
          </a:xfrm>
          <a:prstGeom prst="rect">
            <a:avLst/>
          </a:prstGeom>
          <a:noFill/>
          <a:extLst>
            <a:ext uri="{909E8E84-426E-40DD-AFC4-6F175D3DCCD1}">
              <a14:hiddenFill xmlns:a14="http://schemas.microsoft.com/office/drawing/2010/main">
                <a:solidFill>
                  <a:srgbClr val="FFFFFF"/>
                </a:solidFill>
              </a14:hiddenFill>
            </a:ext>
          </a:extLst>
        </p:spPr>
      </p:pic>
      <p:sp>
        <p:nvSpPr>
          <p:cNvPr id="46" name="テキスト ボックス 45">
            <a:extLst>
              <a:ext uri="{FF2B5EF4-FFF2-40B4-BE49-F238E27FC236}">
                <a16:creationId xmlns:a16="http://schemas.microsoft.com/office/drawing/2014/main" id="{4659B45E-792C-D7B4-623A-82BFD5231E01}"/>
              </a:ext>
            </a:extLst>
          </p:cNvPr>
          <p:cNvSpPr txBox="1"/>
          <p:nvPr/>
        </p:nvSpPr>
        <p:spPr>
          <a:xfrm>
            <a:off x="7789597" y="5134062"/>
            <a:ext cx="363446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地域連携先・実験場　うみらぼ株式会社様</a:t>
            </a:r>
          </a:p>
        </p:txBody>
      </p:sp>
      <p:sp>
        <p:nvSpPr>
          <p:cNvPr id="36" name="Freeform 32">
            <a:extLst>
              <a:ext uri="{FF2B5EF4-FFF2-40B4-BE49-F238E27FC236}">
                <a16:creationId xmlns:a16="http://schemas.microsoft.com/office/drawing/2014/main" id="{2CDA3A00-4278-582B-26D2-90B325C345A4}"/>
              </a:ext>
            </a:extLst>
          </p:cNvPr>
          <p:cNvSpPr/>
          <p:nvPr/>
        </p:nvSpPr>
        <p:spPr>
          <a:xfrm rot="1860000">
            <a:off x="5161067" y="4925150"/>
            <a:ext cx="452841" cy="206128"/>
          </a:xfrm>
          <a:custGeom>
            <a:avLst/>
            <a:gdLst/>
            <a:ahLst/>
            <a:cxnLst/>
            <a:rect l="l" t="t" r="r" b="b"/>
            <a:pathLst>
              <a:path w="1005330" h="623304">
                <a:moveTo>
                  <a:pt x="0" y="0"/>
                </a:moveTo>
                <a:lnTo>
                  <a:pt x="1005329" y="0"/>
                </a:lnTo>
                <a:lnTo>
                  <a:pt x="1005329" y="623304"/>
                </a:lnTo>
                <a:lnTo>
                  <a:pt x="0" y="6233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Tree>
    <p:extLst>
      <p:ext uri="{BB962C8B-B14F-4D97-AF65-F5344CB8AC3E}">
        <p14:creationId xmlns:p14="http://schemas.microsoft.com/office/powerpoint/2010/main" val="2499976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id="{CA8FEC43-B03C-EEDC-F2B8-959DEDC91B6F}"/>
            </a:ext>
          </a:extLst>
        </p:cNvPr>
        <p:cNvGrpSpPr/>
        <p:nvPr/>
      </p:nvGrpSpPr>
      <p:grpSpPr>
        <a:xfrm>
          <a:off x="0" y="0"/>
          <a:ext cx="0" cy="0"/>
          <a:chOff x="0" y="0"/>
          <a:chExt cx="0" cy="0"/>
        </a:xfrm>
      </p:grpSpPr>
      <p:sp>
        <p:nvSpPr>
          <p:cNvPr id="220" name="Google Shape;220;p10">
            <a:extLst>
              <a:ext uri="{FF2B5EF4-FFF2-40B4-BE49-F238E27FC236}">
                <a16:creationId xmlns:a16="http://schemas.microsoft.com/office/drawing/2014/main" id="{34D47426-6921-4DE0-1FB9-072DA72551FB}"/>
              </a:ext>
            </a:extLst>
          </p:cNvPr>
          <p:cNvSpPr txBox="1">
            <a:spLocks noGrp="1"/>
          </p:cNvSpPr>
          <p:nvPr>
            <p:ph type="title"/>
          </p:nvPr>
        </p:nvSpPr>
        <p:spPr>
          <a:xfrm>
            <a:off x="293382" y="50075"/>
            <a:ext cx="11654768" cy="47087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第２章　技術実証の具体的な内容（続き）</a:t>
            </a:r>
            <a:endParaRPr/>
          </a:p>
        </p:txBody>
      </p:sp>
      <p:sp>
        <p:nvSpPr>
          <p:cNvPr id="221" name="Google Shape;221;p10">
            <a:extLst>
              <a:ext uri="{FF2B5EF4-FFF2-40B4-BE49-F238E27FC236}">
                <a16:creationId xmlns:a16="http://schemas.microsoft.com/office/drawing/2014/main" id="{6A0625C1-A123-CE3C-A6C1-856F1E73933F}"/>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graphicFrame>
        <p:nvGraphicFramePr>
          <p:cNvPr id="2" name="表 1">
            <a:extLst>
              <a:ext uri="{FF2B5EF4-FFF2-40B4-BE49-F238E27FC236}">
                <a16:creationId xmlns:a16="http://schemas.microsoft.com/office/drawing/2014/main" id="{821C72AC-BB22-0822-5AD9-C98D155D49E2}"/>
              </a:ext>
            </a:extLst>
          </p:cNvPr>
          <p:cNvGraphicFramePr>
            <a:graphicFrameLocks noGrp="1"/>
          </p:cNvGraphicFramePr>
          <p:nvPr>
            <p:extLst>
              <p:ext uri="{D42A27DB-BD31-4B8C-83A1-F6EECF244321}">
                <p14:modId xmlns:p14="http://schemas.microsoft.com/office/powerpoint/2010/main" val="1004136665"/>
              </p:ext>
            </p:extLst>
          </p:nvPr>
        </p:nvGraphicFramePr>
        <p:xfrm>
          <a:off x="122289" y="416410"/>
          <a:ext cx="11996954" cy="6260500"/>
        </p:xfrm>
        <a:graphic>
          <a:graphicData uri="http://schemas.openxmlformats.org/drawingml/2006/table">
            <a:tbl>
              <a:tblPr firstRow="1" bandRow="1">
                <a:tableStyleId>{5FA7AA36-D1FC-4EAE-9539-4A473F75BAE8}</a:tableStyleId>
              </a:tblPr>
              <a:tblGrid>
                <a:gridCol w="1765795">
                  <a:extLst>
                    <a:ext uri="{9D8B030D-6E8A-4147-A177-3AD203B41FA5}">
                      <a16:colId xmlns:a16="http://schemas.microsoft.com/office/drawing/2014/main" val="3761627619"/>
                    </a:ext>
                  </a:extLst>
                </a:gridCol>
                <a:gridCol w="1004518">
                  <a:extLst>
                    <a:ext uri="{9D8B030D-6E8A-4147-A177-3AD203B41FA5}">
                      <a16:colId xmlns:a16="http://schemas.microsoft.com/office/drawing/2014/main" val="1677134709"/>
                    </a:ext>
                  </a:extLst>
                </a:gridCol>
                <a:gridCol w="1004518">
                  <a:extLst>
                    <a:ext uri="{9D8B030D-6E8A-4147-A177-3AD203B41FA5}">
                      <a16:colId xmlns:a16="http://schemas.microsoft.com/office/drawing/2014/main" val="1217061782"/>
                    </a:ext>
                  </a:extLst>
                </a:gridCol>
                <a:gridCol w="1004518">
                  <a:extLst>
                    <a:ext uri="{9D8B030D-6E8A-4147-A177-3AD203B41FA5}">
                      <a16:colId xmlns:a16="http://schemas.microsoft.com/office/drawing/2014/main" val="1371989007"/>
                    </a:ext>
                  </a:extLst>
                </a:gridCol>
                <a:gridCol w="1004518">
                  <a:extLst>
                    <a:ext uri="{9D8B030D-6E8A-4147-A177-3AD203B41FA5}">
                      <a16:colId xmlns:a16="http://schemas.microsoft.com/office/drawing/2014/main" val="2454648581"/>
                    </a:ext>
                  </a:extLst>
                </a:gridCol>
                <a:gridCol w="1004518">
                  <a:extLst>
                    <a:ext uri="{9D8B030D-6E8A-4147-A177-3AD203B41FA5}">
                      <a16:colId xmlns:a16="http://schemas.microsoft.com/office/drawing/2014/main" val="1369533751"/>
                    </a:ext>
                  </a:extLst>
                </a:gridCol>
                <a:gridCol w="1049130">
                  <a:extLst>
                    <a:ext uri="{9D8B030D-6E8A-4147-A177-3AD203B41FA5}">
                      <a16:colId xmlns:a16="http://schemas.microsoft.com/office/drawing/2014/main" val="1321967928"/>
                    </a:ext>
                  </a:extLst>
                </a:gridCol>
                <a:gridCol w="959909">
                  <a:extLst>
                    <a:ext uri="{9D8B030D-6E8A-4147-A177-3AD203B41FA5}">
                      <a16:colId xmlns:a16="http://schemas.microsoft.com/office/drawing/2014/main" val="4139470050"/>
                    </a:ext>
                  </a:extLst>
                </a:gridCol>
                <a:gridCol w="1004518">
                  <a:extLst>
                    <a:ext uri="{9D8B030D-6E8A-4147-A177-3AD203B41FA5}">
                      <a16:colId xmlns:a16="http://schemas.microsoft.com/office/drawing/2014/main" val="1246101113"/>
                    </a:ext>
                  </a:extLst>
                </a:gridCol>
                <a:gridCol w="1190494">
                  <a:extLst>
                    <a:ext uri="{9D8B030D-6E8A-4147-A177-3AD203B41FA5}">
                      <a16:colId xmlns:a16="http://schemas.microsoft.com/office/drawing/2014/main" val="1735008849"/>
                    </a:ext>
                  </a:extLst>
                </a:gridCol>
                <a:gridCol w="1004518">
                  <a:extLst>
                    <a:ext uri="{9D8B030D-6E8A-4147-A177-3AD203B41FA5}">
                      <a16:colId xmlns:a16="http://schemas.microsoft.com/office/drawing/2014/main" val="3846735057"/>
                    </a:ext>
                  </a:extLst>
                </a:gridCol>
              </a:tblGrid>
              <a:tr h="331910">
                <a:tc rowSpan="2">
                  <a:txBody>
                    <a:bodyPr/>
                    <a:lstStyle/>
                    <a:p>
                      <a:r>
                        <a:rPr kumimoji="1" lang="ja-JP" altLang="en-US">
                          <a:solidFill>
                            <a:schemeClr val="bg1"/>
                          </a:solidFill>
                        </a:rPr>
                        <a:t>項目</a:t>
                      </a:r>
                    </a:p>
                  </a:txBody>
                  <a:tcPr anchor="ct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gridSpan="7">
                  <a:txBody>
                    <a:bodyPr/>
                    <a:lstStyle/>
                    <a:p>
                      <a:r>
                        <a:rPr lang="en-US" altLang="ja-JP"/>
                        <a:t>2025</a:t>
                      </a:r>
                      <a:r>
                        <a:rPr lang="ja-JP" altLang="en-US"/>
                        <a:t>年</a:t>
                      </a:r>
                    </a:p>
                    <a:p>
                      <a:r>
                        <a:rPr lang="en-US" altLang="ja-JP"/>
                        <a:t>                       </a:t>
                      </a:r>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gridSpan="3">
                  <a:txBody>
                    <a:bodyPr/>
                    <a:lstStyle/>
                    <a:p>
                      <a:r>
                        <a:rPr kumimoji="1" lang="en-US" altLang="ja-JP"/>
                        <a:t>2026</a:t>
                      </a:r>
                      <a:r>
                        <a:rPr kumimoji="1" lang="ja-JP" altLang="en-US"/>
                        <a:t>年</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hMerge="1">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extLst>
                  <a:ext uri="{0D108BD9-81ED-4DB2-BD59-A6C34878D82A}">
                    <a16:rowId xmlns:a16="http://schemas.microsoft.com/office/drawing/2014/main" val="451349696"/>
                  </a:ext>
                </a:extLst>
              </a:tr>
              <a:tr h="298719">
                <a:tc vMerge="1">
                  <a:txBody>
                    <a:bodyPr/>
                    <a:lstStyle/>
                    <a:p>
                      <a:endParaRP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38100" cap="flat" cmpd="sng">
                      <a:noFill/>
                      <a:prstDash val="solid"/>
                      <a:round/>
                      <a:headEnd type="none" w="sm" len="sm"/>
                      <a:tailEnd type="none" w="sm" len="sm"/>
                    </a:lnT>
                    <a:lnB w="9525"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54C1DF"/>
                    </a:solidFill>
                  </a:tcPr>
                </a:tc>
                <a:tc>
                  <a:txBody>
                    <a:bodyPr/>
                    <a:lstStyle/>
                    <a:p>
                      <a:r>
                        <a:rPr kumimoji="1" lang="en-US" altLang="ja-JP">
                          <a:solidFill>
                            <a:schemeClr val="bg1"/>
                          </a:solidFill>
                        </a:rPr>
                        <a:t>6</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7</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8</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9</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10</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lang="en-US" altLang="ja-JP">
                          <a:solidFill>
                            <a:schemeClr val="bg1"/>
                          </a:solidFill>
                        </a:rPr>
                        <a:t>11</a:t>
                      </a:r>
                      <a:r>
                        <a:rPr lang="ja-JP" altLang="en-US">
                          <a:solidFill>
                            <a:schemeClr val="bg1"/>
                          </a:solidFill>
                        </a:rPr>
                        <a:t>月</a:t>
                      </a:r>
                      <a:endParaRPr kumimoji="1" lang="ja-JP"/>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12</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1</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2</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tc>
                  <a:txBody>
                    <a:bodyPr/>
                    <a:lstStyle/>
                    <a:p>
                      <a:r>
                        <a:rPr kumimoji="1" lang="en-US" altLang="ja-JP">
                          <a:solidFill>
                            <a:schemeClr val="bg1"/>
                          </a:solidFill>
                        </a:rPr>
                        <a:t>3</a:t>
                      </a:r>
                      <a:r>
                        <a:rPr kumimoji="1" lang="ja-JP" altLang="en-US">
                          <a:solidFill>
                            <a:schemeClr val="bg1"/>
                          </a:solidFill>
                        </a:rPr>
                        <a:t>月</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rgbClr val="54C1DF"/>
                    </a:solidFill>
                  </a:tcPr>
                </a:tc>
                <a:extLst>
                  <a:ext uri="{0D108BD9-81ED-4DB2-BD59-A6C34878D82A}">
                    <a16:rowId xmlns:a16="http://schemas.microsoft.com/office/drawing/2014/main" val="331135848"/>
                  </a:ext>
                </a:extLst>
              </a:tr>
              <a:tr h="7191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t>パルス渦電流センサの作成</a:t>
                      </a:r>
                    </a:p>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pPr algn="l"/>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4086925"/>
                  </a:ext>
                </a:extLst>
              </a:tr>
              <a:tr h="719140">
                <a:tc>
                  <a:txBody>
                    <a:bodyPr/>
                    <a:lstStyle/>
                    <a:p>
                      <a:r>
                        <a:rPr kumimoji="1" lang="ja-JP" altLang="en-US"/>
                        <a:t>各種システムの</a:t>
                      </a:r>
                      <a:endParaRPr kumimoji="1" lang="en-US" altLang="ja-JP"/>
                    </a:p>
                    <a:p>
                      <a:r>
                        <a:rPr kumimoji="1" lang="ja-JP" altLang="en-US"/>
                        <a:t>構築</a:t>
                      </a:r>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59641396"/>
                  </a:ext>
                </a:extLst>
              </a:tr>
              <a:tr h="7191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t>水槽でセンサ搭載ドローンの実験</a:t>
                      </a:r>
                    </a:p>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55452823"/>
                  </a:ext>
                </a:extLst>
              </a:tr>
              <a:tr h="7191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t>うみらぼ実機テスト</a:t>
                      </a:r>
                    </a:p>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3322548"/>
                  </a:ext>
                </a:extLst>
              </a:tr>
              <a:tr h="597440">
                <a:tc>
                  <a:txBody>
                    <a:bodyPr/>
                    <a:lstStyle/>
                    <a:p>
                      <a:r>
                        <a:rPr lang="ja-JP" altLang="en-US"/>
                        <a:t>水中ドローン操作確認＆補修</a:t>
                      </a:r>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45978803"/>
                  </a:ext>
                </a:extLst>
              </a:tr>
              <a:tr h="719140">
                <a:tc>
                  <a:txBody>
                    <a:bodyPr/>
                    <a:lstStyle/>
                    <a:p>
                      <a:r>
                        <a:rPr lang="ja-JP" altLang="en-US"/>
                        <a:t>画像モデル利用法学習＆3Dモデル試作</a:t>
                      </a:r>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tc>
                  <a:txBody>
                    <a:bodyPr/>
                    <a:lstStyle/>
                    <a:p>
                      <a:endParaRPr kumimoji="1" lang="ja-JP" altLang="en-US"/>
                    </a:p>
                  </a:txBody>
                  <a:tcPr>
                    <a:lnL w="9525" cap="flat" cmpd="sng" algn="ctr">
                      <a:solidFill>
                        <a:schemeClr val="accent5">
                          <a:lumMod val="50000"/>
                        </a:schemeClr>
                      </a:solidFill>
                      <a:prstDash val="solid"/>
                      <a:round/>
                      <a:headEnd type="none" w="med" len="med"/>
                      <a:tailEnd type="none" w="med" len="med"/>
                    </a:lnL>
                    <a:lnR w="9525" cap="flat" cmpd="sng" algn="ctr">
                      <a:solidFill>
                        <a:schemeClr val="accent5">
                          <a:lumMod val="50000"/>
                        </a:schemeClr>
                      </a:solidFill>
                      <a:prstDash val="solid"/>
                      <a:round/>
                      <a:headEnd type="none" w="med" len="med"/>
                      <a:tailEnd type="none" w="med" len="med"/>
                    </a:lnR>
                    <a:lnT w="9525" cap="flat" cmpd="sng" algn="ctr">
                      <a:solidFill>
                        <a:schemeClr val="accent5">
                          <a:lumMod val="50000"/>
                        </a:schemeClr>
                      </a:solidFill>
                      <a:prstDash val="solid"/>
                      <a:round/>
                      <a:headEnd type="none" w="med" len="med"/>
                      <a:tailEnd type="none" w="med" len="med"/>
                    </a:lnT>
                    <a:lnB w="9525"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56704482"/>
                  </a:ext>
                </a:extLst>
              </a:tr>
              <a:tr h="597440">
                <a:tc>
                  <a:txBody>
                    <a:bodyPr/>
                    <a:lstStyle/>
                    <a:p>
                      <a:pPr lvl="0">
                        <a:buNone/>
                      </a:pPr>
                      <a:r>
                        <a:rPr lang="ja-JP" altLang="en-US"/>
                        <a:t>通信システム動作確認</a:t>
                      </a: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5" cap="flat" cmpd="sng" algn="ctr">
                      <a:solidFill>
                        <a:schemeClr val="accent5">
                          <a:lumMod val="50000"/>
                        </a:schemeClr>
                      </a:solidFill>
                      <a:prstDash val="solid"/>
                      <a:round/>
                      <a:headEnd type="none" w="med" len="med"/>
                      <a:tailEnd type="none" w="med" len="med"/>
                    </a:lnT>
                    <a:lnB w="9524"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8785751"/>
                  </a:ext>
                </a:extLst>
              </a:tr>
              <a:tr h="597440">
                <a:tc>
                  <a:txBody>
                    <a:bodyPr/>
                    <a:lstStyle/>
                    <a:p>
                      <a:pPr lvl="0">
                        <a:buNone/>
                      </a:pPr>
                      <a:r>
                        <a:rPr lang="ja-JP" altLang="en-US"/>
                        <a:t>海底の３Dモデル作成</a:t>
                      </a: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4" cap="flat" cmpd="sng" algn="ctr">
                      <a:solidFill>
                        <a:schemeClr val="accent5">
                          <a:lumMod val="50000"/>
                        </a:schemeClr>
                      </a:solidFill>
                      <a:prstDash val="solid"/>
                      <a:round/>
                      <a:headEnd type="none" w="med" len="med"/>
                      <a:tailEnd type="none" w="med" len="med"/>
                    </a:lnT>
                    <a:lnB w="9524">
                      <a:solidFill>
                        <a:schemeClr val="accent5">
                          <a:lumMod val="50000"/>
                        </a:schemeClr>
                      </a:solidFill>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4" cap="flat" cmpd="sng" algn="ctr">
                      <a:solidFill>
                        <a:schemeClr val="accent5">
                          <a:lumMod val="50000"/>
                        </a:schemeClr>
                      </a:solidFill>
                      <a:prstDash val="solid"/>
                      <a:round/>
                      <a:headEnd type="none" w="med" len="med"/>
                      <a:tailEnd type="none" w="med" len="med"/>
                    </a:lnT>
                    <a:lnB w="9524">
                      <a:solidFill>
                        <a:schemeClr val="accent5">
                          <a:lumMod val="50000"/>
                        </a:schemeClr>
                      </a:solidFill>
                    </a:lnB>
                    <a:solidFill>
                      <a:schemeClr val="bg1"/>
                    </a:solidFill>
                  </a:tcPr>
                </a:tc>
                <a:tc>
                  <a:txBody>
                    <a:bodyPr/>
                    <a:lstStyle/>
                    <a:p>
                      <a:pPr lvl="0">
                        <a:buNone/>
                      </a:pPr>
                      <a:endParaRPr kumimoji="1" lang="ja-JP" altLang="en-US"/>
                    </a:p>
                  </a:txBody>
                  <a:tcPr>
                    <a:lnL w="9524">
                      <a:solidFill>
                        <a:schemeClr val="accent5">
                          <a:lumMod val="50000"/>
                        </a:schemeClr>
                      </a:solidFill>
                    </a:lnL>
                    <a:lnR w="9524">
                      <a:solidFill>
                        <a:schemeClr val="accent5">
                          <a:lumMod val="50000"/>
                        </a:schemeClr>
                      </a:solidFill>
                    </a:lnR>
                    <a:lnT w="9524">
                      <a:solidFill>
                        <a:schemeClr val="accent5">
                          <a:lumMod val="50000"/>
                        </a:schemeClr>
                      </a:solidFill>
                    </a:lnT>
                    <a:lnB w="9524">
                      <a:solidFill>
                        <a:schemeClr val="accent5">
                          <a:lumMod val="50000"/>
                        </a:schemeClr>
                      </a:solidFill>
                    </a:lnB>
                    <a:solidFill>
                      <a:schemeClr val="bg1"/>
                    </a:solidFill>
                  </a:tcPr>
                </a:tc>
                <a:tc>
                  <a:txBody>
                    <a:bodyPr/>
                    <a:lstStyle/>
                    <a:p>
                      <a:pPr lvl="0">
                        <a:buNone/>
                      </a:pPr>
                      <a:endParaRPr kumimoji="1" lang="ja-JP" altLang="en-US"/>
                    </a:p>
                  </a:txBody>
                  <a:tcPr>
                    <a:lnL w="9524" cap="flat" cmpd="sng" algn="ctr">
                      <a:solidFill>
                        <a:schemeClr val="accent5">
                          <a:lumMod val="50000"/>
                        </a:schemeClr>
                      </a:solidFill>
                      <a:prstDash val="solid"/>
                      <a:round/>
                      <a:headEnd type="none" w="med" len="med"/>
                      <a:tailEnd type="none" w="med" len="med"/>
                    </a:lnL>
                    <a:lnR w="9524">
                      <a:solidFill>
                        <a:schemeClr val="accent5">
                          <a:lumMod val="50000"/>
                        </a:schemeClr>
                      </a:solidFill>
                    </a:lnR>
                    <a:lnT w="9524" cap="flat" cmpd="sng" algn="ctr">
                      <a:solidFill>
                        <a:schemeClr val="accent5">
                          <a:lumMod val="50000"/>
                        </a:schemeClr>
                      </a:solidFill>
                      <a:prstDash val="solid"/>
                      <a:round/>
                      <a:headEnd type="none" w="med" len="med"/>
                      <a:tailEnd type="none" w="med" len="med"/>
                    </a:lnT>
                    <a:lnB w="9524">
                      <a:solidFill>
                        <a:schemeClr val="accent5">
                          <a:lumMod val="50000"/>
                        </a:schemeClr>
                      </a:solidFill>
                    </a:lnB>
                    <a:solidFill>
                      <a:schemeClr val="bg1"/>
                    </a:solidFill>
                  </a:tcPr>
                </a:tc>
                <a:extLst>
                  <a:ext uri="{0D108BD9-81ED-4DB2-BD59-A6C34878D82A}">
                    <a16:rowId xmlns:a16="http://schemas.microsoft.com/office/drawing/2014/main" val="3232935903"/>
                  </a:ext>
                </a:extLst>
              </a:tr>
            </a:tbl>
          </a:graphicData>
        </a:graphic>
      </p:graphicFrame>
      <p:cxnSp>
        <p:nvCxnSpPr>
          <p:cNvPr id="5" name="直線矢印コネクタ 4">
            <a:extLst>
              <a:ext uri="{FF2B5EF4-FFF2-40B4-BE49-F238E27FC236}">
                <a16:creationId xmlns:a16="http://schemas.microsoft.com/office/drawing/2014/main" id="{E4F3D908-F4C4-E4B8-4F25-C446D3C367DC}"/>
              </a:ext>
            </a:extLst>
          </p:cNvPr>
          <p:cNvCxnSpPr/>
          <p:nvPr/>
        </p:nvCxnSpPr>
        <p:spPr>
          <a:xfrm flipV="1">
            <a:off x="1910521" y="4426228"/>
            <a:ext cx="682487" cy="132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A0521248-9980-7FDE-A5A6-899160A4EC16}"/>
              </a:ext>
            </a:extLst>
          </p:cNvPr>
          <p:cNvCxnSpPr>
            <a:cxnSpLocks/>
          </p:cNvCxnSpPr>
          <p:nvPr/>
        </p:nvCxnSpPr>
        <p:spPr>
          <a:xfrm flipV="1">
            <a:off x="1910521" y="5099879"/>
            <a:ext cx="1610139" cy="22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DEAC9D8-C72C-58D4-CF2A-FA1648277F26}"/>
              </a:ext>
            </a:extLst>
          </p:cNvPr>
          <p:cNvCxnSpPr>
            <a:cxnSpLocks/>
          </p:cNvCxnSpPr>
          <p:nvPr/>
        </p:nvCxnSpPr>
        <p:spPr>
          <a:xfrm flipV="1">
            <a:off x="2915477" y="5784575"/>
            <a:ext cx="1709530" cy="22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 name="直線矢印コネクタ 2">
            <a:extLst>
              <a:ext uri="{FF2B5EF4-FFF2-40B4-BE49-F238E27FC236}">
                <a16:creationId xmlns:a16="http://schemas.microsoft.com/office/drawing/2014/main" id="{D55916C1-1DB4-2608-D450-F0AE6602475D}"/>
              </a:ext>
            </a:extLst>
          </p:cNvPr>
          <p:cNvCxnSpPr>
            <a:cxnSpLocks/>
          </p:cNvCxnSpPr>
          <p:nvPr/>
        </p:nvCxnSpPr>
        <p:spPr>
          <a:xfrm flipV="1">
            <a:off x="6495958" y="6353779"/>
            <a:ext cx="1709530" cy="22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96CA18A6-8B9E-8360-B412-01ED16AF4BE3}"/>
              </a:ext>
            </a:extLst>
          </p:cNvPr>
          <p:cNvCxnSpPr>
            <a:cxnSpLocks/>
          </p:cNvCxnSpPr>
          <p:nvPr/>
        </p:nvCxnSpPr>
        <p:spPr>
          <a:xfrm>
            <a:off x="1910520" y="1592646"/>
            <a:ext cx="98643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2FE2DAD2-379F-7A8E-084C-6C1C0E3A5B2B}"/>
              </a:ext>
            </a:extLst>
          </p:cNvPr>
          <p:cNvCxnSpPr>
            <a:cxnSpLocks/>
          </p:cNvCxnSpPr>
          <p:nvPr/>
        </p:nvCxnSpPr>
        <p:spPr>
          <a:xfrm>
            <a:off x="1910520" y="2265752"/>
            <a:ext cx="700488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E24EDB60-6D66-0552-D5D8-3FAE858A16EA}"/>
              </a:ext>
            </a:extLst>
          </p:cNvPr>
          <p:cNvCxnSpPr>
            <a:cxnSpLocks/>
          </p:cNvCxnSpPr>
          <p:nvPr/>
        </p:nvCxnSpPr>
        <p:spPr>
          <a:xfrm>
            <a:off x="4375150" y="3790766"/>
            <a:ext cx="257175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865AE031-C96E-4313-AB40-14FE46548BEB}"/>
              </a:ext>
            </a:extLst>
          </p:cNvPr>
          <p:cNvCxnSpPr>
            <a:cxnSpLocks/>
          </p:cNvCxnSpPr>
          <p:nvPr/>
        </p:nvCxnSpPr>
        <p:spPr>
          <a:xfrm flipV="1">
            <a:off x="2896958" y="3048729"/>
            <a:ext cx="1038620" cy="132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13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7C6A94DA-CD6B-619F-596A-9013E8FF8EF5}"/>
            </a:ext>
          </a:extLst>
        </p:cNvPr>
        <p:cNvGrpSpPr/>
        <p:nvPr/>
      </p:nvGrpSpPr>
      <p:grpSpPr>
        <a:xfrm>
          <a:off x="0" y="0"/>
          <a:ext cx="0" cy="0"/>
          <a:chOff x="0" y="0"/>
          <a:chExt cx="0" cy="0"/>
        </a:xfrm>
      </p:grpSpPr>
      <p:sp>
        <p:nvSpPr>
          <p:cNvPr id="229" name="Google Shape;229;p11">
            <a:extLst>
              <a:ext uri="{FF2B5EF4-FFF2-40B4-BE49-F238E27FC236}">
                <a16:creationId xmlns:a16="http://schemas.microsoft.com/office/drawing/2014/main" id="{ECFAF4F9-EDBC-1571-32E3-842B522C3A51}"/>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30" name="Google Shape;230;p11">
            <a:extLst>
              <a:ext uri="{FF2B5EF4-FFF2-40B4-BE49-F238E27FC236}">
                <a16:creationId xmlns:a16="http://schemas.microsoft.com/office/drawing/2014/main" id="{0ED1F08D-68CA-C188-1ABC-82872C0A2B62}"/>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第３章　必要予算</a:t>
            </a:r>
            <a:endParaRPr/>
          </a:p>
        </p:txBody>
      </p:sp>
      <p:graphicFrame>
        <p:nvGraphicFramePr>
          <p:cNvPr id="9" name="表 8">
            <a:extLst>
              <a:ext uri="{FF2B5EF4-FFF2-40B4-BE49-F238E27FC236}">
                <a16:creationId xmlns:a16="http://schemas.microsoft.com/office/drawing/2014/main" id="{794D4675-6F5C-0AFA-F7C2-4F7B64B4991A}"/>
              </a:ext>
            </a:extLst>
          </p:cNvPr>
          <p:cNvGraphicFramePr>
            <a:graphicFrameLocks noGrp="1"/>
          </p:cNvGraphicFramePr>
          <p:nvPr>
            <p:extLst>
              <p:ext uri="{D42A27DB-BD31-4B8C-83A1-F6EECF244321}">
                <p14:modId xmlns:p14="http://schemas.microsoft.com/office/powerpoint/2010/main" val="3626987406"/>
              </p:ext>
            </p:extLst>
          </p:nvPr>
        </p:nvGraphicFramePr>
        <p:xfrm>
          <a:off x="293382" y="3658705"/>
          <a:ext cx="4691312" cy="2222500"/>
        </p:xfrm>
        <a:graphic>
          <a:graphicData uri="http://schemas.openxmlformats.org/drawingml/2006/table">
            <a:tbl>
              <a:tblPr firstRow="1" bandRow="1">
                <a:tableStyleId>{5940675A-B579-460E-94D1-54222C63F5DA}</a:tableStyleId>
              </a:tblPr>
              <a:tblGrid>
                <a:gridCol w="591757">
                  <a:extLst>
                    <a:ext uri="{9D8B030D-6E8A-4147-A177-3AD203B41FA5}">
                      <a16:colId xmlns:a16="http://schemas.microsoft.com/office/drawing/2014/main" val="2883391783"/>
                    </a:ext>
                  </a:extLst>
                </a:gridCol>
                <a:gridCol w="2933906">
                  <a:extLst>
                    <a:ext uri="{9D8B030D-6E8A-4147-A177-3AD203B41FA5}">
                      <a16:colId xmlns:a16="http://schemas.microsoft.com/office/drawing/2014/main" val="1699675498"/>
                    </a:ext>
                  </a:extLst>
                </a:gridCol>
                <a:gridCol w="1165649">
                  <a:extLst>
                    <a:ext uri="{9D8B030D-6E8A-4147-A177-3AD203B41FA5}">
                      <a16:colId xmlns:a16="http://schemas.microsoft.com/office/drawing/2014/main" val="3966409673"/>
                    </a:ext>
                  </a:extLst>
                </a:gridCol>
              </a:tblGrid>
              <a:tr h="393700">
                <a:tc>
                  <a:txBody>
                    <a:bodyPr/>
                    <a:lstStyle/>
                    <a:p>
                      <a:r>
                        <a:rPr kumimoji="1" lang="en-US" altLang="ja-JP"/>
                        <a:t>No.</a:t>
                      </a:r>
                      <a:endParaRPr kumimoji="1" lang="ja-JP" altLang="en-US"/>
                    </a:p>
                  </a:txBody>
                  <a:tcPr>
                    <a:solidFill>
                      <a:srgbClr val="CCFFFF"/>
                    </a:solidFill>
                  </a:tcPr>
                </a:tc>
                <a:tc>
                  <a:txBody>
                    <a:bodyPr/>
                    <a:lstStyle/>
                    <a:p>
                      <a:pPr algn="ctr"/>
                      <a:r>
                        <a:rPr kumimoji="1" lang="ja-JP" altLang="en-US" b="1"/>
                        <a:t>項目</a:t>
                      </a:r>
                    </a:p>
                  </a:txBody>
                  <a:tcPr>
                    <a:solidFill>
                      <a:srgbClr val="CCFFFF"/>
                    </a:solidFill>
                  </a:tcPr>
                </a:tc>
                <a:tc>
                  <a:txBody>
                    <a:bodyPr/>
                    <a:lstStyle/>
                    <a:p>
                      <a:r>
                        <a:rPr kumimoji="1" lang="ja-JP" altLang="en-US" b="1"/>
                        <a:t>費用</a:t>
                      </a:r>
                      <a:r>
                        <a:rPr kumimoji="1" lang="en-US" altLang="ja-JP" b="1"/>
                        <a:t>(</a:t>
                      </a:r>
                      <a:r>
                        <a:rPr kumimoji="1" lang="ja-JP" altLang="en-US" b="1"/>
                        <a:t>千円</a:t>
                      </a:r>
                      <a:r>
                        <a:rPr kumimoji="1" lang="en-US" altLang="ja-JP" b="1"/>
                        <a:t>)</a:t>
                      </a:r>
                      <a:endParaRPr kumimoji="1" lang="ja-JP" altLang="en-US" b="1"/>
                    </a:p>
                  </a:txBody>
                  <a:tcPr>
                    <a:solidFill>
                      <a:srgbClr val="CCFFFF"/>
                    </a:solidFill>
                  </a:tcPr>
                </a:tc>
                <a:extLst>
                  <a:ext uri="{0D108BD9-81ED-4DB2-BD59-A6C34878D82A}">
                    <a16:rowId xmlns:a16="http://schemas.microsoft.com/office/drawing/2014/main" val="1832861245"/>
                  </a:ext>
                </a:extLst>
              </a:tr>
              <a:tr h="302879">
                <a:tc>
                  <a:txBody>
                    <a:bodyPr/>
                    <a:lstStyle/>
                    <a:p>
                      <a:pPr algn="ctr"/>
                      <a:r>
                        <a:rPr kumimoji="1" lang="en-US" altLang="ja-JP"/>
                        <a:t>1</a:t>
                      </a:r>
                      <a:endParaRPr kumimoji="1" lang="ja-JP" altLang="en-US"/>
                    </a:p>
                  </a:txBody>
                  <a:tcPr/>
                </a:tc>
                <a:tc>
                  <a:txBody>
                    <a:bodyPr/>
                    <a:lstStyle/>
                    <a:p>
                      <a:pPr algn="ctr"/>
                      <a:r>
                        <a:rPr kumimoji="1" lang="ja-JP" altLang="en-US"/>
                        <a:t>ハード関連</a:t>
                      </a:r>
                    </a:p>
                  </a:txBody>
                  <a:tcPr/>
                </a:tc>
                <a:tc>
                  <a:txBody>
                    <a:bodyPr/>
                    <a:lstStyle/>
                    <a:p>
                      <a:pPr algn="r"/>
                      <a:r>
                        <a:rPr kumimoji="1" lang="en-US" altLang="ja-JP"/>
                        <a:t>\250</a:t>
                      </a:r>
                      <a:endParaRPr kumimoji="1" lang="ja-JP" altLang="en-US"/>
                    </a:p>
                  </a:txBody>
                  <a:tcPr/>
                </a:tc>
                <a:extLst>
                  <a:ext uri="{0D108BD9-81ED-4DB2-BD59-A6C34878D82A}">
                    <a16:rowId xmlns:a16="http://schemas.microsoft.com/office/drawing/2014/main" val="3685232278"/>
                  </a:ext>
                </a:extLst>
              </a:tr>
              <a:tr h="302879">
                <a:tc>
                  <a:txBody>
                    <a:bodyPr/>
                    <a:lstStyle/>
                    <a:p>
                      <a:pPr algn="ctr"/>
                      <a:r>
                        <a:rPr kumimoji="1" lang="en-US" altLang="ja-JP"/>
                        <a:t>2</a:t>
                      </a:r>
                      <a:endParaRPr kumimoji="1" lang="ja-JP" altLang="en-US"/>
                    </a:p>
                  </a:txBody>
                  <a:tcPr/>
                </a:tc>
                <a:tc>
                  <a:txBody>
                    <a:bodyPr/>
                    <a:lstStyle/>
                    <a:p>
                      <a:pPr algn="ctr"/>
                      <a:r>
                        <a:rPr kumimoji="1" lang="ja-JP" altLang="en-US"/>
                        <a:t>ソフト関連</a:t>
                      </a:r>
                    </a:p>
                  </a:txBody>
                  <a:tcPr/>
                </a:tc>
                <a:tc>
                  <a:txBody>
                    <a:bodyPr/>
                    <a:lstStyle/>
                    <a:p>
                      <a:pPr algn="r"/>
                      <a:r>
                        <a:rPr kumimoji="1" lang="en-US" altLang="ja-JP"/>
                        <a:t>\240</a:t>
                      </a:r>
                      <a:endParaRPr kumimoji="1" lang="ja-JP" altLang="en-US"/>
                    </a:p>
                  </a:txBody>
                  <a:tcPr/>
                </a:tc>
                <a:extLst>
                  <a:ext uri="{0D108BD9-81ED-4DB2-BD59-A6C34878D82A}">
                    <a16:rowId xmlns:a16="http://schemas.microsoft.com/office/drawing/2014/main" val="2951966981"/>
                  </a:ext>
                </a:extLst>
              </a:tr>
              <a:tr h="151475">
                <a:tc>
                  <a:txBody>
                    <a:bodyPr/>
                    <a:lstStyle/>
                    <a:p>
                      <a:pPr algn="ctr"/>
                      <a:r>
                        <a:rPr kumimoji="1" lang="en-US" altLang="ja-JP"/>
                        <a:t>3</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t>事前実験経費</a:t>
                      </a:r>
                      <a:r>
                        <a:rPr kumimoji="1" lang="en-US" altLang="ja-JP"/>
                        <a:t>(</a:t>
                      </a:r>
                      <a:r>
                        <a:rPr kumimoji="1" lang="ja-JP" altLang="en-US"/>
                        <a:t>鈴鹿→佐世保</a:t>
                      </a:r>
                      <a:r>
                        <a:rPr kumimoji="1" lang="en-US" altLang="ja-JP"/>
                        <a:t>)</a:t>
                      </a:r>
                      <a:endParaRPr kumimoji="1" lang="ja-JP" altLang="en-US"/>
                    </a:p>
                  </a:txBody>
                  <a:tcPr/>
                </a:tc>
                <a:tc>
                  <a:txBody>
                    <a:bodyPr/>
                    <a:lstStyle/>
                    <a:p>
                      <a:pPr algn="r"/>
                      <a:r>
                        <a:rPr kumimoji="1" lang="en-US" altLang="ja-JP"/>
                        <a:t>\150</a:t>
                      </a:r>
                      <a:endParaRPr kumimoji="1" lang="ja-JP" altLang="en-US"/>
                    </a:p>
                  </a:txBody>
                  <a:tcPr/>
                </a:tc>
                <a:extLst>
                  <a:ext uri="{0D108BD9-81ED-4DB2-BD59-A6C34878D82A}">
                    <a16:rowId xmlns:a16="http://schemas.microsoft.com/office/drawing/2014/main" val="1113791736"/>
                  </a:ext>
                </a:extLst>
              </a:tr>
              <a:tr h="302879">
                <a:tc>
                  <a:txBody>
                    <a:bodyPr/>
                    <a:lstStyle/>
                    <a:p>
                      <a:pPr algn="ctr"/>
                      <a:r>
                        <a:rPr kumimoji="1" lang="en-US" altLang="ja-JP"/>
                        <a:t>4</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a:t>実証実験経費</a:t>
                      </a:r>
                      <a:r>
                        <a:rPr kumimoji="1" lang="en-US" altLang="ja-JP"/>
                        <a:t>(</a:t>
                      </a:r>
                      <a:r>
                        <a:rPr kumimoji="1" lang="ja-JP" altLang="en-US"/>
                        <a:t>佐世保→鈴鹿</a:t>
                      </a:r>
                      <a:r>
                        <a:rPr kumimoji="1" lang="en-US" altLang="ja-JP"/>
                        <a:t>)</a:t>
                      </a:r>
                      <a:endParaRPr kumimoji="1" lang="ja-JP" altLang="en-US"/>
                    </a:p>
                  </a:txBody>
                  <a:tcPr/>
                </a:tc>
                <a:tc>
                  <a:txBody>
                    <a:bodyPr/>
                    <a:lstStyle/>
                    <a:p>
                      <a:pPr algn="r"/>
                      <a:r>
                        <a:rPr kumimoji="1" lang="en-US" altLang="ja-JP"/>
                        <a:t>\200</a:t>
                      </a:r>
                      <a:endParaRPr kumimoji="1" lang="ja-JP" altLang="en-US"/>
                    </a:p>
                  </a:txBody>
                  <a:tcPr/>
                </a:tc>
                <a:extLst>
                  <a:ext uri="{0D108BD9-81ED-4DB2-BD59-A6C34878D82A}">
                    <a16:rowId xmlns:a16="http://schemas.microsoft.com/office/drawing/2014/main" val="1629635711"/>
                  </a:ext>
                </a:extLst>
              </a:tr>
              <a:tr h="302879">
                <a:tc>
                  <a:txBody>
                    <a:bodyPr/>
                    <a:lstStyle/>
                    <a:p>
                      <a:pPr algn="ctr"/>
                      <a:r>
                        <a:rPr kumimoji="1" lang="en-US" altLang="ja-JP"/>
                        <a:t>5</a:t>
                      </a:r>
                      <a:endParaRPr kumimoji="1" lang="ja-JP" altLang="en-US"/>
                    </a:p>
                  </a:txBody>
                  <a:tcPr/>
                </a:tc>
                <a:tc>
                  <a:txBody>
                    <a:bodyPr/>
                    <a:lstStyle/>
                    <a:p>
                      <a:pPr algn="ctr"/>
                      <a:r>
                        <a:rPr kumimoji="1" lang="ja-JP" altLang="en-US"/>
                        <a:t>実験場レンタル料</a:t>
                      </a:r>
                    </a:p>
                  </a:txBody>
                  <a:tcPr/>
                </a:tc>
                <a:tc>
                  <a:txBody>
                    <a:bodyPr/>
                    <a:lstStyle/>
                    <a:p>
                      <a:pPr algn="r"/>
                      <a:r>
                        <a:rPr kumimoji="1" lang="en-US" altLang="ja-JP"/>
                        <a:t>\160</a:t>
                      </a:r>
                      <a:endParaRPr kumimoji="1" lang="ja-JP" altLang="en-US"/>
                    </a:p>
                  </a:txBody>
                  <a:tcPr/>
                </a:tc>
                <a:extLst>
                  <a:ext uri="{0D108BD9-81ED-4DB2-BD59-A6C34878D82A}">
                    <a16:rowId xmlns:a16="http://schemas.microsoft.com/office/drawing/2014/main" val="1898863948"/>
                  </a:ext>
                </a:extLst>
              </a:tr>
              <a:tr h="302879">
                <a:tc>
                  <a:txBody>
                    <a:bodyPr/>
                    <a:lstStyle/>
                    <a:p>
                      <a:pPr algn="ctr"/>
                      <a:r>
                        <a:rPr kumimoji="1" lang="en-US" altLang="ja-JP"/>
                        <a:t>6</a:t>
                      </a:r>
                      <a:endParaRPr kumimoji="1" lang="ja-JP" altLang="en-US"/>
                    </a:p>
                  </a:txBody>
                  <a:tcPr>
                    <a:solidFill>
                      <a:srgbClr val="CCFFCC"/>
                    </a:solidFill>
                  </a:tcPr>
                </a:tc>
                <a:tc>
                  <a:txBody>
                    <a:bodyPr/>
                    <a:lstStyle/>
                    <a:p>
                      <a:pPr algn="ctr"/>
                      <a:r>
                        <a:rPr kumimoji="1" lang="ja-JP" altLang="en-US" b="1"/>
                        <a:t>総計</a:t>
                      </a:r>
                    </a:p>
                  </a:txBody>
                  <a:tcPr>
                    <a:solidFill>
                      <a:srgbClr val="CCFFCC"/>
                    </a:solidFill>
                  </a:tcPr>
                </a:tc>
                <a:tc>
                  <a:txBody>
                    <a:bodyPr/>
                    <a:lstStyle/>
                    <a:p>
                      <a:pPr algn="r"/>
                      <a:r>
                        <a:rPr kumimoji="1" lang="en-US" altLang="ja-JP"/>
                        <a:t>\1000</a:t>
                      </a:r>
                      <a:endParaRPr kumimoji="1" lang="ja-JP" altLang="en-US"/>
                    </a:p>
                  </a:txBody>
                  <a:tcPr>
                    <a:solidFill>
                      <a:srgbClr val="CCFFCC"/>
                    </a:solidFill>
                  </a:tcPr>
                </a:tc>
                <a:extLst>
                  <a:ext uri="{0D108BD9-81ED-4DB2-BD59-A6C34878D82A}">
                    <a16:rowId xmlns:a16="http://schemas.microsoft.com/office/drawing/2014/main" val="1313094130"/>
                  </a:ext>
                </a:extLst>
              </a:tr>
            </a:tbl>
          </a:graphicData>
        </a:graphic>
      </p:graphicFrame>
      <p:sp>
        <p:nvSpPr>
          <p:cNvPr id="10" name="テキスト ボックス 9">
            <a:extLst>
              <a:ext uri="{FF2B5EF4-FFF2-40B4-BE49-F238E27FC236}">
                <a16:creationId xmlns:a16="http://schemas.microsoft.com/office/drawing/2014/main" id="{F09F213A-6407-76F3-E021-98E6752C726A}"/>
              </a:ext>
            </a:extLst>
          </p:cNvPr>
          <p:cNvSpPr txBox="1"/>
          <p:nvPr/>
        </p:nvSpPr>
        <p:spPr>
          <a:xfrm>
            <a:off x="527491" y="669005"/>
            <a:ext cx="1073081" cy="307777"/>
          </a:xfrm>
          <a:prstGeom prst="rect">
            <a:avLst/>
          </a:prstGeom>
          <a:noFill/>
          <a:ln w="38100">
            <a:solidFill>
              <a:schemeClr val="tx1"/>
            </a:solidFill>
          </a:ln>
        </p:spPr>
        <p:txBody>
          <a:bodyPr wrap="square" rtlCol="0">
            <a:spAutoFit/>
          </a:bodyPr>
          <a:lstStyle/>
          <a:p>
            <a:r>
              <a:rPr kumimoji="1" lang="ja-JP" altLang="en-US"/>
              <a:t>ハード関連</a:t>
            </a:r>
          </a:p>
        </p:txBody>
      </p:sp>
      <p:pic>
        <p:nvPicPr>
          <p:cNvPr id="13" name="Picture 2" descr="Amazon | ラズベリーパイ4 コンピューターモデルB 4GB Raspberry Pi 4 Computer Model B  (Raspberry Pi 4 4GB) | seeed studio | ベアボーンPC 通販">
            <a:extLst>
              <a:ext uri="{FF2B5EF4-FFF2-40B4-BE49-F238E27FC236}">
                <a16:creationId xmlns:a16="http://schemas.microsoft.com/office/drawing/2014/main" id="{D7C40DC1-A4D2-2E35-F230-AB0622A22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099" y="1487884"/>
            <a:ext cx="1177101" cy="7710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ラズベリーパイ用4G（LTE）通信モジュール「4GPi」">
            <a:extLst>
              <a:ext uri="{FF2B5EF4-FFF2-40B4-BE49-F238E27FC236}">
                <a16:creationId xmlns:a16="http://schemas.microsoft.com/office/drawing/2014/main" id="{D30AB7AE-5D75-4214-0AF8-E5071AF10F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548" t="21806" r="10789" b="16156"/>
          <a:stretch/>
        </p:blipFill>
        <p:spPr bwMode="auto">
          <a:xfrm>
            <a:off x="2608921" y="1487884"/>
            <a:ext cx="1177101" cy="82513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Raspberry Pi用GPSモジュール">
            <a:extLst>
              <a:ext uri="{FF2B5EF4-FFF2-40B4-BE49-F238E27FC236}">
                <a16:creationId xmlns:a16="http://schemas.microsoft.com/office/drawing/2014/main" id="{1A83BE16-4CD2-3F85-C30D-9545105F8B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6737" y="1452352"/>
            <a:ext cx="1066907" cy="896202"/>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DEB5A69A-9D7F-DF19-1D6D-FB32E0745B53}"/>
              </a:ext>
            </a:extLst>
          </p:cNvPr>
          <p:cNvSpPr txBox="1"/>
          <p:nvPr/>
        </p:nvSpPr>
        <p:spPr>
          <a:xfrm>
            <a:off x="532812" y="1180107"/>
            <a:ext cx="213552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Raspberry Pi 4 Model B</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17" name="テキスト ボックス 16">
            <a:extLst>
              <a:ext uri="{FF2B5EF4-FFF2-40B4-BE49-F238E27FC236}">
                <a16:creationId xmlns:a16="http://schemas.microsoft.com/office/drawing/2014/main" id="{BB89C0B5-658D-3F05-27A6-79F5B91047C3}"/>
              </a:ext>
            </a:extLst>
          </p:cNvPr>
          <p:cNvSpPr txBox="1"/>
          <p:nvPr/>
        </p:nvSpPr>
        <p:spPr>
          <a:xfrm>
            <a:off x="3928738" y="1144575"/>
            <a:ext cx="144290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GPS</a:t>
            </a:r>
            <a:r>
              <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モジュール</a:t>
            </a:r>
          </a:p>
        </p:txBody>
      </p:sp>
      <p:sp>
        <p:nvSpPr>
          <p:cNvPr id="20" name="テキスト ボックス 19">
            <a:extLst>
              <a:ext uri="{FF2B5EF4-FFF2-40B4-BE49-F238E27FC236}">
                <a16:creationId xmlns:a16="http://schemas.microsoft.com/office/drawing/2014/main" id="{03F7D6F5-693C-9882-8256-1C0FBB3A96A8}"/>
              </a:ext>
            </a:extLst>
          </p:cNvPr>
          <p:cNvSpPr txBox="1"/>
          <p:nvPr/>
        </p:nvSpPr>
        <p:spPr>
          <a:xfrm>
            <a:off x="2856332" y="1180107"/>
            <a:ext cx="75940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4GPi</a:t>
            </a:r>
            <a:endParaRPr kumimoji="1"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22" name="四角形: 角を丸くする 21">
            <a:extLst>
              <a:ext uri="{FF2B5EF4-FFF2-40B4-BE49-F238E27FC236}">
                <a16:creationId xmlns:a16="http://schemas.microsoft.com/office/drawing/2014/main" id="{9B083698-C978-7DAD-BAE9-7B733F1702C6}"/>
              </a:ext>
            </a:extLst>
          </p:cNvPr>
          <p:cNvSpPr/>
          <p:nvPr/>
        </p:nvSpPr>
        <p:spPr>
          <a:xfrm>
            <a:off x="212141" y="465680"/>
            <a:ext cx="5457139" cy="301635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7BF6595C-B65F-B8D9-FC3F-D87FB013DE0B}"/>
              </a:ext>
            </a:extLst>
          </p:cNvPr>
          <p:cNvSpPr txBox="1"/>
          <p:nvPr/>
        </p:nvSpPr>
        <p:spPr>
          <a:xfrm>
            <a:off x="527491" y="2635918"/>
            <a:ext cx="2946131" cy="646331"/>
          </a:xfrm>
          <a:prstGeom prst="rect">
            <a:avLst/>
          </a:prstGeom>
          <a:noFill/>
          <a:ln w="38100">
            <a:noFill/>
          </a:ln>
        </p:spPr>
        <p:txBody>
          <a:bodyPr wrap="square" rtlCol="0">
            <a:spAutoFit/>
          </a:bodyPr>
          <a:lstStyle/>
          <a:p>
            <a:r>
              <a:rPr kumimoji="1" lang="ja-JP" altLang="en-US" sz="1800"/>
              <a:t>・通信用ラズベリーパイ</a:t>
            </a:r>
            <a:endParaRPr kumimoji="1" lang="en-US" altLang="ja-JP" sz="1800"/>
          </a:p>
          <a:p>
            <a:r>
              <a:rPr kumimoji="1" lang="ja-JP" altLang="en-US" sz="1800"/>
              <a:t>・水中ドローン補修部品代</a:t>
            </a:r>
          </a:p>
        </p:txBody>
      </p:sp>
      <p:sp>
        <p:nvSpPr>
          <p:cNvPr id="24" name="正方形/長方形 23">
            <a:extLst>
              <a:ext uri="{FF2B5EF4-FFF2-40B4-BE49-F238E27FC236}">
                <a16:creationId xmlns:a16="http://schemas.microsoft.com/office/drawing/2014/main" id="{D7797E8B-0743-BC9E-D7E1-2F8FEAC40DD3}"/>
              </a:ext>
            </a:extLst>
          </p:cNvPr>
          <p:cNvSpPr/>
          <p:nvPr/>
        </p:nvSpPr>
        <p:spPr>
          <a:xfrm>
            <a:off x="221364" y="3981641"/>
            <a:ext cx="4835347" cy="33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コネクタ: カギ線 25">
            <a:extLst>
              <a:ext uri="{FF2B5EF4-FFF2-40B4-BE49-F238E27FC236}">
                <a16:creationId xmlns:a16="http://schemas.microsoft.com/office/drawing/2014/main" id="{11D2A75E-B193-7682-0F1F-C90EB52FD16E}"/>
              </a:ext>
            </a:extLst>
          </p:cNvPr>
          <p:cNvCxnSpPr>
            <a:stCxn id="24" idx="3"/>
            <a:endCxn id="22" idx="3"/>
          </p:cNvCxnSpPr>
          <p:nvPr/>
        </p:nvCxnSpPr>
        <p:spPr>
          <a:xfrm flipV="1">
            <a:off x="5056711" y="1973858"/>
            <a:ext cx="612569" cy="2176033"/>
          </a:xfrm>
          <a:prstGeom prst="bentConnector3">
            <a:avLst>
              <a:gd name="adj1" fmla="val 137318"/>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6CF892F9-2A27-372F-8AEB-17D14CCAF01A}"/>
              </a:ext>
            </a:extLst>
          </p:cNvPr>
          <p:cNvSpPr txBox="1"/>
          <p:nvPr/>
        </p:nvSpPr>
        <p:spPr>
          <a:xfrm>
            <a:off x="6709522" y="1065880"/>
            <a:ext cx="1073081" cy="307777"/>
          </a:xfrm>
          <a:prstGeom prst="rect">
            <a:avLst/>
          </a:prstGeom>
          <a:noFill/>
          <a:ln w="38100">
            <a:solidFill>
              <a:schemeClr val="tx1"/>
            </a:solidFill>
          </a:ln>
        </p:spPr>
        <p:txBody>
          <a:bodyPr wrap="square" rtlCol="0">
            <a:spAutoFit/>
          </a:bodyPr>
          <a:lstStyle/>
          <a:p>
            <a:r>
              <a:rPr kumimoji="1" lang="ja-JP" altLang="en-US"/>
              <a:t>ソフト関連</a:t>
            </a:r>
          </a:p>
        </p:txBody>
      </p:sp>
      <p:sp>
        <p:nvSpPr>
          <p:cNvPr id="28" name="四角形: 角を丸くする 27">
            <a:extLst>
              <a:ext uri="{FF2B5EF4-FFF2-40B4-BE49-F238E27FC236}">
                <a16:creationId xmlns:a16="http://schemas.microsoft.com/office/drawing/2014/main" id="{13CC7CEB-47C4-682B-41A2-AA829631EB88}"/>
              </a:ext>
            </a:extLst>
          </p:cNvPr>
          <p:cNvSpPr/>
          <p:nvPr/>
        </p:nvSpPr>
        <p:spPr>
          <a:xfrm>
            <a:off x="6388588" y="804844"/>
            <a:ext cx="5457139" cy="3016355"/>
          </a:xfrm>
          <a:prstGeom prst="round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50BFA33E-057B-0BE4-5308-E940AE956F89}"/>
              </a:ext>
            </a:extLst>
          </p:cNvPr>
          <p:cNvSpPr/>
          <p:nvPr/>
        </p:nvSpPr>
        <p:spPr>
          <a:xfrm>
            <a:off x="7212787" y="1634693"/>
            <a:ext cx="1155802" cy="1111911"/>
          </a:xfrm>
          <a:prstGeom prst="rect">
            <a:avLst/>
          </a:prstGeom>
          <a:noFill/>
          <a:ln w="539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a:solidFill>
                  <a:schemeClr val="tx1"/>
                </a:solidFill>
                <a:latin typeface="Lucida Calligraphy" panose="03010101010101010101" pitchFamily="66" charset="0"/>
              </a:rPr>
              <a:t>5G</a:t>
            </a:r>
            <a:endParaRPr kumimoji="1" lang="ja-JP" altLang="en-US" sz="3600">
              <a:solidFill>
                <a:schemeClr val="tx1"/>
              </a:solidFill>
              <a:latin typeface="Lucida Calligraphy" panose="03010101010101010101" pitchFamily="66" charset="0"/>
            </a:endParaRPr>
          </a:p>
        </p:txBody>
      </p:sp>
      <p:pic>
        <p:nvPicPr>
          <p:cNvPr id="30" name="Picture 8" descr="アマゾン ウェブ サービス(AWS)が人道的支援のために技術リソースを提供 - About Amazon | Japan">
            <a:extLst>
              <a:ext uri="{FF2B5EF4-FFF2-40B4-BE49-F238E27FC236}">
                <a16:creationId xmlns:a16="http://schemas.microsoft.com/office/drawing/2014/main" id="{EC80BA17-82B9-45D4-62C0-C10B4F0B6C2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387" t="6145" r="7282" b="8002"/>
          <a:stretch/>
        </p:blipFill>
        <p:spPr bwMode="auto">
          <a:xfrm>
            <a:off x="9276237" y="1436693"/>
            <a:ext cx="1823579" cy="1390580"/>
          </a:xfrm>
          <a:prstGeom prst="ellipse">
            <a:avLst/>
          </a:prstGeom>
          <a:noFill/>
          <a:extLst>
            <a:ext uri="{909E8E84-426E-40DD-AFC4-6F175D3DCCD1}">
              <a14:hiddenFill xmlns:a14="http://schemas.microsoft.com/office/drawing/2010/main">
                <a:solidFill>
                  <a:srgbClr val="FFFFFF"/>
                </a:solidFill>
              </a14:hiddenFill>
            </a:ext>
          </a:extLst>
        </p:spPr>
      </p:pic>
      <p:sp>
        <p:nvSpPr>
          <p:cNvPr id="31" name="テキスト ボックス 30">
            <a:extLst>
              <a:ext uri="{FF2B5EF4-FFF2-40B4-BE49-F238E27FC236}">
                <a16:creationId xmlns:a16="http://schemas.microsoft.com/office/drawing/2014/main" id="{4E4F79B1-A9F9-3F04-FA36-1F0149E09002}"/>
              </a:ext>
            </a:extLst>
          </p:cNvPr>
          <p:cNvSpPr txBox="1"/>
          <p:nvPr/>
        </p:nvSpPr>
        <p:spPr>
          <a:xfrm>
            <a:off x="6293238" y="3041405"/>
            <a:ext cx="5898762" cy="646331"/>
          </a:xfrm>
          <a:prstGeom prst="rect">
            <a:avLst/>
          </a:prstGeom>
          <a:noFill/>
          <a:ln w="38100">
            <a:noFill/>
          </a:ln>
        </p:spPr>
        <p:txBody>
          <a:bodyPr wrap="square" rtlCol="0">
            <a:spAutoFit/>
          </a:bodyPr>
          <a:lstStyle/>
          <a:p>
            <a:r>
              <a:rPr kumimoji="1" lang="ja-JP" altLang="en-US" sz="1800"/>
              <a:t>・</a:t>
            </a:r>
            <a:r>
              <a:rPr lang="ja-JP" altLang="en-US" sz="1800"/>
              <a:t>5Gモデム使用料（３ヶ月レンタル料＆技術支援料）</a:t>
            </a:r>
            <a:endParaRPr kumimoji="1" lang="ja-JP" altLang="en-US" sz="1800"/>
          </a:p>
          <a:p>
            <a:r>
              <a:rPr kumimoji="1" lang="ja-JP" altLang="en-US" sz="1800"/>
              <a:t>・</a:t>
            </a:r>
            <a:r>
              <a:rPr kumimoji="1" lang="en-US" altLang="ja-JP" sz="1800"/>
              <a:t>AWS</a:t>
            </a:r>
            <a:r>
              <a:rPr kumimoji="1" lang="ja-JP" altLang="en-US" sz="1800"/>
              <a:t>利用料</a:t>
            </a:r>
          </a:p>
        </p:txBody>
      </p:sp>
      <p:sp>
        <p:nvSpPr>
          <p:cNvPr id="32" name="正方形/長方形 31">
            <a:extLst>
              <a:ext uri="{FF2B5EF4-FFF2-40B4-BE49-F238E27FC236}">
                <a16:creationId xmlns:a16="http://schemas.microsoft.com/office/drawing/2014/main" id="{3BD016CF-B80C-B146-99C3-AF409BCAA2F2}"/>
              </a:ext>
            </a:extLst>
          </p:cNvPr>
          <p:cNvSpPr/>
          <p:nvPr/>
        </p:nvSpPr>
        <p:spPr>
          <a:xfrm>
            <a:off x="191247" y="4343608"/>
            <a:ext cx="4835347" cy="3365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コネクタ: カギ線 32">
            <a:extLst>
              <a:ext uri="{FF2B5EF4-FFF2-40B4-BE49-F238E27FC236}">
                <a16:creationId xmlns:a16="http://schemas.microsoft.com/office/drawing/2014/main" id="{F52643B3-31F7-66A9-FA56-3F4B09C89FF1}"/>
              </a:ext>
            </a:extLst>
          </p:cNvPr>
          <p:cNvCxnSpPr>
            <a:cxnSpLocks/>
            <a:stCxn id="32" idx="3"/>
            <a:endCxn id="28" idx="1"/>
          </p:cNvCxnSpPr>
          <p:nvPr/>
        </p:nvCxnSpPr>
        <p:spPr>
          <a:xfrm flipV="1">
            <a:off x="5026594" y="2313022"/>
            <a:ext cx="1361994" cy="2198836"/>
          </a:xfrm>
          <a:prstGeom prst="bentConnector3">
            <a:avLst>
              <a:gd name="adj1" fmla="val 75781"/>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9F0D8D76-215B-9E7D-25F4-E1F307BD5C1A}"/>
              </a:ext>
            </a:extLst>
          </p:cNvPr>
          <p:cNvSpPr txBox="1"/>
          <p:nvPr/>
        </p:nvSpPr>
        <p:spPr>
          <a:xfrm>
            <a:off x="6717607" y="4139865"/>
            <a:ext cx="817049" cy="307777"/>
          </a:xfrm>
          <a:prstGeom prst="rect">
            <a:avLst/>
          </a:prstGeom>
          <a:noFill/>
          <a:ln w="38100">
            <a:solidFill>
              <a:schemeClr val="tx1"/>
            </a:solidFill>
          </a:ln>
        </p:spPr>
        <p:txBody>
          <a:bodyPr wrap="square" rtlCol="0">
            <a:spAutoFit/>
          </a:bodyPr>
          <a:lstStyle/>
          <a:p>
            <a:r>
              <a:rPr kumimoji="1" lang="ja-JP" altLang="en-US"/>
              <a:t>その他</a:t>
            </a:r>
          </a:p>
        </p:txBody>
      </p:sp>
      <p:sp>
        <p:nvSpPr>
          <p:cNvPr id="38" name="四角形: 角を丸くする 37">
            <a:extLst>
              <a:ext uri="{FF2B5EF4-FFF2-40B4-BE49-F238E27FC236}">
                <a16:creationId xmlns:a16="http://schemas.microsoft.com/office/drawing/2014/main" id="{D448C5AD-89DE-6CB7-2070-A4F353506E21}"/>
              </a:ext>
            </a:extLst>
          </p:cNvPr>
          <p:cNvSpPr/>
          <p:nvPr/>
        </p:nvSpPr>
        <p:spPr>
          <a:xfrm>
            <a:off x="6441479" y="3962928"/>
            <a:ext cx="5457139" cy="2569925"/>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9" name="Picture 4" descr="うみらぼのプレスキット｜PR TIMES">
            <a:extLst>
              <a:ext uri="{FF2B5EF4-FFF2-40B4-BE49-F238E27FC236}">
                <a16:creationId xmlns:a16="http://schemas.microsoft.com/office/drawing/2014/main" id="{669EC120-F0BD-40B6-7EF0-A756594AA3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9513" y="4207784"/>
            <a:ext cx="1439187" cy="1471518"/>
          </a:xfrm>
          <a:prstGeom prst="rect">
            <a:avLst/>
          </a:prstGeom>
          <a:noFill/>
          <a:extLst>
            <a:ext uri="{909E8E84-426E-40DD-AFC4-6F175D3DCCD1}">
              <a14:hiddenFill xmlns:a14="http://schemas.microsoft.com/office/drawing/2010/main">
                <a:solidFill>
                  <a:srgbClr val="FFFFFF"/>
                </a:solidFill>
              </a14:hiddenFill>
            </a:ext>
          </a:extLst>
        </p:spPr>
      </p:pic>
      <p:sp>
        <p:nvSpPr>
          <p:cNvPr id="40" name="テキスト ボックス 39">
            <a:extLst>
              <a:ext uri="{FF2B5EF4-FFF2-40B4-BE49-F238E27FC236}">
                <a16:creationId xmlns:a16="http://schemas.microsoft.com/office/drawing/2014/main" id="{C42A704C-54CD-D282-6474-EC864093803E}"/>
              </a:ext>
            </a:extLst>
          </p:cNvPr>
          <p:cNvSpPr txBox="1"/>
          <p:nvPr/>
        </p:nvSpPr>
        <p:spPr>
          <a:xfrm>
            <a:off x="6564153" y="5729990"/>
            <a:ext cx="5898762" cy="646331"/>
          </a:xfrm>
          <a:prstGeom prst="rect">
            <a:avLst/>
          </a:prstGeom>
          <a:noFill/>
          <a:ln w="38100">
            <a:noFill/>
          </a:ln>
        </p:spPr>
        <p:txBody>
          <a:bodyPr wrap="square" rtlCol="0">
            <a:spAutoFit/>
          </a:bodyPr>
          <a:lstStyle/>
          <a:p>
            <a:r>
              <a:rPr kumimoji="1" lang="ja-JP" altLang="en-US" sz="1800"/>
              <a:t>・事前実験経費</a:t>
            </a:r>
            <a:r>
              <a:rPr kumimoji="1" lang="en-US" altLang="ja-JP" sz="1800"/>
              <a:t>(</a:t>
            </a:r>
            <a:r>
              <a:rPr kumimoji="1" lang="ja-JP" altLang="en-US" sz="1800"/>
              <a:t>移動代など</a:t>
            </a:r>
            <a:r>
              <a:rPr kumimoji="1" lang="en-US" altLang="ja-JP" sz="1800"/>
              <a:t>)</a:t>
            </a:r>
            <a:endParaRPr kumimoji="1" lang="ja-JP" altLang="en-US" sz="1800"/>
          </a:p>
          <a:p>
            <a:r>
              <a:rPr kumimoji="1" lang="ja-JP" altLang="en-US" sz="1800"/>
              <a:t>・実証実験経費</a:t>
            </a:r>
            <a:r>
              <a:rPr kumimoji="1" lang="en-US" altLang="ja-JP" sz="1800"/>
              <a:t>(</a:t>
            </a:r>
            <a:r>
              <a:rPr kumimoji="1" lang="ja-JP" altLang="en-US" sz="1800"/>
              <a:t>実験場レンタル料など</a:t>
            </a:r>
            <a:r>
              <a:rPr kumimoji="1" lang="en-US" altLang="ja-JP" sz="1800"/>
              <a:t>)</a:t>
            </a:r>
            <a:endParaRPr kumimoji="1" lang="ja-JP" altLang="en-US" sz="1800"/>
          </a:p>
        </p:txBody>
      </p:sp>
      <p:pic>
        <p:nvPicPr>
          <p:cNvPr id="41" name="図 40">
            <a:extLst>
              <a:ext uri="{FF2B5EF4-FFF2-40B4-BE49-F238E27FC236}">
                <a16:creationId xmlns:a16="http://schemas.microsoft.com/office/drawing/2014/main" id="{77942979-DDCD-5B4F-D76A-97F5FBB5D59D}"/>
              </a:ext>
            </a:extLst>
          </p:cNvPr>
          <p:cNvPicPr>
            <a:picLocks noChangeAspect="1"/>
          </p:cNvPicPr>
          <p:nvPr/>
        </p:nvPicPr>
        <p:blipFill>
          <a:blip r:embed="rId8"/>
          <a:srcRect l="23355" t="15503" r="15378" b="7258"/>
          <a:stretch/>
        </p:blipFill>
        <p:spPr>
          <a:xfrm>
            <a:off x="7735938" y="4207784"/>
            <a:ext cx="1954838" cy="1323486"/>
          </a:xfrm>
          <a:prstGeom prst="rect">
            <a:avLst/>
          </a:prstGeom>
        </p:spPr>
      </p:pic>
      <p:sp>
        <p:nvSpPr>
          <p:cNvPr id="42" name="正方形/長方形 41">
            <a:extLst>
              <a:ext uri="{FF2B5EF4-FFF2-40B4-BE49-F238E27FC236}">
                <a16:creationId xmlns:a16="http://schemas.microsoft.com/office/drawing/2014/main" id="{2425546E-AF2E-1B25-BB57-616872F77F82}"/>
              </a:ext>
            </a:extLst>
          </p:cNvPr>
          <p:cNvSpPr/>
          <p:nvPr/>
        </p:nvSpPr>
        <p:spPr>
          <a:xfrm>
            <a:off x="191246" y="4716922"/>
            <a:ext cx="4835347" cy="84849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4" name="コネクタ: カギ線 43">
            <a:extLst>
              <a:ext uri="{FF2B5EF4-FFF2-40B4-BE49-F238E27FC236}">
                <a16:creationId xmlns:a16="http://schemas.microsoft.com/office/drawing/2014/main" id="{0EA8D95E-8B25-D6B4-B541-CFEB86DEEC9D}"/>
              </a:ext>
            </a:extLst>
          </p:cNvPr>
          <p:cNvCxnSpPr>
            <a:cxnSpLocks/>
            <a:stCxn id="42" idx="3"/>
            <a:endCxn id="38" idx="1"/>
          </p:cNvCxnSpPr>
          <p:nvPr/>
        </p:nvCxnSpPr>
        <p:spPr>
          <a:xfrm>
            <a:off x="5026593" y="5141171"/>
            <a:ext cx="1414886" cy="106720"/>
          </a:xfrm>
          <a:prstGeom prst="bentConnector3">
            <a:avLst>
              <a:gd name="adj1" fmla="val 50000"/>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48" name="Picture 16" descr="Technical Reference">
            <a:extLst>
              <a:ext uri="{FF2B5EF4-FFF2-40B4-BE49-F238E27FC236}">
                <a16:creationId xmlns:a16="http://schemas.microsoft.com/office/drawing/2014/main" id="{90928DA3-724E-D825-1F47-704866C3DD1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7920" b="7871"/>
          <a:stretch/>
        </p:blipFill>
        <p:spPr bwMode="auto">
          <a:xfrm>
            <a:off x="3549456" y="2366435"/>
            <a:ext cx="1215949" cy="1009519"/>
          </a:xfrm>
          <a:prstGeom prst="rect">
            <a:avLst/>
          </a:prstGeom>
          <a:noFill/>
          <a:extLst>
            <a:ext uri="{909E8E84-426E-40DD-AFC4-6F175D3DCCD1}">
              <a14:hiddenFill xmlns:a14="http://schemas.microsoft.com/office/drawing/2010/main">
                <a:solidFill>
                  <a:srgbClr val="FFFFFF"/>
                </a:solidFill>
              </a14:hiddenFill>
            </a:ext>
          </a:extLst>
        </p:spPr>
      </p:pic>
      <p:pic>
        <p:nvPicPr>
          <p:cNvPr id="3" name="グラフィックス 2" descr="Wi-Fi 枠線">
            <a:extLst>
              <a:ext uri="{FF2B5EF4-FFF2-40B4-BE49-F238E27FC236}">
                <a16:creationId xmlns:a16="http://schemas.microsoft.com/office/drawing/2014/main" id="{B1A1EC15-7428-4093-B5BB-A11CB9B1141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2688812">
            <a:off x="8099729" y="995151"/>
            <a:ext cx="914400" cy="914400"/>
          </a:xfrm>
          <a:prstGeom prst="rect">
            <a:avLst/>
          </a:prstGeom>
        </p:spPr>
      </p:pic>
    </p:spTree>
    <p:extLst>
      <p:ext uri="{BB962C8B-B14F-4D97-AF65-F5344CB8AC3E}">
        <p14:creationId xmlns:p14="http://schemas.microsoft.com/office/powerpoint/2010/main" val="3750870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2"/>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45" name="Google Shape;245;p12"/>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第４章　重複応募の有無</a:t>
            </a:r>
            <a:endParaRPr/>
          </a:p>
        </p:txBody>
      </p:sp>
      <p:sp>
        <p:nvSpPr>
          <p:cNvPr id="3" name="コンテンツ プレースホルダー 6">
            <a:extLst>
              <a:ext uri="{FF2B5EF4-FFF2-40B4-BE49-F238E27FC236}">
                <a16:creationId xmlns:a16="http://schemas.microsoft.com/office/drawing/2014/main" id="{14F5E141-1CDF-C07E-553E-0D9363CCE45E}"/>
              </a:ext>
            </a:extLst>
          </p:cNvPr>
          <p:cNvSpPr txBox="1">
            <a:spLocks/>
          </p:cNvSpPr>
          <p:nvPr/>
        </p:nvSpPr>
        <p:spPr>
          <a:xfrm>
            <a:off x="1026354" y="865166"/>
            <a:ext cx="9441946" cy="5544616"/>
          </a:xfrm>
          <a:prstGeom prst="rect">
            <a:avLst/>
          </a:prstGeom>
        </p:spPr>
        <p:txBody>
          <a:bodyPr>
            <a:normAutofit/>
          </a:bodyPr>
          <a:lstStyle>
            <a:lvl1pPr marL="342900" indent="-342900" algn="l" defTabSz="914400" rtl="0" eaLnBrk="1" latinLnBrk="0" hangingPunct="1">
              <a:spcBef>
                <a:spcPts val="600"/>
              </a:spcBef>
              <a:spcAft>
                <a:spcPts val="600"/>
              </a:spcAft>
              <a:buClr>
                <a:srgbClr val="002060"/>
              </a:buClr>
              <a:buFont typeface="Wingdings" panose="05000000000000000000" pitchFamily="2" charset="2"/>
              <a:buChar char="l"/>
              <a:defRPr kumimoji="1" sz="20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defTabSz="914400" rtl="0" eaLnBrk="1" latinLnBrk="0" hangingPunct="1">
              <a:spcBef>
                <a:spcPts val="600"/>
              </a:spcBef>
              <a:spcAft>
                <a:spcPts val="600"/>
              </a:spcAft>
              <a:buFont typeface="Arial" pitchFamily="34" charset="0"/>
              <a:buChar char="–"/>
              <a:defRPr kumimoji="1" sz="14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defTabSz="914400" rtl="0" eaLnBrk="1" latinLnBrk="0" hangingPunct="1">
              <a:spcBef>
                <a:spcPts val="600"/>
              </a:spcBef>
              <a:spcAft>
                <a:spcPts val="600"/>
              </a:spcAft>
              <a:buFont typeface="Arial" pitchFamily="34" charset="0"/>
              <a:buChar char="•"/>
              <a:defRPr kumimoji="1" sz="105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600"/>
              </a:spcBef>
              <a:spcAft>
                <a:spcPts val="600"/>
              </a:spcAft>
              <a:buClr>
                <a:srgbClr val="002060"/>
              </a:buClr>
              <a:buSzTx/>
              <a:buFont typeface="Wingdings" panose="05000000000000000000" pitchFamily="2" charset="2"/>
              <a:buChar char="l"/>
              <a:tabLst/>
              <a:defRPr/>
            </a:pPr>
            <a:r>
              <a:rPr kumimoji="1" lang="ja-JP" altLang="en-US" sz="31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rPr>
              <a:t>なし</a:t>
            </a:r>
            <a:endParaRPr kumimoji="1" lang="ja-JP" altLang="en-US" sz="2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a:p>
            <a:pPr marL="342900" marR="0" lvl="0" indent="-342900" algn="l" defTabSz="914400" rtl="0" eaLnBrk="1" fontAlgn="auto" latinLnBrk="0" hangingPunct="1">
              <a:lnSpc>
                <a:spcPct val="100000"/>
              </a:lnSpc>
              <a:spcBef>
                <a:spcPts val="600"/>
              </a:spcBef>
              <a:spcAft>
                <a:spcPts val="600"/>
              </a:spcAft>
              <a:buClr>
                <a:srgbClr val="002060"/>
              </a:buClr>
              <a:buSzTx/>
              <a:buFont typeface="Wingdings" panose="05000000000000000000" pitchFamily="2" charset="2"/>
              <a:buChar char="l"/>
              <a:tabLst/>
              <a:defRPr/>
            </a:pPr>
            <a:endParaRPr kumimoji="1" lang="en-US" altLang="ja-JP" sz="2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a:p>
            <a:pPr marL="0" marR="0" lvl="0" indent="0" algn="l" defTabSz="914400" rtl="0" eaLnBrk="1" fontAlgn="auto" latinLnBrk="0" hangingPunct="1">
              <a:lnSpc>
                <a:spcPct val="100000"/>
              </a:lnSpc>
              <a:spcBef>
                <a:spcPts val="600"/>
              </a:spcBef>
              <a:spcAft>
                <a:spcPts val="600"/>
              </a:spcAft>
              <a:buClr>
                <a:srgbClr val="002060"/>
              </a:buClr>
              <a:buSzTx/>
              <a:buFont typeface="Wingdings" panose="05000000000000000000" pitchFamily="2" charset="2"/>
              <a:buNone/>
              <a:tabLst/>
              <a:defRPr/>
            </a:pPr>
            <a:endParaRPr kumimoji="1" lang="en-US" altLang="ja-JP" sz="2600" b="0" i="0" u="none" strike="noStrike" kern="1200" cap="none" spc="0" normalizeH="0" baseline="0" noProof="0">
              <a:ln>
                <a:noFill/>
              </a:ln>
              <a:solidFill>
                <a:srgbClr val="FF0000"/>
              </a:solidFill>
              <a:effectLst/>
              <a:uLnTx/>
              <a:uFillTx/>
              <a:latin typeface="Yu Gothic" panose="020B0400000000000000" pitchFamily="34" charset="-128"/>
              <a:ea typeface="Yu Gothic" panose="020B0400000000000000" pitchFamily="34" charset="-128"/>
              <a:sym typeface="Arial"/>
            </a:endParaRPr>
          </a:p>
          <a:p>
            <a:pPr marL="0" marR="0" lvl="0" indent="0" algn="l" defTabSz="914400" rtl="0" eaLnBrk="1" fontAlgn="auto" latinLnBrk="0" hangingPunct="1">
              <a:lnSpc>
                <a:spcPct val="100000"/>
              </a:lnSpc>
              <a:spcBef>
                <a:spcPts val="600"/>
              </a:spcBef>
              <a:spcAft>
                <a:spcPts val="600"/>
              </a:spcAft>
              <a:buClr>
                <a:srgbClr val="002060"/>
              </a:buClr>
              <a:buSzTx/>
              <a:buFont typeface="Wingdings" panose="05000000000000000000" pitchFamily="2" charset="2"/>
              <a:buNone/>
              <a:tabLst/>
              <a:defRPr/>
            </a:pPr>
            <a:br>
              <a:rPr kumimoji="1" lang="ja-JP" altLang="en-US" sz="2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rPr>
            </a:br>
            <a:r>
              <a:rPr kumimoji="1" lang="ja-JP" altLang="en-US" sz="2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rPr>
              <a:t>　 </a:t>
            </a:r>
            <a:br>
              <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sym typeface="Arial"/>
              </a:rPr>
            </a:br>
            <a:b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sym typeface="Arial"/>
              </a:rPr>
            </a:br>
            <a:endParaRPr kumimoji="1" lang="en-US" altLang="ja-JP" sz="2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sym typeface="Arial"/>
            </a:endParaRPr>
          </a:p>
          <a:p>
            <a:pPr marL="342900" marR="0" lvl="0" indent="-342900" algn="l" defTabSz="914400" rtl="0" eaLnBrk="1" fontAlgn="auto" latinLnBrk="0" hangingPunct="1">
              <a:lnSpc>
                <a:spcPct val="100000"/>
              </a:lnSpc>
              <a:spcBef>
                <a:spcPts val="600"/>
              </a:spcBef>
              <a:spcAft>
                <a:spcPts val="600"/>
              </a:spcAft>
              <a:buClr>
                <a:srgbClr val="002060"/>
              </a:buClr>
              <a:buSzTx/>
              <a:buFont typeface="Wingdings" panose="05000000000000000000" pitchFamily="2" charset="2"/>
              <a:buChar char="l"/>
              <a:tabLst/>
              <a:defRPr/>
            </a:pP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345374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3"/>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61" name="Google Shape;261;p13"/>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第５章　地域連携先</a:t>
            </a:r>
            <a:endParaRPr/>
          </a:p>
        </p:txBody>
      </p:sp>
      <p:sp>
        <p:nvSpPr>
          <p:cNvPr id="2" name="テキスト ボックス 1">
            <a:extLst>
              <a:ext uri="{FF2B5EF4-FFF2-40B4-BE49-F238E27FC236}">
                <a16:creationId xmlns:a16="http://schemas.microsoft.com/office/drawing/2014/main" id="{457200F3-7430-6F16-D89F-35DA0A1FE4DD}"/>
              </a:ext>
            </a:extLst>
          </p:cNvPr>
          <p:cNvSpPr txBox="1"/>
          <p:nvPr/>
        </p:nvSpPr>
        <p:spPr>
          <a:xfrm>
            <a:off x="393739" y="836712"/>
            <a:ext cx="2993127" cy="830997"/>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Font typeface="Wingdings" pitchFamily="2" charset="2"/>
              <a:buChar char="l"/>
              <a:tabLst/>
              <a:defRPr/>
            </a:pPr>
            <a:r>
              <a:rPr kumimoji="1" lang="ja-JP" altLang="en-US" sz="24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eiryo UI" panose="020B0604030504040204" pitchFamily="50" charset="-128"/>
                <a:sym typeface="Arial"/>
              </a:rPr>
              <a:t>うみらぼ株式会社</a:t>
            </a:r>
            <a:endParaRPr kumimoji="0" lang="en-US" altLang="ja-JP" sz="2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sym typeface="Arial"/>
            </a:endParaRPr>
          </a:p>
          <a:p>
            <a:pPr marL="0" marR="0" lvl="0" indent="0" algn="l" defTabSz="914400" rtl="0" eaLnBrk="1" fontAlgn="auto" latinLnBrk="0" hangingPunct="1">
              <a:lnSpc>
                <a:spcPct val="100000"/>
              </a:lnSpc>
              <a:spcBef>
                <a:spcPts val="0"/>
              </a:spcBef>
              <a:spcAft>
                <a:spcPts val="0"/>
              </a:spcAft>
              <a:buClr>
                <a:srgbClr val="000000"/>
              </a:buClr>
              <a:buSzPct val="125000"/>
              <a:buFont typeface="Arial"/>
              <a:buNone/>
              <a:tabLst/>
              <a:defRPr/>
            </a:pPr>
            <a:endParaRPr kumimoji="1" lang="ja-JP" altLang="en-US"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sym typeface="Arial"/>
            </a:endParaRPr>
          </a:p>
        </p:txBody>
      </p:sp>
      <p:sp>
        <p:nvSpPr>
          <p:cNvPr id="3" name="テキスト ボックス 2">
            <a:extLst>
              <a:ext uri="{FF2B5EF4-FFF2-40B4-BE49-F238E27FC236}">
                <a16:creationId xmlns:a16="http://schemas.microsoft.com/office/drawing/2014/main" id="{B5F41435-B080-10BC-C42C-D26367AC3404}"/>
              </a:ext>
            </a:extLst>
          </p:cNvPr>
          <p:cNvSpPr txBox="1"/>
          <p:nvPr/>
        </p:nvSpPr>
        <p:spPr>
          <a:xfrm>
            <a:off x="572303" y="2808358"/>
            <a:ext cx="10919481"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事業内容</a:t>
            </a:r>
            <a:br>
              <a:rPr kumimoji="0" lang="en-US"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br>
            <a:endParaRPr kumimoji="0"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1.</a:t>
            </a:r>
            <a:r>
              <a:rPr kumimoji="0" lang="zh-TW" altLang="en-US"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複合施設事業</a:t>
            </a: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0" lang="ja-JP" altLang="en-US"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宿泊施設</a:t>
            </a: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endParaRPr kumimoji="0" lang="en-US" altLang="zh-TW"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2.</a:t>
            </a:r>
            <a:r>
              <a:rPr kumimoji="0" lang="zh-TW" altLang="en-US"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人材支援事業</a:t>
            </a:r>
            <a:endParaRPr kumimoji="0" lang="en-US" altLang="zh-TW"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3.</a:t>
            </a:r>
            <a:r>
              <a:rPr kumimoji="0" lang="zh-TW" altLang="en-US" sz="2400" b="1" i="0" u="none" strike="noStrike" kern="0" cap="none" spc="0" normalizeH="0" baseline="0" noProof="0">
                <a:ln>
                  <a:noFill/>
                </a:ln>
                <a:solidFill>
                  <a:srgbClr val="FF0000"/>
                </a:solidFill>
                <a:effectLst/>
                <a:uLnTx/>
                <a:uFillTx/>
                <a:latin typeface="Yu Gothic" panose="020B0400000000000000" pitchFamily="34" charset="-128"/>
                <a:ea typeface="Yu Gothic" panose="020B0400000000000000" pitchFamily="34" charset="-128"/>
                <a:cs typeface="Arial"/>
                <a:sym typeface="Arial"/>
              </a:rPr>
              <a:t>海洋研究事業</a:t>
            </a: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0" lang="ja-JP" altLang="en-US"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海洋産業</a:t>
            </a: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DX</a:t>
            </a:r>
            <a:r>
              <a:rPr kumimoji="0" lang="ja-JP" altLang="en-US"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0" lang="ja-JP" altLang="en-US" sz="2000" b="0" i="0" u="none" strike="noStrike" kern="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Arial"/>
                <a:sym typeface="Arial"/>
              </a:rPr>
              <a:t>環境保全、マリンテックコミュニティ</a:t>
            </a:r>
            <a:r>
              <a:rPr kumimoji="0" lang="en-US" altLang="ja-JP" sz="20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p>
        </p:txBody>
      </p:sp>
      <p:sp>
        <p:nvSpPr>
          <p:cNvPr id="4" name="テキスト ボックス 3">
            <a:extLst>
              <a:ext uri="{FF2B5EF4-FFF2-40B4-BE49-F238E27FC236}">
                <a16:creationId xmlns:a16="http://schemas.microsoft.com/office/drawing/2014/main" id="{0E61CC8A-E334-A7F9-174A-E11E081D9B54}"/>
              </a:ext>
            </a:extLst>
          </p:cNvPr>
          <p:cNvSpPr txBox="1"/>
          <p:nvPr/>
        </p:nvSpPr>
        <p:spPr>
          <a:xfrm>
            <a:off x="572303" y="1696819"/>
            <a:ext cx="51820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TW"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a:t>
            </a:r>
            <a:r>
              <a:rPr kumimoji="0" lang="en-US" altLang="zh-TW"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517-0501</a:t>
            </a:r>
            <a:r>
              <a:rPr kumimoji="0" lang="zh-TW"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三重県志摩市阿児町鵜方 福川原</a:t>
            </a:r>
            <a:endParaRPr kumimoji="0" lang="ja-JP" altLang="en-US" sz="1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6" name="テキスト ボックス 5">
            <a:extLst>
              <a:ext uri="{FF2B5EF4-FFF2-40B4-BE49-F238E27FC236}">
                <a16:creationId xmlns:a16="http://schemas.microsoft.com/office/drawing/2014/main" id="{84974C00-A69D-03AB-D55F-5B9718C6A1EE}"/>
              </a:ext>
            </a:extLst>
          </p:cNvPr>
          <p:cNvSpPr txBox="1"/>
          <p:nvPr/>
        </p:nvSpPr>
        <p:spPr>
          <a:xfrm>
            <a:off x="572303" y="4816680"/>
            <a:ext cx="813556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1" i="0" u="none" strike="noStrike" kern="0" cap="none" spc="0" normalizeH="0" baseline="0" noProof="0" dirty="0">
                <a:ln>
                  <a:noFill/>
                </a:ln>
                <a:solidFill>
                  <a:srgbClr val="1F497D"/>
                </a:solidFill>
                <a:effectLst/>
                <a:uLnTx/>
                <a:uFillTx/>
                <a:latin typeface="Yu Gothic" panose="020B0400000000000000" pitchFamily="34" charset="-128"/>
                <a:ea typeface="Yu Gothic" panose="020B0400000000000000" pitchFamily="34" charset="-128"/>
                <a:cs typeface="Arial"/>
                <a:sym typeface="Arial"/>
              </a:rPr>
              <a:t>本実証の海中ゴミの困り事を提供していただきました。</a:t>
            </a:r>
            <a:endParaRPr kumimoji="1" lang="en-US" altLang="ja-JP" sz="2000" b="1" i="0" u="none" strike="noStrike" kern="0" cap="none" spc="0" normalizeH="0" baseline="0" noProof="0" dirty="0">
              <a:ln>
                <a:noFill/>
              </a:ln>
              <a:solidFill>
                <a:srgbClr val="1F497D"/>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1" i="0" u="none" strike="noStrike" kern="0" cap="none" spc="0" normalizeH="0" baseline="0" noProof="0" dirty="0">
                <a:ln>
                  <a:noFill/>
                </a:ln>
                <a:solidFill>
                  <a:srgbClr val="1F497D"/>
                </a:solidFill>
                <a:effectLst/>
                <a:uLnTx/>
                <a:uFillTx/>
                <a:latin typeface="Yu Gothic" panose="020B0400000000000000" pitchFamily="34" charset="-128"/>
                <a:ea typeface="Yu Gothic" panose="020B0400000000000000" pitchFamily="34" charset="-128"/>
                <a:cs typeface="Arial"/>
                <a:sym typeface="Arial"/>
              </a:rPr>
              <a:t>海洋研究事業の一環で技術実証の場として利用させていただきます</a:t>
            </a:r>
            <a:r>
              <a:rPr kumimoji="1" lang="ja-JP" altLang="en-US" sz="2000" b="0" i="0" u="none" strike="noStrike" kern="0" cap="none" spc="0" normalizeH="0" baseline="0" noProof="0" dirty="0">
                <a:ln>
                  <a:noFill/>
                </a:ln>
                <a:solidFill>
                  <a:srgbClr val="1F497D"/>
                </a:solidFill>
                <a:effectLst/>
                <a:uLnTx/>
                <a:uFillTx/>
                <a:latin typeface="Yu Gothic" panose="020B0400000000000000" pitchFamily="34" charset="-128"/>
                <a:ea typeface="Yu Gothic" panose="020B0400000000000000" pitchFamily="34" charset="-128"/>
                <a:cs typeface="Arial"/>
                <a:sym typeface="Arial"/>
              </a:rPr>
              <a:t>。</a:t>
            </a:r>
          </a:p>
        </p:txBody>
      </p:sp>
      <p:pic>
        <p:nvPicPr>
          <p:cNvPr id="1028" name="Picture 4" descr="うみらぼのプレスキット｜PR TIMES">
            <a:extLst>
              <a:ext uri="{FF2B5EF4-FFF2-40B4-BE49-F238E27FC236}">
                <a16:creationId xmlns:a16="http://schemas.microsoft.com/office/drawing/2014/main" id="{A6BA6AAB-822C-CDE1-2C92-77500BC3D1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3606" y="830095"/>
            <a:ext cx="2055668" cy="21018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7E8B786-3D00-95BD-0CAF-14F82E91CE5E}"/>
              </a:ext>
            </a:extLst>
          </p:cNvPr>
          <p:cNvPicPr>
            <a:picLocks noChangeAspect="1"/>
          </p:cNvPicPr>
          <p:nvPr/>
        </p:nvPicPr>
        <p:blipFill>
          <a:blip r:embed="rId4"/>
          <a:stretch>
            <a:fillRect/>
          </a:stretch>
        </p:blipFill>
        <p:spPr>
          <a:xfrm>
            <a:off x="8817189" y="3026735"/>
            <a:ext cx="3027689" cy="1671154"/>
          </a:xfrm>
          <a:prstGeom prst="rect">
            <a:avLst/>
          </a:prstGeom>
        </p:spPr>
      </p:pic>
      <p:pic>
        <p:nvPicPr>
          <p:cNvPr id="10" name="Picture 2" descr="船で行く 1日1組限定の絶景お宿 うみらぼ（志摩市）：（最新料金：2025年）">
            <a:extLst>
              <a:ext uri="{FF2B5EF4-FFF2-40B4-BE49-F238E27FC236}">
                <a16:creationId xmlns:a16="http://schemas.microsoft.com/office/drawing/2014/main" id="{C3A8BA46-B992-29A3-44E2-39B3303F07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7589" y="825766"/>
            <a:ext cx="3025322" cy="1987073"/>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31">
            <a:extLst>
              <a:ext uri="{FF2B5EF4-FFF2-40B4-BE49-F238E27FC236}">
                <a16:creationId xmlns:a16="http://schemas.microsoft.com/office/drawing/2014/main" id="{76BA4F9E-6A4E-7CEB-2A46-6393AC010D9D}"/>
              </a:ext>
            </a:extLst>
          </p:cNvPr>
          <p:cNvSpPr/>
          <p:nvPr/>
        </p:nvSpPr>
        <p:spPr>
          <a:xfrm>
            <a:off x="8823022" y="4816680"/>
            <a:ext cx="3018422" cy="1647100"/>
          </a:xfrm>
          <a:custGeom>
            <a:avLst/>
            <a:gdLst/>
            <a:ahLst/>
            <a:cxnLst/>
            <a:rect l="l" t="t" r="r" b="b"/>
            <a:pathLst>
              <a:path w="3923452" h="2638769">
                <a:moveTo>
                  <a:pt x="0" y="0"/>
                </a:moveTo>
                <a:lnTo>
                  <a:pt x="3923452" y="0"/>
                </a:lnTo>
                <a:lnTo>
                  <a:pt x="3923452" y="2638769"/>
                </a:lnTo>
                <a:lnTo>
                  <a:pt x="0" y="2638769"/>
                </a:lnTo>
                <a:lnTo>
                  <a:pt x="0" y="0"/>
                </a:lnTo>
                <a:close/>
              </a:path>
            </a:pathLst>
          </a:custGeom>
          <a:blipFill>
            <a:blip r:embed="rId6"/>
            <a:stretch>
              <a:fillRect l="-21206" t="-685" b="-685"/>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800" b="0" i="0" u="none" strike="noStrike" kern="1200" cap="none" spc="0" normalizeH="0" baseline="0" noProof="0">
              <a:ln>
                <a:noFill/>
              </a:ln>
              <a:solidFill>
                <a:srgbClr val="000000"/>
              </a:solidFill>
              <a:effectLst/>
              <a:uLnTx/>
              <a:uFillTx/>
              <a:latin typeface="Arial"/>
              <a:ea typeface="ＭＳ Ｐゴシック" panose="020B0600070205080204" pitchFamily="50" charset="-128"/>
              <a:cs typeface="+mn-cs"/>
              <a:sym typeface="Arial"/>
            </a:endParaRPr>
          </a:p>
        </p:txBody>
      </p:sp>
    </p:spTree>
    <p:extLst>
      <p:ext uri="{BB962C8B-B14F-4D97-AF65-F5344CB8AC3E}">
        <p14:creationId xmlns:p14="http://schemas.microsoft.com/office/powerpoint/2010/main" val="186461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6AFEE2F7-9CB8-1002-4D69-A2C3DCE028E1}"/>
            </a:ext>
          </a:extLst>
        </p:cNvPr>
        <p:cNvGrpSpPr/>
        <p:nvPr/>
      </p:nvGrpSpPr>
      <p:grpSpPr>
        <a:xfrm>
          <a:off x="0" y="0"/>
          <a:ext cx="0" cy="0"/>
          <a:chOff x="0" y="0"/>
          <a:chExt cx="0" cy="0"/>
        </a:xfrm>
      </p:grpSpPr>
      <p:sp>
        <p:nvSpPr>
          <p:cNvPr id="260" name="Google Shape;260;p13">
            <a:extLst>
              <a:ext uri="{FF2B5EF4-FFF2-40B4-BE49-F238E27FC236}">
                <a16:creationId xmlns:a16="http://schemas.microsoft.com/office/drawing/2014/main" id="{5FD03B72-D1A9-40A5-E425-3A03ADC35BC6}"/>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61" name="Google Shape;261;p13">
            <a:extLst>
              <a:ext uri="{FF2B5EF4-FFF2-40B4-BE49-F238E27FC236}">
                <a16:creationId xmlns:a16="http://schemas.microsoft.com/office/drawing/2014/main" id="{CF624354-C05A-63E1-893D-86E0685B294D}"/>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第５章　地域連携先</a:t>
            </a:r>
            <a:endParaRPr/>
          </a:p>
        </p:txBody>
      </p:sp>
      <p:sp>
        <p:nvSpPr>
          <p:cNvPr id="2" name="テキスト ボックス 1">
            <a:extLst>
              <a:ext uri="{FF2B5EF4-FFF2-40B4-BE49-F238E27FC236}">
                <a16:creationId xmlns:a16="http://schemas.microsoft.com/office/drawing/2014/main" id="{01DBA437-6FE7-94BC-F09D-22C9F75D4FCB}"/>
              </a:ext>
            </a:extLst>
          </p:cNvPr>
          <p:cNvSpPr txBox="1"/>
          <p:nvPr/>
        </p:nvSpPr>
        <p:spPr>
          <a:xfrm>
            <a:off x="393739" y="836712"/>
            <a:ext cx="2787943" cy="707886"/>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Font typeface="Wingdings" pitchFamily="2" charset="2"/>
              <a:buChar char="l"/>
              <a:tabLst/>
              <a:defRPr/>
            </a:pPr>
            <a:r>
              <a:rPr kumimoji="1" lang="ja-JP" altLang="en-US" sz="24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eiryo UI" panose="020B0604030504040204" pitchFamily="50" charset="-128"/>
                <a:sym typeface="Arial"/>
              </a:rPr>
              <a:t>志摩市　</a:t>
            </a:r>
            <a:r>
              <a:rPr kumimoji="1" lang="ja-JP" altLang="en-US" sz="40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eiryo UI" panose="020B0604030504040204" pitchFamily="50" charset="-128"/>
                <a:sym typeface="Arial"/>
              </a:rPr>
              <a:t>予定</a:t>
            </a:r>
            <a:endParaRPr kumimoji="1" lang="ja-JP" altLang="en-US"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sym typeface="Arial"/>
            </a:endParaRPr>
          </a:p>
        </p:txBody>
      </p:sp>
      <p:sp>
        <p:nvSpPr>
          <p:cNvPr id="4" name="テキスト ボックス 3">
            <a:extLst>
              <a:ext uri="{FF2B5EF4-FFF2-40B4-BE49-F238E27FC236}">
                <a16:creationId xmlns:a16="http://schemas.microsoft.com/office/drawing/2014/main" id="{5DCC950F-92AA-28EE-4CEE-0A5A87D258C3}"/>
              </a:ext>
            </a:extLst>
          </p:cNvPr>
          <p:cNvSpPr txBox="1"/>
          <p:nvPr/>
        </p:nvSpPr>
        <p:spPr>
          <a:xfrm>
            <a:off x="572303" y="1696819"/>
            <a:ext cx="785324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ja-JP"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sym typeface="Arial"/>
              </a:rPr>
              <a:t>〒</a:t>
            </a:r>
            <a:r>
              <a:rPr kumimoji="1" lang="en-US" altLang="ja-JP"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sym typeface="Arial"/>
              </a:rPr>
              <a:t>517-0501</a:t>
            </a:r>
            <a:r>
              <a:rPr kumimoji="1" lang="en-US" altLang="ja-JP" sz="2400" b="0" i="0" u="none" strike="noStrike" kern="0" cap="none" spc="0" normalizeH="0" baseline="0" noProof="0">
                <a:ln>
                  <a:noFill/>
                </a:ln>
                <a:solidFill>
                  <a:srgbClr val="000000"/>
                </a:solidFill>
                <a:effectLst/>
                <a:uLnTx/>
                <a:uFillTx/>
                <a:latin typeface="Arial"/>
                <a:ea typeface="Arial" panose="020B0604020202020204" pitchFamily="34" charset="0"/>
                <a:cs typeface="Arial"/>
                <a:sym typeface="Arial"/>
              </a:rPr>
              <a:t> </a:t>
            </a:r>
            <a:r>
              <a:rPr kumimoji="0" lang="zh-TW" altLang="ja-JP" sz="1800" b="0" i="0" u="none" strike="noStrike" kern="0" cap="none" spc="0" normalizeH="0" baseline="0" noProof="0">
                <a:ln>
                  <a:noFill/>
                </a:ln>
                <a:solidFill>
                  <a:srgbClr val="080809"/>
                </a:solidFill>
                <a:effectLst/>
                <a:uLnTx/>
                <a:uFillTx/>
                <a:latin typeface="Segoe UI Historic" panose="020B0502040204020203" pitchFamily="34" charset="0"/>
                <a:ea typeface="Segoe UI Historic" panose="020B0502040204020203" pitchFamily="34" charset="0"/>
                <a:cs typeface="Arial" panose="020B0604020202020204" pitchFamily="34" charset="0"/>
                <a:sym typeface="Arial"/>
              </a:rPr>
              <a:t>三重県志摩市阿児町鵜方</a:t>
            </a:r>
            <a:r>
              <a:rPr kumimoji="0" lang="en-US" altLang="ja-JP" sz="1800" b="0" i="0" u="none" strike="noStrike" kern="0" cap="none" spc="0" normalizeH="0" baseline="0" noProof="0">
                <a:ln>
                  <a:noFill/>
                </a:ln>
                <a:solidFill>
                  <a:srgbClr val="080809"/>
                </a:solidFill>
                <a:effectLst/>
                <a:uLnTx/>
                <a:uFillTx/>
                <a:latin typeface="Arial" panose="020B0604020202020204" pitchFamily="34" charset="0"/>
                <a:ea typeface="Arial" panose="020B0604020202020204" pitchFamily="34" charset="0"/>
                <a:cs typeface="Arial" panose="020B0604020202020204" pitchFamily="34" charset="0"/>
                <a:sym typeface="Arial"/>
              </a:rPr>
              <a:t>3098-22 (</a:t>
            </a:r>
            <a:r>
              <a:rPr kumimoji="0" lang="ja-JP" altLang="en-US" sz="1800" b="0" i="0" u="none" strike="noStrike" kern="0" cap="none" spc="0" normalizeH="0" baseline="0" noProof="0">
                <a:ln>
                  <a:noFill/>
                </a:ln>
                <a:solidFill>
                  <a:srgbClr val="080809"/>
                </a:solidFill>
                <a:effectLst/>
                <a:uLnTx/>
                <a:uFillTx/>
                <a:latin typeface="Arial" panose="020B0604020202020204" pitchFamily="34" charset="0"/>
                <a:ea typeface="Arial" panose="020B0604020202020204" pitchFamily="34" charset="0"/>
                <a:cs typeface="Arial" panose="020B0604020202020204" pitchFamily="34" charset="0"/>
                <a:sym typeface="Arial"/>
              </a:rPr>
              <a:t>志摩市役所</a:t>
            </a:r>
            <a:r>
              <a:rPr kumimoji="0" lang="en-US" altLang="ja-JP" sz="1800" b="0" i="0" u="none" strike="noStrike" kern="0" cap="none" spc="0" normalizeH="0" baseline="0" noProof="0">
                <a:ln>
                  <a:noFill/>
                </a:ln>
                <a:solidFill>
                  <a:srgbClr val="080809"/>
                </a:solidFill>
                <a:effectLst/>
                <a:uLnTx/>
                <a:uFillTx/>
                <a:latin typeface="Arial" panose="020B0604020202020204" pitchFamily="34" charset="0"/>
                <a:ea typeface="Arial" panose="020B0604020202020204" pitchFamily="34" charset="0"/>
                <a:cs typeface="Arial" panose="020B0604020202020204" pitchFamily="34" charset="0"/>
                <a:sym typeface="Arial"/>
              </a:rPr>
              <a:t>)</a:t>
            </a:r>
            <a:endParaRPr kumimoji="0" lang="ja-JP" altLang="ja-JP" sz="2400" b="0" i="0" u="none" strike="noStrike" kern="0" cap="none" spc="0" normalizeH="0" baseline="0" noProof="0">
              <a:ln>
                <a:noFill/>
              </a:ln>
              <a:solidFill>
                <a:srgbClr val="000000"/>
              </a:solidFill>
              <a:effectLst/>
              <a:uLnTx/>
              <a:uFillTx/>
              <a:latin typeface="Arial"/>
              <a:cs typeface="Arial"/>
              <a:sym typeface="Arial"/>
            </a:endParaRPr>
          </a:p>
        </p:txBody>
      </p:sp>
      <p:sp>
        <p:nvSpPr>
          <p:cNvPr id="5" name="テキスト ボックス 4">
            <a:extLst>
              <a:ext uri="{FF2B5EF4-FFF2-40B4-BE49-F238E27FC236}">
                <a16:creationId xmlns:a16="http://schemas.microsoft.com/office/drawing/2014/main" id="{68E0AA7F-A6EC-B439-1E55-A365A0911E4C}"/>
              </a:ext>
            </a:extLst>
          </p:cNvPr>
          <p:cNvSpPr txBox="1"/>
          <p:nvPr/>
        </p:nvSpPr>
        <p:spPr>
          <a:xfrm>
            <a:off x="570322" y="3480388"/>
            <a:ext cx="7359174" cy="1323439"/>
          </a:xfrm>
          <a:prstGeom prst="rect">
            <a:avLst/>
          </a:prstGeom>
          <a:noFill/>
        </p:spPr>
        <p:txBody>
          <a:bodyPr wrap="square" lIns="91440" tIns="45720" rIns="91440" bIns="45720" rtlCol="0" anchor="t">
            <a:spAutoFit/>
          </a:bodyPr>
          <a:lstStyle/>
          <a:p>
            <a:pPr>
              <a:defRPr/>
            </a:pPr>
            <a:r>
              <a:rPr kumimoji="1" lang="ja-JP" altLang="en-US" sz="2000" b="1" i="0" u="none" strike="noStrike" kern="0" cap="none" spc="0" normalizeH="0" baseline="0" noProof="0">
                <a:ln>
                  <a:noFill/>
                </a:ln>
                <a:solidFill>
                  <a:srgbClr val="1F497D"/>
                </a:solidFill>
                <a:effectLst/>
                <a:uLnTx/>
                <a:uFillTx/>
                <a:latin typeface="Yu Gothic"/>
                <a:ea typeface="Yu Gothic"/>
                <a:cs typeface="Arial"/>
                <a:sym typeface="Arial"/>
              </a:rPr>
              <a:t>海洋沈殿ゴミが特に問題になっている、</a:t>
            </a:r>
            <a:endParaRPr kumimoji="1" lang="en-US" altLang="ja-JP" sz="2000" b="1">
              <a:solidFill>
                <a:srgbClr val="1F497D"/>
              </a:solidFill>
              <a:latin typeface="Yu Gothic"/>
              <a:ea typeface="Yu Gothic"/>
            </a:endParaRPr>
          </a:p>
          <a:p>
            <a:pPr marL="0" marR="0" lvl="0" indent="0" algn="l" defTabSz="914400">
              <a:lnSpc>
                <a:spcPct val="100000"/>
              </a:lnSpc>
              <a:spcBef>
                <a:spcPts val="0"/>
              </a:spcBef>
              <a:spcAft>
                <a:spcPts val="0"/>
              </a:spcAft>
              <a:buSzTx/>
              <a:buFont typeface="Arial"/>
              <a:buNone/>
              <a:tabLst/>
              <a:defRPr/>
            </a:pPr>
            <a:r>
              <a:rPr kumimoji="1" lang="ja-JP" altLang="en-US" sz="2000" b="1" i="0" u="none" strike="noStrike" kern="0" cap="none" spc="0" normalizeH="0" baseline="0" noProof="0">
                <a:ln>
                  <a:noFill/>
                </a:ln>
                <a:solidFill>
                  <a:srgbClr val="1F497D"/>
                </a:solidFill>
                <a:effectLst/>
                <a:uLnTx/>
                <a:uFillTx/>
                <a:latin typeface="Yu Gothic"/>
                <a:ea typeface="Yu Gothic"/>
                <a:cs typeface="Arial"/>
                <a:sym typeface="Arial"/>
              </a:rPr>
              <a:t>英虞湾に面する自治体。</a:t>
            </a:r>
            <a:endParaRPr lang="en-US" altLang="ja-JP" sz="2000" b="1" i="0" u="none" strike="noStrike" kern="0" cap="none" spc="0" normalizeH="0" baseline="0" noProof="0">
              <a:ln>
                <a:noFill/>
              </a:ln>
              <a:solidFill>
                <a:srgbClr val="1F497D"/>
              </a:solidFill>
              <a:effectLst/>
              <a:uLnTx/>
              <a:uFillTx/>
              <a:latin typeface="Yu Gothic"/>
              <a:ea typeface="Yu Gothic"/>
              <a:cs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2000" b="1" i="0" u="none" strike="noStrike" kern="0" cap="none" spc="0" normalizeH="0" baseline="0" noProof="0">
                <a:ln>
                  <a:noFill/>
                </a:ln>
                <a:solidFill>
                  <a:srgbClr val="1F497D"/>
                </a:solidFill>
                <a:effectLst/>
                <a:uLnTx/>
                <a:uFillTx/>
                <a:latin typeface="Yu Gothic" panose="020B0400000000000000" pitchFamily="34" charset="-128"/>
                <a:ea typeface="Yu Gothic" panose="020B0400000000000000" pitchFamily="34" charset="-128"/>
                <a:cs typeface="Arial"/>
                <a:sym typeface="Arial"/>
              </a:rPr>
              <a:t>実際に訪問してお話を伺い、行政の目線から見た問題について共有いただ</a:t>
            </a:r>
            <a:r>
              <a:rPr kumimoji="1" lang="ja-JP" altLang="en-US" sz="2000" b="1">
                <a:solidFill>
                  <a:srgbClr val="1F497D"/>
                </a:solidFill>
                <a:latin typeface="Yu Gothic" panose="020B0400000000000000" pitchFamily="34" charset="-128"/>
                <a:ea typeface="Yu Gothic" panose="020B0400000000000000" pitchFamily="34" charset="-128"/>
              </a:rPr>
              <a:t>く予定です。</a:t>
            </a:r>
            <a:endParaRPr kumimoji="1" lang="en-US" altLang="ja-JP" sz="2000" b="1" i="0" u="none" strike="noStrike" kern="0" cap="none" spc="0" normalizeH="0" baseline="0" noProof="0">
              <a:ln>
                <a:noFill/>
              </a:ln>
              <a:solidFill>
                <a:srgbClr val="1F497D"/>
              </a:solidFill>
              <a:effectLst/>
              <a:uLnTx/>
              <a:uFillTx/>
              <a:latin typeface="Yu Gothic" panose="020B0400000000000000" pitchFamily="34" charset="-128"/>
              <a:ea typeface="Yu Gothic" panose="020B0400000000000000" pitchFamily="34" charset="-128"/>
              <a:cs typeface="Arial"/>
              <a:sym typeface="Arial"/>
            </a:endParaRPr>
          </a:p>
        </p:txBody>
      </p:sp>
      <p:pic>
        <p:nvPicPr>
          <p:cNvPr id="6" name="Picture 5">
            <a:extLst>
              <a:ext uri="{FF2B5EF4-FFF2-40B4-BE49-F238E27FC236}">
                <a16:creationId xmlns:a16="http://schemas.microsoft.com/office/drawing/2014/main" id="{B1E66193-F436-54FC-81EC-FD56DC4AA675}"/>
              </a:ext>
            </a:extLst>
          </p:cNvPr>
          <p:cNvPicPr>
            <a:picLocks noChangeAspect="1"/>
          </p:cNvPicPr>
          <p:nvPr/>
        </p:nvPicPr>
        <p:blipFill>
          <a:blip r:embed="rId3"/>
          <a:stretch>
            <a:fillRect/>
          </a:stretch>
        </p:blipFill>
        <p:spPr>
          <a:xfrm>
            <a:off x="8437496" y="831105"/>
            <a:ext cx="2463801" cy="2190751"/>
          </a:xfrm>
          <a:prstGeom prst="rect">
            <a:avLst/>
          </a:prstGeom>
        </p:spPr>
      </p:pic>
      <p:pic>
        <p:nvPicPr>
          <p:cNvPr id="7" name="Picture 6">
            <a:extLst>
              <a:ext uri="{FF2B5EF4-FFF2-40B4-BE49-F238E27FC236}">
                <a16:creationId xmlns:a16="http://schemas.microsoft.com/office/drawing/2014/main" id="{4F395A1E-7B40-7C3A-3049-2B9EDFEC1FEC}"/>
              </a:ext>
            </a:extLst>
          </p:cNvPr>
          <p:cNvPicPr>
            <a:picLocks noChangeAspect="1"/>
          </p:cNvPicPr>
          <p:nvPr/>
        </p:nvPicPr>
        <p:blipFill>
          <a:blip r:embed="rId4"/>
          <a:stretch>
            <a:fillRect/>
          </a:stretch>
        </p:blipFill>
        <p:spPr>
          <a:xfrm>
            <a:off x="8098829" y="3481113"/>
            <a:ext cx="3138488" cy="2028826"/>
          </a:xfrm>
          <a:prstGeom prst="rect">
            <a:avLst/>
          </a:prstGeom>
        </p:spPr>
      </p:pic>
    </p:spTree>
    <p:extLst>
      <p:ext uri="{BB962C8B-B14F-4D97-AF65-F5344CB8AC3E}">
        <p14:creationId xmlns:p14="http://schemas.microsoft.com/office/powerpoint/2010/main" val="2017974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6010-3A9C-40F3-7F9D-6E48EB2259BD}"/>
              </a:ext>
            </a:extLst>
          </p:cNvPr>
          <p:cNvSpPr>
            <a:spLocks noGrp="1"/>
          </p:cNvSpPr>
          <p:nvPr>
            <p:ph type="title"/>
          </p:nvPr>
        </p:nvSpPr>
        <p:spPr/>
        <p:txBody>
          <a:bodyPr/>
          <a:lstStyle/>
          <a:p>
            <a:r>
              <a:rPr lang="ja-JP" altLang="ja-JP"/>
              <a:t>第５章　地域連携先</a:t>
            </a:r>
            <a:endParaRPr lang="en-US"/>
          </a:p>
        </p:txBody>
      </p:sp>
      <p:sp>
        <p:nvSpPr>
          <p:cNvPr id="3" name="Slide Number Placeholder 2">
            <a:extLst>
              <a:ext uri="{FF2B5EF4-FFF2-40B4-BE49-F238E27FC236}">
                <a16:creationId xmlns:a16="http://schemas.microsoft.com/office/drawing/2014/main" id="{39114450-BDFB-FE2C-1F77-AA09298E0F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a:t>17</a:t>
            </a:fld>
            <a:endParaRPr lang="en-US"/>
          </a:p>
        </p:txBody>
      </p:sp>
      <p:pic>
        <p:nvPicPr>
          <p:cNvPr id="5" name="Picture 4">
            <a:extLst>
              <a:ext uri="{FF2B5EF4-FFF2-40B4-BE49-F238E27FC236}">
                <a16:creationId xmlns:a16="http://schemas.microsoft.com/office/drawing/2014/main" id="{D00F1702-4EDE-7C3C-2B18-9BE3A62FF452}"/>
              </a:ext>
            </a:extLst>
          </p:cNvPr>
          <p:cNvPicPr>
            <a:picLocks noChangeAspect="1"/>
          </p:cNvPicPr>
          <p:nvPr/>
        </p:nvPicPr>
        <p:blipFill>
          <a:blip r:embed="rId2"/>
          <a:srcRect l="17358" t="24874" r="11698" b="29397"/>
          <a:stretch/>
        </p:blipFill>
        <p:spPr>
          <a:xfrm>
            <a:off x="4410363" y="3773323"/>
            <a:ext cx="2934097" cy="1459441"/>
          </a:xfrm>
          <a:prstGeom prst="rect">
            <a:avLst/>
          </a:prstGeom>
        </p:spPr>
      </p:pic>
      <p:pic>
        <p:nvPicPr>
          <p:cNvPr id="6" name="図 5" descr="建物の前の道路標識&#10;&#10;AI 生成コンテンツは間違っている可能性があります。">
            <a:extLst>
              <a:ext uri="{FF2B5EF4-FFF2-40B4-BE49-F238E27FC236}">
                <a16:creationId xmlns:a16="http://schemas.microsoft.com/office/drawing/2014/main" id="{73D842FC-9AA4-4A99-1D2C-3F9CCD68F99D}"/>
              </a:ext>
            </a:extLst>
          </p:cNvPr>
          <p:cNvPicPr>
            <a:picLocks noChangeAspect="1"/>
          </p:cNvPicPr>
          <p:nvPr/>
        </p:nvPicPr>
        <p:blipFill>
          <a:blip r:embed="rId3"/>
          <a:srcRect l="12903" t="3240" r="-569" b="23647"/>
          <a:stretch/>
        </p:blipFill>
        <p:spPr>
          <a:xfrm>
            <a:off x="7478230" y="3072033"/>
            <a:ext cx="4601307" cy="2558851"/>
          </a:xfrm>
          <a:prstGeom prst="rect">
            <a:avLst/>
          </a:prstGeom>
        </p:spPr>
      </p:pic>
      <p:sp>
        <p:nvSpPr>
          <p:cNvPr id="7" name="TextBox 6">
            <a:extLst>
              <a:ext uri="{FF2B5EF4-FFF2-40B4-BE49-F238E27FC236}">
                <a16:creationId xmlns:a16="http://schemas.microsoft.com/office/drawing/2014/main" id="{6B7D65C1-17CD-67CA-543B-4E43F8CA5271}"/>
              </a:ext>
            </a:extLst>
          </p:cNvPr>
          <p:cNvSpPr txBox="1"/>
          <p:nvPr/>
        </p:nvSpPr>
        <p:spPr>
          <a:xfrm>
            <a:off x="257624" y="499084"/>
            <a:ext cx="4921673" cy="46166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400"/>
              <a:t>佐世保高専・鈴鹿高専の共同申請</a:t>
            </a:r>
            <a:endParaRPr lang="en-US" sz="2400"/>
          </a:p>
        </p:txBody>
      </p:sp>
      <p:pic>
        <p:nvPicPr>
          <p:cNvPr id="9" name="図 8">
            <a:extLst>
              <a:ext uri="{FF2B5EF4-FFF2-40B4-BE49-F238E27FC236}">
                <a16:creationId xmlns:a16="http://schemas.microsoft.com/office/drawing/2014/main" id="{AD573A1A-E393-C599-B4D9-00A39FD53881}"/>
              </a:ext>
            </a:extLst>
          </p:cNvPr>
          <p:cNvPicPr>
            <a:picLocks noChangeAspect="1"/>
          </p:cNvPicPr>
          <p:nvPr/>
        </p:nvPicPr>
        <p:blipFill>
          <a:blip r:embed="rId4"/>
          <a:srcRect l="-1768" r="-298" b="-441"/>
          <a:stretch/>
        </p:blipFill>
        <p:spPr>
          <a:xfrm>
            <a:off x="257625" y="3077489"/>
            <a:ext cx="3894189" cy="2553395"/>
          </a:xfrm>
          <a:prstGeom prst="rect">
            <a:avLst/>
          </a:prstGeom>
        </p:spPr>
      </p:pic>
      <p:pic>
        <p:nvPicPr>
          <p:cNvPr id="10" name="グラフィックス 9" descr="握手 単色塗りつぶし">
            <a:extLst>
              <a:ext uri="{FF2B5EF4-FFF2-40B4-BE49-F238E27FC236}">
                <a16:creationId xmlns:a16="http://schemas.microsoft.com/office/drawing/2014/main" id="{2EBB0D36-739B-8075-3F0C-6B420F06B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5528" y="1685051"/>
            <a:ext cx="1538987" cy="1538987"/>
          </a:xfrm>
          <a:prstGeom prst="rect">
            <a:avLst/>
          </a:prstGeom>
        </p:spPr>
      </p:pic>
      <p:pic>
        <p:nvPicPr>
          <p:cNvPr id="11" name="図 10">
            <a:extLst>
              <a:ext uri="{FF2B5EF4-FFF2-40B4-BE49-F238E27FC236}">
                <a16:creationId xmlns:a16="http://schemas.microsoft.com/office/drawing/2014/main" id="{31BE0F6B-F7F4-D6FC-782B-B64DA64252F3}"/>
              </a:ext>
            </a:extLst>
          </p:cNvPr>
          <p:cNvPicPr>
            <a:picLocks noChangeAspect="1"/>
          </p:cNvPicPr>
          <p:nvPr/>
        </p:nvPicPr>
        <p:blipFill>
          <a:blip r:embed="rId7"/>
          <a:stretch>
            <a:fillRect/>
          </a:stretch>
        </p:blipFill>
        <p:spPr>
          <a:xfrm>
            <a:off x="3244598" y="1100430"/>
            <a:ext cx="1270506" cy="1574323"/>
          </a:xfrm>
          <a:prstGeom prst="rect">
            <a:avLst/>
          </a:prstGeom>
        </p:spPr>
      </p:pic>
      <p:pic>
        <p:nvPicPr>
          <p:cNvPr id="12" name="図 11">
            <a:extLst>
              <a:ext uri="{FF2B5EF4-FFF2-40B4-BE49-F238E27FC236}">
                <a16:creationId xmlns:a16="http://schemas.microsoft.com/office/drawing/2014/main" id="{F096BE95-0E54-BC35-0D41-9CE2E298A258}"/>
              </a:ext>
            </a:extLst>
          </p:cNvPr>
          <p:cNvPicPr>
            <a:picLocks noChangeAspect="1"/>
          </p:cNvPicPr>
          <p:nvPr/>
        </p:nvPicPr>
        <p:blipFill>
          <a:blip r:embed="rId8"/>
          <a:srcRect l="8140" t="10642" r="6836" b="3213"/>
          <a:stretch/>
        </p:blipFill>
        <p:spPr>
          <a:xfrm>
            <a:off x="7012703" y="1267209"/>
            <a:ext cx="1771650" cy="1373149"/>
          </a:xfrm>
          <a:prstGeom prst="rect">
            <a:avLst/>
          </a:prstGeom>
        </p:spPr>
      </p:pic>
    </p:spTree>
    <p:extLst>
      <p:ext uri="{BB962C8B-B14F-4D97-AF65-F5344CB8AC3E}">
        <p14:creationId xmlns:p14="http://schemas.microsoft.com/office/powerpoint/2010/main" val="2323977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16F0353F-2E9E-0668-3D57-34234F6E7438}"/>
            </a:ext>
          </a:extLst>
        </p:cNvPr>
        <p:cNvGrpSpPr/>
        <p:nvPr/>
      </p:nvGrpSpPr>
      <p:grpSpPr>
        <a:xfrm>
          <a:off x="0" y="0"/>
          <a:ext cx="0" cy="0"/>
          <a:chOff x="0" y="0"/>
          <a:chExt cx="0" cy="0"/>
        </a:xfrm>
      </p:grpSpPr>
      <p:sp>
        <p:nvSpPr>
          <p:cNvPr id="274" name="Google Shape;274;p14">
            <a:extLst>
              <a:ext uri="{FF2B5EF4-FFF2-40B4-BE49-F238E27FC236}">
                <a16:creationId xmlns:a16="http://schemas.microsoft.com/office/drawing/2014/main" id="{7D5F22A7-6D97-0FBD-8198-B86D285C119E}"/>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75" name="Google Shape;275;p14">
            <a:extLst>
              <a:ext uri="{FF2B5EF4-FFF2-40B4-BE49-F238E27FC236}">
                <a16:creationId xmlns:a16="http://schemas.microsoft.com/office/drawing/2014/main" id="{E2C1BD63-B1F9-BB81-91A7-E7286872025C}"/>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第６章　近い将来の製品化又はサービス化の計画</a:t>
            </a:r>
            <a:endParaRPr/>
          </a:p>
        </p:txBody>
      </p:sp>
      <p:sp>
        <p:nvSpPr>
          <p:cNvPr id="2" name="テキスト ボックス 1">
            <a:extLst>
              <a:ext uri="{FF2B5EF4-FFF2-40B4-BE49-F238E27FC236}">
                <a16:creationId xmlns:a16="http://schemas.microsoft.com/office/drawing/2014/main" id="{19381054-864B-3CCC-9A84-250307E4381B}"/>
              </a:ext>
            </a:extLst>
          </p:cNvPr>
          <p:cNvSpPr txBox="1"/>
          <p:nvPr/>
        </p:nvSpPr>
        <p:spPr>
          <a:xfrm>
            <a:off x="293382" y="527155"/>
            <a:ext cx="7669518" cy="461665"/>
          </a:xfrm>
          <a:prstGeom prst="rect">
            <a:avLst/>
          </a:prstGeom>
          <a:noFill/>
          <a:ln w="38100">
            <a:solidFill>
              <a:schemeClr val="bg2">
                <a:lumMod val="60000"/>
                <a:lumOff val="40000"/>
              </a:schemeClr>
            </a:solidFill>
          </a:ln>
        </p:spPr>
        <p:txBody>
          <a:bodyPr wrap="square" rtlCol="0">
            <a:spAutoFit/>
          </a:bodyPr>
          <a:lstStyle/>
          <a:p>
            <a:r>
              <a:rPr kumimoji="1" lang="ja-JP" altLang="en-US" sz="2400">
                <a:solidFill>
                  <a:schemeClr val="bg2">
                    <a:lumMod val="60000"/>
                    <a:lumOff val="40000"/>
                  </a:schemeClr>
                </a:solidFill>
              </a:rPr>
              <a:t>水中金属障害物探査ソリューション 　ビジネスモデル</a:t>
            </a:r>
          </a:p>
        </p:txBody>
      </p:sp>
      <p:grpSp>
        <p:nvGrpSpPr>
          <p:cNvPr id="10" name="グループ化 9">
            <a:extLst>
              <a:ext uri="{FF2B5EF4-FFF2-40B4-BE49-F238E27FC236}">
                <a16:creationId xmlns:a16="http://schemas.microsoft.com/office/drawing/2014/main" id="{F2366689-032C-7E96-4A85-33887D9DF8A1}"/>
              </a:ext>
            </a:extLst>
          </p:cNvPr>
          <p:cNvGrpSpPr/>
          <p:nvPr/>
        </p:nvGrpSpPr>
        <p:grpSpPr>
          <a:xfrm>
            <a:off x="293382" y="1159856"/>
            <a:ext cx="11555719" cy="1667641"/>
            <a:chOff x="293382" y="1159856"/>
            <a:chExt cx="10380001" cy="1184411"/>
          </a:xfrm>
        </p:grpSpPr>
        <p:sp>
          <p:nvSpPr>
            <p:cNvPr id="7" name="テキスト ボックス 6">
              <a:extLst>
                <a:ext uri="{FF2B5EF4-FFF2-40B4-BE49-F238E27FC236}">
                  <a16:creationId xmlns:a16="http://schemas.microsoft.com/office/drawing/2014/main" id="{03377323-5884-0EB0-D454-0EBD7EA9A92B}"/>
                </a:ext>
              </a:extLst>
            </p:cNvPr>
            <p:cNvSpPr txBox="1"/>
            <p:nvPr/>
          </p:nvSpPr>
          <p:spPr>
            <a:xfrm>
              <a:off x="5348194" y="1159856"/>
              <a:ext cx="5325189" cy="838707"/>
            </a:xfrm>
            <a:prstGeom prst="rect">
              <a:avLst/>
            </a:prstGeom>
            <a:noFill/>
          </p:spPr>
          <p:txBody>
            <a:bodyPr wrap="square">
              <a:spAutoFit/>
            </a:bodyPr>
            <a:lstStyle/>
            <a:p>
              <a:r>
                <a:rPr lang="en-US" altLang="ja-JP" sz="1800"/>
                <a:t>【</a:t>
              </a:r>
              <a:r>
                <a:rPr lang="ja-JP" altLang="en-US" sz="1800"/>
                <a:t>提供する価値</a:t>
              </a:r>
              <a:r>
                <a:rPr lang="en-US" altLang="ja-JP" sz="1800"/>
                <a:t>】</a:t>
              </a:r>
            </a:p>
            <a:p>
              <a:r>
                <a:rPr lang="ja-JP" altLang="en-US" sz="1800"/>
                <a:t>✅ 人手をかけずに、広範囲の海底金属障害物を可視化</a:t>
              </a:r>
            </a:p>
            <a:p>
              <a:r>
                <a:rPr lang="ja-JP" altLang="en-US" sz="1800"/>
                <a:t>✅ 障害物の形状確認で、判断・対応・安全確認</a:t>
              </a:r>
            </a:p>
            <a:p>
              <a:r>
                <a:rPr lang="ja-JP" altLang="en-US" sz="1800"/>
                <a:t>✅ 安価なオンデマンド探査、または定額利用モデル</a:t>
              </a:r>
            </a:p>
            <a:p>
              <a:r>
                <a:rPr lang="ja-JP" altLang="en-US" sz="1800"/>
                <a:t>✅ 環境リスク管理、事故防止、資源保護に貢献</a:t>
              </a:r>
            </a:p>
          </p:txBody>
        </p:sp>
        <p:sp>
          <p:nvSpPr>
            <p:cNvPr id="12" name="テキスト ボックス 11">
              <a:extLst>
                <a:ext uri="{FF2B5EF4-FFF2-40B4-BE49-F238E27FC236}">
                  <a16:creationId xmlns:a16="http://schemas.microsoft.com/office/drawing/2014/main" id="{F3FE7232-6904-4A42-C2A8-413E77EEA8D7}"/>
                </a:ext>
              </a:extLst>
            </p:cNvPr>
            <p:cNvSpPr txBox="1"/>
            <p:nvPr/>
          </p:nvSpPr>
          <p:spPr>
            <a:xfrm>
              <a:off x="293382" y="1159856"/>
              <a:ext cx="5821420" cy="838707"/>
            </a:xfrm>
            <a:prstGeom prst="rect">
              <a:avLst/>
            </a:prstGeom>
            <a:noFill/>
          </p:spPr>
          <p:txBody>
            <a:bodyPr wrap="square">
              <a:spAutoFit/>
            </a:bodyPr>
            <a:lstStyle/>
            <a:p>
              <a:r>
                <a:rPr lang="en-US" altLang="ja-JP" sz="1800"/>
                <a:t>【</a:t>
              </a:r>
              <a:r>
                <a:rPr lang="ja-JP" altLang="en-US" sz="1800"/>
                <a:t>ターゲット市場</a:t>
              </a:r>
              <a:r>
                <a:rPr lang="en-US" altLang="ja-JP" sz="1800"/>
                <a:t>】</a:t>
              </a:r>
            </a:p>
            <a:p>
              <a:r>
                <a:rPr lang="ja-JP" altLang="en-US" sz="1800"/>
                <a:t>・漁業・養殖業者（湾内・沿岸部の利用者）</a:t>
              </a:r>
            </a:p>
            <a:p>
              <a:r>
                <a:rPr lang="ja-JP" altLang="en-US" sz="1800"/>
                <a:t>・港湾管理者（港の安全確保・インフラ管理）</a:t>
              </a:r>
            </a:p>
            <a:p>
              <a:r>
                <a:rPr lang="ja-JP" altLang="en-US" sz="1800"/>
                <a:t>・地方自治体・漁協（環境保全・観光資源保護）</a:t>
              </a:r>
            </a:p>
            <a:p>
              <a:r>
                <a:rPr lang="ja-JP" altLang="en-US" sz="1800"/>
                <a:t>・海水浴場・リゾート（落とし物探査・安全管理）</a:t>
              </a:r>
            </a:p>
          </p:txBody>
        </p:sp>
        <p:sp>
          <p:nvSpPr>
            <p:cNvPr id="26" name="四角形: 角を丸くする 25">
              <a:extLst>
                <a:ext uri="{FF2B5EF4-FFF2-40B4-BE49-F238E27FC236}">
                  <a16:creationId xmlns:a16="http://schemas.microsoft.com/office/drawing/2014/main" id="{5E910F01-6730-5D7B-F4D9-A24836637634}"/>
                </a:ext>
              </a:extLst>
            </p:cNvPr>
            <p:cNvSpPr/>
            <p:nvPr/>
          </p:nvSpPr>
          <p:spPr>
            <a:xfrm>
              <a:off x="293382" y="1159856"/>
              <a:ext cx="10258504" cy="1184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422716AC-2DF9-7C9E-7091-CC7618EEEDD5}"/>
              </a:ext>
            </a:extLst>
          </p:cNvPr>
          <p:cNvGrpSpPr/>
          <p:nvPr/>
        </p:nvGrpSpPr>
        <p:grpSpPr>
          <a:xfrm>
            <a:off x="579120" y="3108961"/>
            <a:ext cx="10858655" cy="3467578"/>
            <a:chOff x="716983" y="3428999"/>
            <a:chExt cx="10659832" cy="3144482"/>
          </a:xfrm>
        </p:grpSpPr>
        <p:sp>
          <p:nvSpPr>
            <p:cNvPr id="6" name="六角形 5">
              <a:extLst>
                <a:ext uri="{FF2B5EF4-FFF2-40B4-BE49-F238E27FC236}">
                  <a16:creationId xmlns:a16="http://schemas.microsoft.com/office/drawing/2014/main" id="{EC1CA005-0D0B-DE36-3CD9-54A3BC0BF123}"/>
                </a:ext>
              </a:extLst>
            </p:cNvPr>
            <p:cNvSpPr/>
            <p:nvPr/>
          </p:nvSpPr>
          <p:spPr>
            <a:xfrm>
              <a:off x="7962900" y="3428999"/>
              <a:ext cx="3413915" cy="3144482"/>
            </a:xfrm>
            <a:prstGeom prst="hexagon">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六角形 4">
              <a:extLst>
                <a:ext uri="{FF2B5EF4-FFF2-40B4-BE49-F238E27FC236}">
                  <a16:creationId xmlns:a16="http://schemas.microsoft.com/office/drawing/2014/main" id="{B51DFA82-58A6-A4D4-437A-D1923824EA84}"/>
                </a:ext>
              </a:extLst>
            </p:cNvPr>
            <p:cNvSpPr/>
            <p:nvPr/>
          </p:nvSpPr>
          <p:spPr>
            <a:xfrm>
              <a:off x="4348483" y="3428999"/>
              <a:ext cx="3413915" cy="3144482"/>
            </a:xfrm>
            <a:prstGeom prst="hexagon">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六角形 12">
              <a:extLst>
                <a:ext uri="{FF2B5EF4-FFF2-40B4-BE49-F238E27FC236}">
                  <a16:creationId xmlns:a16="http://schemas.microsoft.com/office/drawing/2014/main" id="{0DE7F5FF-5A99-BE2E-96F5-BE19701007C0}"/>
                </a:ext>
              </a:extLst>
            </p:cNvPr>
            <p:cNvSpPr/>
            <p:nvPr/>
          </p:nvSpPr>
          <p:spPr>
            <a:xfrm>
              <a:off x="716983" y="3428999"/>
              <a:ext cx="3413915" cy="3144481"/>
            </a:xfrm>
            <a:prstGeom prst="hexag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96066C7-E680-7790-7401-2519F7A2BD56}"/>
                </a:ext>
              </a:extLst>
            </p:cNvPr>
            <p:cNvSpPr txBox="1"/>
            <p:nvPr/>
          </p:nvSpPr>
          <p:spPr>
            <a:xfrm>
              <a:off x="980775" y="4674678"/>
              <a:ext cx="2923176" cy="641928"/>
            </a:xfrm>
            <a:prstGeom prst="rect">
              <a:avLst/>
            </a:prstGeom>
            <a:noFill/>
            <a:ln w="38100">
              <a:solidFill>
                <a:schemeClr val="tx1"/>
              </a:solidFill>
            </a:ln>
          </p:spPr>
          <p:txBody>
            <a:bodyPr wrap="square">
              <a:spAutoFit/>
            </a:bodyPr>
            <a:lstStyle/>
            <a:p>
              <a:pPr algn="ctr"/>
              <a:r>
                <a:rPr lang="ja-JP" altLang="en-US" sz="2000"/>
                <a:t>希望範囲内の探査</a:t>
              </a:r>
              <a:endParaRPr lang="en-US" altLang="ja-JP" sz="2000"/>
            </a:p>
            <a:p>
              <a:r>
                <a:rPr lang="ja-JP" altLang="en-US" sz="2000"/>
                <a:t>マッピングデータの提供</a:t>
              </a:r>
            </a:p>
          </p:txBody>
        </p:sp>
        <p:sp>
          <p:nvSpPr>
            <p:cNvPr id="22" name="テキスト ボックス 21">
              <a:extLst>
                <a:ext uri="{FF2B5EF4-FFF2-40B4-BE49-F238E27FC236}">
                  <a16:creationId xmlns:a16="http://schemas.microsoft.com/office/drawing/2014/main" id="{5AB71539-AA8C-2960-5874-6B59BE295769}"/>
                </a:ext>
              </a:extLst>
            </p:cNvPr>
            <p:cNvSpPr txBox="1"/>
            <p:nvPr/>
          </p:nvSpPr>
          <p:spPr>
            <a:xfrm>
              <a:off x="8339064" y="4688134"/>
              <a:ext cx="2646030" cy="641928"/>
            </a:xfrm>
            <a:prstGeom prst="rect">
              <a:avLst/>
            </a:prstGeom>
            <a:noFill/>
            <a:ln w="38100">
              <a:solidFill>
                <a:schemeClr val="tx1"/>
              </a:solidFill>
            </a:ln>
          </p:spPr>
          <p:txBody>
            <a:bodyPr wrap="square">
              <a:spAutoFit/>
            </a:bodyPr>
            <a:lstStyle/>
            <a:p>
              <a:pPr algn="ctr"/>
              <a:r>
                <a:rPr lang="ja-JP" altLang="en-US" sz="2000"/>
                <a:t>ドローン＆クラウド利用権提供（月額）</a:t>
              </a:r>
            </a:p>
          </p:txBody>
        </p:sp>
        <p:sp>
          <p:nvSpPr>
            <p:cNvPr id="23" name="テキスト ボックス 22">
              <a:extLst>
                <a:ext uri="{FF2B5EF4-FFF2-40B4-BE49-F238E27FC236}">
                  <a16:creationId xmlns:a16="http://schemas.microsoft.com/office/drawing/2014/main" id="{4AA746ED-4235-1CB5-EB41-7A76FC196F66}"/>
                </a:ext>
              </a:extLst>
            </p:cNvPr>
            <p:cNvSpPr txBox="1"/>
            <p:nvPr/>
          </p:nvSpPr>
          <p:spPr>
            <a:xfrm>
              <a:off x="4634329" y="4674678"/>
              <a:ext cx="2842221" cy="641928"/>
            </a:xfrm>
            <a:prstGeom prst="rect">
              <a:avLst/>
            </a:prstGeom>
            <a:noFill/>
            <a:ln w="38100">
              <a:solidFill>
                <a:schemeClr val="tx1"/>
              </a:solidFill>
            </a:ln>
          </p:spPr>
          <p:txBody>
            <a:bodyPr wrap="square">
              <a:spAutoFit/>
            </a:bodyPr>
            <a:lstStyle/>
            <a:p>
              <a:pPr algn="ctr"/>
              <a:r>
                <a:rPr lang="ja-JP" altLang="en-US" sz="2000"/>
                <a:t>目標物発見ごとに</a:t>
              </a:r>
              <a:endParaRPr lang="en-US" altLang="ja-JP" sz="2000"/>
            </a:p>
            <a:p>
              <a:pPr algn="ctr"/>
              <a:r>
                <a:rPr lang="ja-JP" altLang="en-US" sz="2000"/>
                <a:t>報酬加算</a:t>
              </a:r>
            </a:p>
          </p:txBody>
        </p:sp>
        <p:sp>
          <p:nvSpPr>
            <p:cNvPr id="27" name="テキスト ボックス 26">
              <a:extLst>
                <a:ext uri="{FF2B5EF4-FFF2-40B4-BE49-F238E27FC236}">
                  <a16:creationId xmlns:a16="http://schemas.microsoft.com/office/drawing/2014/main" id="{48FAAF63-7667-B3C8-4939-3FE94A74A842}"/>
                </a:ext>
              </a:extLst>
            </p:cNvPr>
            <p:cNvSpPr txBox="1"/>
            <p:nvPr/>
          </p:nvSpPr>
          <p:spPr>
            <a:xfrm>
              <a:off x="808873" y="5677533"/>
              <a:ext cx="3095078" cy="753568"/>
            </a:xfrm>
            <a:prstGeom prst="rect">
              <a:avLst/>
            </a:prstGeom>
            <a:noFill/>
          </p:spPr>
          <p:txBody>
            <a:bodyPr wrap="square">
              <a:spAutoFit/>
            </a:bodyPr>
            <a:lstStyle/>
            <a:p>
              <a:pPr algn="ctr"/>
              <a:r>
                <a:rPr lang="ja-JP" altLang="en-US" b="1">
                  <a:latin typeface="游ゴシック" panose="020B0400000000000000" pitchFamily="50" charset="-128"/>
                  <a:ea typeface="游ゴシック" panose="020B0400000000000000" pitchFamily="50" charset="-128"/>
                </a:rPr>
                <a:t>　基本料金</a:t>
              </a:r>
              <a:r>
                <a:rPr lang="en-US" altLang="ja-JP" sz="2400" b="1">
                  <a:latin typeface="游ゴシック" panose="020B0400000000000000" pitchFamily="50" charset="-128"/>
                  <a:ea typeface="游ゴシック" panose="020B0400000000000000" pitchFamily="50" charset="-128"/>
                </a:rPr>
                <a:t>2</a:t>
              </a:r>
              <a:r>
                <a:rPr lang="ja-JP" altLang="en-US" sz="2400" b="1">
                  <a:latin typeface="游ゴシック" panose="020B0400000000000000" pitchFamily="50" charset="-128"/>
                  <a:ea typeface="游ゴシック" panose="020B0400000000000000" pitchFamily="50" charset="-128"/>
                </a:rPr>
                <a:t>万円</a:t>
              </a:r>
              <a:endParaRPr lang="en-US" altLang="ja-JP" sz="1800" b="1">
                <a:latin typeface="游ゴシック" panose="020B0400000000000000" pitchFamily="50" charset="-128"/>
                <a:ea typeface="游ゴシック" panose="020B0400000000000000" pitchFamily="50" charset="-128"/>
              </a:endParaRPr>
            </a:p>
            <a:p>
              <a:pPr algn="ctr"/>
              <a:r>
                <a:rPr lang="ja-JP" altLang="en-US" b="1">
                  <a:latin typeface="游ゴシック" panose="020B0400000000000000" pitchFamily="50" charset="-128"/>
                  <a:ea typeface="游ゴシック" panose="020B0400000000000000" pitchFamily="50" charset="-128"/>
                </a:rPr>
                <a:t>＋</a:t>
              </a:r>
              <a:r>
                <a:rPr lang="en-US" altLang="ja-JP" b="1">
                  <a:latin typeface="游ゴシック" panose="020B0400000000000000" pitchFamily="50" charset="-128"/>
                  <a:ea typeface="游ゴシック" panose="020B0400000000000000" pitchFamily="50" charset="-128"/>
                </a:rPr>
                <a:t>1a</a:t>
              </a:r>
              <a:r>
                <a:rPr lang="ja-JP" altLang="en-US" b="1">
                  <a:latin typeface="游ゴシック" panose="020B0400000000000000" pitchFamily="50" charset="-128"/>
                  <a:ea typeface="游ゴシック" panose="020B0400000000000000" pitchFamily="50" charset="-128"/>
                </a:rPr>
                <a:t>ごと</a:t>
              </a:r>
              <a:r>
                <a:rPr lang="en-US" altLang="ja-JP" sz="2400" b="1">
                  <a:latin typeface="游ゴシック" panose="020B0400000000000000" pitchFamily="50" charset="-128"/>
                  <a:ea typeface="游ゴシック" panose="020B0400000000000000" pitchFamily="50" charset="-128"/>
                </a:rPr>
                <a:t>2000</a:t>
              </a:r>
              <a:r>
                <a:rPr lang="ja-JP" altLang="en-US" sz="2400" b="1">
                  <a:latin typeface="游ゴシック" panose="020B0400000000000000" pitchFamily="50" charset="-128"/>
                  <a:ea typeface="游ゴシック" panose="020B0400000000000000" pitchFamily="50" charset="-128"/>
                </a:rPr>
                <a:t>円</a:t>
              </a:r>
              <a:endParaRPr lang="ja-JP" altLang="en-US" b="1">
                <a:latin typeface="游ゴシック" panose="020B0400000000000000" pitchFamily="50" charset="-128"/>
                <a:ea typeface="游ゴシック" panose="020B0400000000000000" pitchFamily="50" charset="-128"/>
              </a:endParaRPr>
            </a:p>
          </p:txBody>
        </p:sp>
        <p:sp>
          <p:nvSpPr>
            <p:cNvPr id="28" name="テキスト ボックス 27">
              <a:extLst>
                <a:ext uri="{FF2B5EF4-FFF2-40B4-BE49-F238E27FC236}">
                  <a16:creationId xmlns:a16="http://schemas.microsoft.com/office/drawing/2014/main" id="{8905F099-560D-FFF9-2FCA-2AEAD89DA639}"/>
                </a:ext>
              </a:extLst>
            </p:cNvPr>
            <p:cNvSpPr txBox="1"/>
            <p:nvPr/>
          </p:nvSpPr>
          <p:spPr>
            <a:xfrm>
              <a:off x="8114541" y="5734323"/>
              <a:ext cx="3095078" cy="418649"/>
            </a:xfrm>
            <a:prstGeom prst="rect">
              <a:avLst/>
            </a:prstGeom>
            <a:noFill/>
          </p:spPr>
          <p:txBody>
            <a:bodyPr wrap="square">
              <a:spAutoFit/>
            </a:bodyPr>
            <a:lstStyle/>
            <a:p>
              <a:pPr algn="ctr"/>
              <a:r>
                <a:rPr lang="ja-JP" altLang="en-US" b="1">
                  <a:latin typeface="游ゴシック" panose="020B0400000000000000" pitchFamily="50" charset="-128"/>
                  <a:ea typeface="游ゴシック" panose="020B0400000000000000" pitchFamily="50" charset="-128"/>
                </a:rPr>
                <a:t>　月額</a:t>
              </a:r>
              <a:r>
                <a:rPr lang="en-US" altLang="ja-JP" sz="2400" b="1">
                  <a:latin typeface="游ゴシック" panose="020B0400000000000000" pitchFamily="50" charset="-128"/>
                  <a:ea typeface="游ゴシック" panose="020B0400000000000000" pitchFamily="50" charset="-128"/>
                </a:rPr>
                <a:t>5</a:t>
              </a:r>
              <a:r>
                <a:rPr lang="ja-JP" altLang="en-US" sz="2400" b="1">
                  <a:latin typeface="游ゴシック" panose="020B0400000000000000" pitchFamily="50" charset="-128"/>
                  <a:ea typeface="游ゴシック" panose="020B0400000000000000" pitchFamily="50" charset="-128"/>
                </a:rPr>
                <a:t>万円～</a:t>
              </a:r>
              <a:endParaRPr lang="ja-JP" altLang="en-US" b="1">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0B61D0AD-5A18-017F-568B-FA3CD9C78B87}"/>
                </a:ext>
              </a:extLst>
            </p:cNvPr>
            <p:cNvSpPr txBox="1"/>
            <p:nvPr/>
          </p:nvSpPr>
          <p:spPr>
            <a:xfrm>
              <a:off x="4456072" y="5630727"/>
              <a:ext cx="3095078" cy="753568"/>
            </a:xfrm>
            <a:prstGeom prst="rect">
              <a:avLst/>
            </a:prstGeom>
            <a:noFill/>
          </p:spPr>
          <p:txBody>
            <a:bodyPr wrap="square">
              <a:spAutoFit/>
            </a:bodyPr>
            <a:lstStyle/>
            <a:p>
              <a:pPr algn="ctr"/>
              <a:r>
                <a:rPr lang="ja-JP" altLang="en-US" b="1">
                  <a:latin typeface="游ゴシック" panose="020B0400000000000000" pitchFamily="50" charset="-128"/>
                  <a:ea typeface="游ゴシック" panose="020B0400000000000000" pitchFamily="50" charset="-128"/>
                </a:rPr>
                <a:t>　</a:t>
              </a:r>
              <a:r>
                <a:rPr lang="zh-TW" altLang="en-US" b="1">
                  <a:latin typeface="游ゴシック" panose="020B0400000000000000" pitchFamily="50" charset="-128"/>
                  <a:ea typeface="游ゴシック" panose="020B0400000000000000" pitchFamily="50" charset="-128"/>
                </a:rPr>
                <a:t>基本料金</a:t>
              </a:r>
              <a:r>
                <a:rPr lang="en-US" altLang="zh-TW" sz="2400" b="1">
                  <a:latin typeface="游ゴシック" panose="020B0400000000000000" pitchFamily="50" charset="-128"/>
                  <a:ea typeface="游ゴシック" panose="020B0400000000000000" pitchFamily="50" charset="-128"/>
                </a:rPr>
                <a:t>3</a:t>
              </a:r>
              <a:r>
                <a:rPr lang="zh-TW" altLang="en-US" sz="2400" b="1">
                  <a:latin typeface="游ゴシック" panose="020B0400000000000000" pitchFamily="50" charset="-128"/>
                  <a:ea typeface="游ゴシック" panose="020B0400000000000000" pitchFamily="50" charset="-128"/>
                </a:rPr>
                <a:t>万円</a:t>
              </a:r>
              <a:endParaRPr lang="en-US" altLang="zh-TW" b="1">
                <a:latin typeface="游ゴシック" panose="020B0400000000000000" pitchFamily="50" charset="-128"/>
                <a:ea typeface="游ゴシック" panose="020B0400000000000000" pitchFamily="50" charset="-128"/>
              </a:endParaRPr>
            </a:p>
            <a:p>
              <a:pPr algn="ctr"/>
              <a:r>
                <a:rPr lang="zh-TW" altLang="en-US" b="1">
                  <a:latin typeface="游ゴシック" panose="020B0400000000000000" pitchFamily="50" charset="-128"/>
                  <a:ea typeface="游ゴシック" panose="020B0400000000000000" pitchFamily="50" charset="-128"/>
                </a:rPr>
                <a:t>＋発見</a:t>
              </a:r>
              <a:r>
                <a:rPr lang="en-US" altLang="zh-TW" b="1">
                  <a:latin typeface="游ゴシック" panose="020B0400000000000000" pitchFamily="50" charset="-128"/>
                  <a:ea typeface="游ゴシック" panose="020B0400000000000000" pitchFamily="50" charset="-128"/>
                </a:rPr>
                <a:t>1</a:t>
              </a:r>
              <a:r>
                <a:rPr lang="zh-TW" altLang="en-US" b="1">
                  <a:latin typeface="游ゴシック" panose="020B0400000000000000" pitchFamily="50" charset="-128"/>
                  <a:ea typeface="游ゴシック" panose="020B0400000000000000" pitchFamily="50" charset="-128"/>
                </a:rPr>
                <a:t>件</a:t>
              </a:r>
              <a:r>
                <a:rPr lang="en-US" altLang="zh-TW" sz="2400" b="1">
                  <a:latin typeface="游ゴシック" panose="020B0400000000000000" pitchFamily="50" charset="-128"/>
                  <a:ea typeface="游ゴシック" panose="020B0400000000000000" pitchFamily="50" charset="-128"/>
                </a:rPr>
                <a:t>2</a:t>
              </a:r>
              <a:r>
                <a:rPr lang="zh-TW" altLang="en-US" sz="2400" b="1">
                  <a:latin typeface="游ゴシック" panose="020B0400000000000000" pitchFamily="50" charset="-128"/>
                  <a:ea typeface="游ゴシック" panose="020B0400000000000000" pitchFamily="50" charset="-128"/>
                </a:rPr>
                <a:t>万円</a:t>
              </a:r>
              <a:endParaRPr lang="ja-JP" altLang="en-US" b="1">
                <a:latin typeface="游ゴシック" panose="020B0400000000000000" pitchFamily="50" charset="-128"/>
                <a:ea typeface="游ゴシック" panose="020B0400000000000000" pitchFamily="50" charset="-128"/>
              </a:endParaRPr>
            </a:p>
          </p:txBody>
        </p:sp>
        <p:sp>
          <p:nvSpPr>
            <p:cNvPr id="41" name="台形 40">
              <a:extLst>
                <a:ext uri="{FF2B5EF4-FFF2-40B4-BE49-F238E27FC236}">
                  <a16:creationId xmlns:a16="http://schemas.microsoft.com/office/drawing/2014/main" id="{F095AC70-6978-6B3E-3325-FC218D461ADB}"/>
                </a:ext>
              </a:extLst>
            </p:cNvPr>
            <p:cNvSpPr/>
            <p:nvPr/>
          </p:nvSpPr>
          <p:spPr>
            <a:xfrm>
              <a:off x="1396646" y="3493458"/>
              <a:ext cx="2053772" cy="564412"/>
            </a:xfrm>
            <a:prstGeom prst="trapezoid">
              <a:avLst>
                <a:gd name="adj" fmla="val 488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DCDC73C-0DD0-6E2C-EFC4-2AD4052EF2A4}"/>
                </a:ext>
              </a:extLst>
            </p:cNvPr>
            <p:cNvSpPr txBox="1"/>
            <p:nvPr/>
          </p:nvSpPr>
          <p:spPr>
            <a:xfrm>
              <a:off x="1432733" y="3569728"/>
              <a:ext cx="2081472" cy="530288"/>
            </a:xfrm>
            <a:prstGeom prst="rect">
              <a:avLst/>
            </a:prstGeom>
            <a:noFill/>
          </p:spPr>
          <p:txBody>
            <a:bodyPr wrap="square">
              <a:spAutoFit/>
            </a:bodyPr>
            <a:lstStyle/>
            <a:p>
              <a:r>
                <a:rPr lang="ja-JP" altLang="en-US" sz="1600" b="1"/>
                <a:t>［</a:t>
              </a:r>
              <a:r>
                <a:rPr lang="ja-JP" altLang="en-US" sz="1600" b="1">
                  <a:highlight>
                    <a:srgbClr val="00FFFF"/>
                  </a:highlight>
                </a:rPr>
                <a:t>スポット探査型</a:t>
              </a:r>
              <a:r>
                <a:rPr lang="ja-JP" altLang="en-US" sz="1600" b="1"/>
                <a:t>］</a:t>
              </a:r>
              <a:endParaRPr lang="en-US" altLang="ja-JP" sz="1600" b="1"/>
            </a:p>
            <a:p>
              <a:pPr algn="ctr"/>
              <a:r>
                <a:rPr lang="en-US" altLang="ja-JP" sz="1600" b="1"/>
                <a:t>(</a:t>
              </a:r>
              <a:r>
                <a:rPr lang="ja-JP" altLang="en-US" sz="1600" b="1"/>
                <a:t>従量課金</a:t>
              </a:r>
              <a:r>
                <a:rPr lang="en-US" altLang="ja-JP" sz="1600" b="1"/>
                <a:t>)</a:t>
              </a:r>
              <a:endParaRPr lang="ja-JP" altLang="en-US" sz="1600" b="1"/>
            </a:p>
          </p:txBody>
        </p:sp>
        <p:sp>
          <p:nvSpPr>
            <p:cNvPr id="42" name="台形 41">
              <a:extLst>
                <a:ext uri="{FF2B5EF4-FFF2-40B4-BE49-F238E27FC236}">
                  <a16:creationId xmlns:a16="http://schemas.microsoft.com/office/drawing/2014/main" id="{A345F98B-9049-783F-A75D-C738204A9237}"/>
                </a:ext>
              </a:extLst>
            </p:cNvPr>
            <p:cNvSpPr/>
            <p:nvPr/>
          </p:nvSpPr>
          <p:spPr>
            <a:xfrm>
              <a:off x="8642972" y="3497737"/>
              <a:ext cx="2053772" cy="560132"/>
            </a:xfrm>
            <a:prstGeom prst="trapezoid">
              <a:avLst>
                <a:gd name="adj" fmla="val 488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台形 42">
              <a:extLst>
                <a:ext uri="{FF2B5EF4-FFF2-40B4-BE49-F238E27FC236}">
                  <a16:creationId xmlns:a16="http://schemas.microsoft.com/office/drawing/2014/main" id="{E93C6946-5F26-F059-B384-459F0B46E3F8}"/>
                </a:ext>
              </a:extLst>
            </p:cNvPr>
            <p:cNvSpPr/>
            <p:nvPr/>
          </p:nvSpPr>
          <p:spPr>
            <a:xfrm>
              <a:off x="5028554" y="3490205"/>
              <a:ext cx="2053772" cy="567664"/>
            </a:xfrm>
            <a:prstGeom prst="trapezoid">
              <a:avLst>
                <a:gd name="adj" fmla="val 488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B8FF95C9-9627-4932-8E97-683D72B42488}"/>
                </a:ext>
              </a:extLst>
            </p:cNvPr>
            <p:cNvSpPr txBox="1"/>
            <p:nvPr/>
          </p:nvSpPr>
          <p:spPr>
            <a:xfrm>
              <a:off x="5028554" y="3544689"/>
              <a:ext cx="2053772" cy="530288"/>
            </a:xfrm>
            <a:prstGeom prst="rect">
              <a:avLst/>
            </a:prstGeom>
            <a:noFill/>
          </p:spPr>
          <p:txBody>
            <a:bodyPr wrap="square">
              <a:spAutoFit/>
            </a:bodyPr>
            <a:lstStyle/>
            <a:p>
              <a:r>
                <a:rPr lang="ja-JP" altLang="en-US" sz="1600" b="1"/>
                <a:t>　［</a:t>
              </a:r>
              <a:r>
                <a:rPr lang="ja-JP" altLang="en-US" sz="1600" b="1">
                  <a:solidFill>
                    <a:schemeClr val="tx1"/>
                  </a:solidFill>
                  <a:highlight>
                    <a:srgbClr val="00FF00"/>
                  </a:highlight>
                </a:rPr>
                <a:t>成果報酬型</a:t>
              </a:r>
              <a:r>
                <a:rPr lang="ja-JP" altLang="en-US" sz="1600" b="1"/>
                <a:t>］</a:t>
              </a:r>
              <a:endParaRPr lang="en-US" altLang="ja-JP" sz="1600" b="1"/>
            </a:p>
            <a:p>
              <a:pPr algn="ctr"/>
              <a:r>
                <a:rPr lang="ja-JP" altLang="en-US" sz="1600" b="1"/>
                <a:t>（ターゲット特定）</a:t>
              </a:r>
            </a:p>
          </p:txBody>
        </p:sp>
        <p:sp>
          <p:nvSpPr>
            <p:cNvPr id="20" name="テキスト ボックス 19">
              <a:extLst>
                <a:ext uri="{FF2B5EF4-FFF2-40B4-BE49-F238E27FC236}">
                  <a16:creationId xmlns:a16="http://schemas.microsoft.com/office/drawing/2014/main" id="{2AF5BD4B-A76E-FD4A-1870-934AE0B6EB72}"/>
                </a:ext>
              </a:extLst>
            </p:cNvPr>
            <p:cNvSpPr txBox="1"/>
            <p:nvPr/>
          </p:nvSpPr>
          <p:spPr>
            <a:xfrm>
              <a:off x="8770547" y="3538112"/>
              <a:ext cx="1798621" cy="530288"/>
            </a:xfrm>
            <a:prstGeom prst="rect">
              <a:avLst/>
            </a:prstGeom>
            <a:noFill/>
          </p:spPr>
          <p:txBody>
            <a:bodyPr wrap="square">
              <a:spAutoFit/>
            </a:bodyPr>
            <a:lstStyle/>
            <a:p>
              <a:pPr algn="ctr"/>
              <a:r>
                <a:rPr lang="ja-JP" altLang="en-US" sz="1600" b="1"/>
                <a:t>［</a:t>
              </a:r>
              <a:r>
                <a:rPr lang="ja-JP" altLang="en-US" sz="1600" b="1">
                  <a:highlight>
                    <a:srgbClr val="FFFF00"/>
                  </a:highlight>
                </a:rPr>
                <a:t>サブスク型</a:t>
              </a:r>
              <a:r>
                <a:rPr lang="ja-JP" altLang="en-US" sz="1600" b="1"/>
                <a:t>］</a:t>
              </a:r>
              <a:endParaRPr lang="en-US" altLang="ja-JP" sz="1600" b="1"/>
            </a:p>
            <a:p>
              <a:pPr algn="ctr"/>
              <a:r>
                <a:rPr lang="ja-JP" altLang="en-US" sz="1600" b="1"/>
                <a:t>（ドローン貸出）</a:t>
              </a:r>
            </a:p>
          </p:txBody>
        </p:sp>
      </p:grpSp>
    </p:spTree>
    <p:extLst>
      <p:ext uri="{BB962C8B-B14F-4D97-AF65-F5344CB8AC3E}">
        <p14:creationId xmlns:p14="http://schemas.microsoft.com/office/powerpoint/2010/main" val="1839940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9E125C15-2E2F-CD45-642D-EDC7B76839B1}"/>
            </a:ext>
          </a:extLst>
        </p:cNvPr>
        <p:cNvGrpSpPr/>
        <p:nvPr/>
      </p:nvGrpSpPr>
      <p:grpSpPr>
        <a:xfrm>
          <a:off x="0" y="0"/>
          <a:ext cx="0" cy="0"/>
          <a:chOff x="0" y="0"/>
          <a:chExt cx="0" cy="0"/>
        </a:xfrm>
      </p:grpSpPr>
      <p:sp>
        <p:nvSpPr>
          <p:cNvPr id="274" name="Google Shape;274;p14">
            <a:extLst>
              <a:ext uri="{FF2B5EF4-FFF2-40B4-BE49-F238E27FC236}">
                <a16:creationId xmlns:a16="http://schemas.microsoft.com/office/drawing/2014/main" id="{35DB0EDA-693B-7987-3930-3D035E2391E3}"/>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75" name="Google Shape;275;p14">
            <a:extLst>
              <a:ext uri="{FF2B5EF4-FFF2-40B4-BE49-F238E27FC236}">
                <a16:creationId xmlns:a16="http://schemas.microsoft.com/office/drawing/2014/main" id="{25214AC0-1A99-EDDC-E755-2BDCF83775E5}"/>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dirty="0"/>
              <a:t>第６章　近い将来の製品化又はサービス化の計画</a:t>
            </a:r>
            <a:endParaRPr dirty="0"/>
          </a:p>
        </p:txBody>
      </p:sp>
      <p:sp>
        <p:nvSpPr>
          <p:cNvPr id="2" name="テキスト ボックス 1">
            <a:extLst>
              <a:ext uri="{FF2B5EF4-FFF2-40B4-BE49-F238E27FC236}">
                <a16:creationId xmlns:a16="http://schemas.microsoft.com/office/drawing/2014/main" id="{1EB278EB-76D3-39CB-B2EF-89505249A288}"/>
              </a:ext>
            </a:extLst>
          </p:cNvPr>
          <p:cNvSpPr txBox="1"/>
          <p:nvPr/>
        </p:nvSpPr>
        <p:spPr>
          <a:xfrm>
            <a:off x="293382" y="527155"/>
            <a:ext cx="7669518" cy="461665"/>
          </a:xfrm>
          <a:prstGeom prst="rect">
            <a:avLst/>
          </a:prstGeom>
          <a:noFill/>
          <a:ln w="38100">
            <a:solidFill>
              <a:schemeClr val="bg2">
                <a:lumMod val="60000"/>
                <a:lumOff val="40000"/>
              </a:schemeClr>
            </a:solidFill>
          </a:ln>
        </p:spPr>
        <p:txBody>
          <a:bodyPr wrap="square" rtlCol="0">
            <a:spAutoFit/>
          </a:bodyPr>
          <a:lstStyle/>
          <a:p>
            <a:r>
              <a:rPr kumimoji="1" lang="ja-JP" altLang="en-US" sz="2400">
                <a:solidFill>
                  <a:schemeClr val="bg2">
                    <a:lumMod val="60000"/>
                    <a:lumOff val="40000"/>
                  </a:schemeClr>
                </a:solidFill>
              </a:rPr>
              <a:t>水中金属障害物探査ソリューション 　ビジネスモデル</a:t>
            </a:r>
          </a:p>
        </p:txBody>
      </p:sp>
      <p:sp>
        <p:nvSpPr>
          <p:cNvPr id="3" name="テキスト ボックス 2">
            <a:extLst>
              <a:ext uri="{FF2B5EF4-FFF2-40B4-BE49-F238E27FC236}">
                <a16:creationId xmlns:a16="http://schemas.microsoft.com/office/drawing/2014/main" id="{CAC14D38-6F81-BAAC-08CB-2D014591D9E9}"/>
              </a:ext>
            </a:extLst>
          </p:cNvPr>
          <p:cNvSpPr txBox="1"/>
          <p:nvPr/>
        </p:nvSpPr>
        <p:spPr>
          <a:xfrm>
            <a:off x="293382" y="1272180"/>
            <a:ext cx="9384018" cy="2554545"/>
          </a:xfrm>
          <a:prstGeom prst="rect">
            <a:avLst/>
          </a:prstGeom>
          <a:noFill/>
        </p:spPr>
        <p:txBody>
          <a:bodyPr wrap="square">
            <a:spAutoFit/>
          </a:bodyPr>
          <a:lstStyle/>
          <a:p>
            <a:r>
              <a:rPr lang="en-US" altLang="ja-JP" sz="2000" b="1"/>
              <a:t>【</a:t>
            </a:r>
            <a:r>
              <a:rPr lang="ja-JP" altLang="en-US" sz="2000" b="1"/>
              <a:t>技術構成・差別化ポイント</a:t>
            </a:r>
            <a:r>
              <a:rPr lang="en-US" altLang="ja-JP" sz="2000" b="1"/>
              <a:t>】</a:t>
            </a:r>
          </a:p>
          <a:p>
            <a:r>
              <a:rPr lang="ja-JP" altLang="en-US" sz="2000"/>
              <a:t>・パルス渦電流センサ搭載水中ドローン → </a:t>
            </a:r>
            <a:r>
              <a:rPr lang="ja-JP" altLang="en-US" sz="2000" b="1">
                <a:solidFill>
                  <a:schemeClr val="tx1"/>
                </a:solidFill>
              </a:rPr>
              <a:t>海底濁りに影響されず</a:t>
            </a:r>
            <a:r>
              <a:rPr lang="ja-JP" altLang="en-US" sz="2000"/>
              <a:t>高精度探査</a:t>
            </a:r>
            <a:endParaRPr lang="en-US" altLang="ja-JP" sz="2000"/>
          </a:p>
          <a:p>
            <a:endParaRPr lang="ja-JP" altLang="en-US" sz="2000"/>
          </a:p>
          <a:p>
            <a:r>
              <a:rPr lang="ja-JP" altLang="en-US" sz="2000"/>
              <a:t>・専用ダッシュボードで簡単に現在地・探査状況を把握</a:t>
            </a:r>
            <a:endParaRPr lang="en-US" altLang="ja-JP" sz="2000"/>
          </a:p>
          <a:p>
            <a:endParaRPr lang="ja-JP" altLang="en-US" sz="2000"/>
          </a:p>
          <a:p>
            <a:r>
              <a:rPr lang="ja-JP" altLang="en-US" sz="2000"/>
              <a:t>・遠隔モニタリング対応 → 現地に人が張り付かなくて</a:t>
            </a:r>
            <a:r>
              <a:rPr lang="en-US" altLang="ja-JP" sz="2000"/>
              <a:t>OK</a:t>
            </a:r>
          </a:p>
          <a:p>
            <a:endParaRPr lang="en-US" altLang="ja-JP" sz="2000"/>
          </a:p>
          <a:p>
            <a:r>
              <a:rPr lang="ja-JP" altLang="en-US" sz="2000"/>
              <a:t>・低コスト＆スケーラブル運用が可能（ドローン隊による</a:t>
            </a:r>
            <a:r>
              <a:rPr lang="ja-JP" altLang="en-US" sz="2000" b="1"/>
              <a:t>複数並列探査</a:t>
            </a:r>
            <a:r>
              <a:rPr lang="ja-JP" altLang="en-US" sz="2000"/>
              <a:t>）</a:t>
            </a:r>
          </a:p>
        </p:txBody>
      </p:sp>
      <p:sp>
        <p:nvSpPr>
          <p:cNvPr id="4" name="四角形: メモ 3">
            <a:extLst>
              <a:ext uri="{FF2B5EF4-FFF2-40B4-BE49-F238E27FC236}">
                <a16:creationId xmlns:a16="http://schemas.microsoft.com/office/drawing/2014/main" id="{43889983-C31F-B1A8-A4CC-CB440AB86602}"/>
              </a:ext>
            </a:extLst>
          </p:cNvPr>
          <p:cNvSpPr/>
          <p:nvPr/>
        </p:nvSpPr>
        <p:spPr>
          <a:xfrm>
            <a:off x="293382" y="1172556"/>
            <a:ext cx="9974568" cy="3037494"/>
          </a:xfrm>
          <a:prstGeom prst="foldedCorner">
            <a:avLst>
              <a:gd name="adj" fmla="val 2632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Picture 16" descr="Technical Reference">
            <a:extLst>
              <a:ext uri="{FF2B5EF4-FFF2-40B4-BE49-F238E27FC236}">
                <a16:creationId xmlns:a16="http://schemas.microsoft.com/office/drawing/2014/main" id="{F3C30CDD-B15A-1FA4-E874-01D1E990E0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20" b="7871"/>
          <a:stretch/>
        </p:blipFill>
        <p:spPr bwMode="auto">
          <a:xfrm>
            <a:off x="3175641" y="4472375"/>
            <a:ext cx="1905000" cy="1604181"/>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descr="アイコン&#10;&#10;AI 生成コンテンツは間違っている可能性があります。">
            <a:extLst>
              <a:ext uri="{FF2B5EF4-FFF2-40B4-BE49-F238E27FC236}">
                <a16:creationId xmlns:a16="http://schemas.microsoft.com/office/drawing/2014/main" id="{F2A04EE7-6B24-C872-E611-A8C06CB398A5}"/>
              </a:ext>
            </a:extLst>
          </p:cNvPr>
          <p:cNvPicPr>
            <a:picLocks noChangeAspect="1"/>
          </p:cNvPicPr>
          <p:nvPr/>
        </p:nvPicPr>
        <p:blipFill>
          <a:blip r:embed="rId4"/>
          <a:stretch>
            <a:fillRect/>
          </a:stretch>
        </p:blipFill>
        <p:spPr>
          <a:xfrm>
            <a:off x="5900180" y="4611526"/>
            <a:ext cx="1789362" cy="1151049"/>
          </a:xfrm>
          <a:prstGeom prst="rect">
            <a:avLst/>
          </a:prstGeom>
        </p:spPr>
      </p:pic>
    </p:spTree>
    <p:extLst>
      <p:ext uri="{BB962C8B-B14F-4D97-AF65-F5344CB8AC3E}">
        <p14:creationId xmlns:p14="http://schemas.microsoft.com/office/powerpoint/2010/main" val="2653094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A478654-D2C1-406F-827D-B6B24DD7982A}"/>
              </a:ext>
            </a:extLst>
          </p:cNvPr>
          <p:cNvSpPr txBox="1"/>
          <p:nvPr/>
        </p:nvSpPr>
        <p:spPr>
          <a:xfrm>
            <a:off x="3606991" y="2844225"/>
            <a:ext cx="4978018" cy="584775"/>
          </a:xfrm>
          <a:prstGeom prst="rect">
            <a:avLst/>
          </a:prstGeom>
          <a:noFill/>
        </p:spPr>
        <p:txBody>
          <a:bodyPr wrap="square" rtlCol="0">
            <a:spAutoFit/>
          </a:bodyPr>
          <a:lstStyle/>
          <a:p>
            <a:r>
              <a:rPr kumimoji="1" lang="ja-JP" altLang="en-US" sz="3200">
                <a:solidFill>
                  <a:srgbClr val="0070C0"/>
                </a:solidFill>
              </a:rPr>
              <a:t>ありがとう</a:t>
            </a:r>
            <a:r>
              <a:rPr kumimoji="1" lang="ja-JP" altLang="en-US" sz="3200" dirty="0">
                <a:solidFill>
                  <a:srgbClr val="0070C0"/>
                </a:solidFill>
              </a:rPr>
              <a:t>ございました。</a:t>
            </a:r>
          </a:p>
        </p:txBody>
      </p:sp>
    </p:spTree>
    <p:extLst>
      <p:ext uri="{BB962C8B-B14F-4D97-AF65-F5344CB8AC3E}">
        <p14:creationId xmlns:p14="http://schemas.microsoft.com/office/powerpoint/2010/main" val="1712774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28">
          <a:extLst>
            <a:ext uri="{FF2B5EF4-FFF2-40B4-BE49-F238E27FC236}">
              <a16:creationId xmlns:a16="http://schemas.microsoft.com/office/drawing/2014/main" id="{552437D6-8B59-6F07-9175-14289FAB8003}"/>
            </a:ext>
          </a:extLst>
        </p:cNvPr>
        <p:cNvGrpSpPr/>
        <p:nvPr/>
      </p:nvGrpSpPr>
      <p:grpSpPr>
        <a:xfrm>
          <a:off x="0" y="0"/>
          <a:ext cx="0" cy="0"/>
          <a:chOff x="0" y="0"/>
          <a:chExt cx="0" cy="0"/>
        </a:xfrm>
      </p:grpSpPr>
      <p:sp>
        <p:nvSpPr>
          <p:cNvPr id="229" name="Google Shape;229;p11">
            <a:extLst>
              <a:ext uri="{FF2B5EF4-FFF2-40B4-BE49-F238E27FC236}">
                <a16:creationId xmlns:a16="http://schemas.microsoft.com/office/drawing/2014/main" id="{AEF641E5-971B-CA78-BCA7-F4D90A817119}"/>
              </a:ext>
            </a:extLst>
          </p:cNvPr>
          <p:cNvSpPr txBox="1">
            <a:spLocks noGrp="1"/>
          </p:cNvSpPr>
          <p:nvPr>
            <p:ph type="sldNum" idx="12"/>
          </p:nvPr>
        </p:nvSpPr>
        <p:spPr>
          <a:xfrm>
            <a:off x="9277606" y="6558621"/>
            <a:ext cx="28448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a:ln>
                  <a:noFill/>
                </a:ln>
                <a:solidFill>
                  <a:srgbClr val="243653"/>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100" b="0" i="0" u="none" strike="noStrike" kern="0" cap="none" spc="0" normalizeH="0" baseline="0" noProof="0">
              <a:ln>
                <a:noFill/>
              </a:ln>
              <a:solidFill>
                <a:srgbClr val="243653"/>
              </a:solidFill>
              <a:effectLst/>
              <a:uLnTx/>
              <a:uFillTx/>
              <a:latin typeface="Arial"/>
              <a:cs typeface="Arial"/>
              <a:sym typeface="Arial"/>
            </a:endParaRPr>
          </a:p>
        </p:txBody>
      </p:sp>
      <p:sp>
        <p:nvSpPr>
          <p:cNvPr id="230" name="Google Shape;230;p11">
            <a:extLst>
              <a:ext uri="{FF2B5EF4-FFF2-40B4-BE49-F238E27FC236}">
                <a16:creationId xmlns:a16="http://schemas.microsoft.com/office/drawing/2014/main" id="{D556F1AF-8306-BA91-074B-F7480BBD9496}"/>
              </a:ext>
            </a:extLst>
          </p:cNvPr>
          <p:cNvSpPr txBox="1">
            <a:spLocks noGrp="1"/>
          </p:cNvSpPr>
          <p:nvPr>
            <p:ph type="title"/>
          </p:nvPr>
        </p:nvSpPr>
        <p:spPr>
          <a:xfrm>
            <a:off x="293382" y="83093"/>
            <a:ext cx="9485502" cy="382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43653"/>
              </a:buClr>
              <a:buSzPts val="1700"/>
              <a:buFont typeface="Arial"/>
              <a:buNone/>
            </a:pPr>
            <a:r>
              <a:rPr lang="ja-JP"/>
              <a:t>第３章　必要予算</a:t>
            </a:r>
            <a:endParaRPr/>
          </a:p>
        </p:txBody>
      </p:sp>
      <p:sp>
        <p:nvSpPr>
          <p:cNvPr id="2" name="テキスト ボックス 1">
            <a:extLst>
              <a:ext uri="{FF2B5EF4-FFF2-40B4-BE49-F238E27FC236}">
                <a16:creationId xmlns:a16="http://schemas.microsoft.com/office/drawing/2014/main" id="{7A5EE691-2EFB-E24D-3F87-3BEE31F0A143}"/>
              </a:ext>
            </a:extLst>
          </p:cNvPr>
          <p:cNvSpPr txBox="1"/>
          <p:nvPr/>
        </p:nvSpPr>
        <p:spPr>
          <a:xfrm>
            <a:off x="876300" y="961765"/>
            <a:ext cx="2198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うみらぼ一人一日</a:t>
            </a:r>
            <a:r>
              <a:rPr kumimoji="1" lang="en-US" altLang="ja-JP" sz="1400" b="0" i="0" u="none" strike="noStrike" kern="0" cap="none" spc="0" normalizeH="0" baseline="0" noProof="0">
                <a:ln>
                  <a:noFill/>
                </a:ln>
                <a:solidFill>
                  <a:srgbClr val="000000"/>
                </a:solidFill>
                <a:effectLst/>
                <a:uLnTx/>
                <a:uFillTx/>
                <a:latin typeface="Arial"/>
                <a:cs typeface="Arial"/>
                <a:sym typeface="Arial"/>
              </a:rPr>
              <a:t>5000</a:t>
            </a:r>
            <a:r>
              <a:rPr kumimoji="1" lang="ja-JP" altLang="en-US" sz="1400" b="0" i="0" u="none" strike="noStrike" kern="0" cap="none" spc="0" normalizeH="0" baseline="0" noProof="0">
                <a:ln>
                  <a:noFill/>
                </a:ln>
                <a:solidFill>
                  <a:srgbClr val="000000"/>
                </a:solidFill>
                <a:effectLst/>
                <a:uLnTx/>
                <a:uFillTx/>
                <a:latin typeface="Arial"/>
                <a:cs typeface="Arial"/>
                <a:sym typeface="Arial"/>
              </a:rPr>
              <a:t>円</a:t>
            </a:r>
          </a:p>
        </p:txBody>
      </p:sp>
      <p:sp>
        <p:nvSpPr>
          <p:cNvPr id="3" name="テキスト ボックス 2">
            <a:extLst>
              <a:ext uri="{FF2B5EF4-FFF2-40B4-BE49-F238E27FC236}">
                <a16:creationId xmlns:a16="http://schemas.microsoft.com/office/drawing/2014/main" id="{2A9F94C8-E38F-DF82-C62B-ABB2FBD9B01D}"/>
              </a:ext>
            </a:extLst>
          </p:cNvPr>
          <p:cNvSpPr txBox="1"/>
          <p:nvPr/>
        </p:nvSpPr>
        <p:spPr>
          <a:xfrm>
            <a:off x="876300" y="1787580"/>
            <a:ext cx="126188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水中ドローン</a:t>
            </a:r>
          </a:p>
        </p:txBody>
      </p:sp>
      <p:sp>
        <p:nvSpPr>
          <p:cNvPr id="4" name="テキスト ボックス 3">
            <a:extLst>
              <a:ext uri="{FF2B5EF4-FFF2-40B4-BE49-F238E27FC236}">
                <a16:creationId xmlns:a16="http://schemas.microsoft.com/office/drawing/2014/main" id="{98768661-F146-50A8-3D42-99C3C3A6BA1F}"/>
              </a:ext>
            </a:extLst>
          </p:cNvPr>
          <p:cNvSpPr txBox="1"/>
          <p:nvPr/>
        </p:nvSpPr>
        <p:spPr>
          <a:xfrm>
            <a:off x="876300" y="2781300"/>
            <a:ext cx="1819729" cy="7386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a:ln>
                  <a:noFill/>
                </a:ln>
                <a:solidFill>
                  <a:srgbClr val="000000"/>
                </a:solidFill>
                <a:effectLst/>
                <a:uLnTx/>
                <a:uFillTx/>
                <a:latin typeface="Arial"/>
                <a:cs typeface="Arial"/>
                <a:sym typeface="Arial"/>
              </a:rPr>
              <a:t>パルス渦電流センサ</a:t>
            </a:r>
            <a:endParaRPr kumimoji="1" lang="en-US" altLang="ja-JP"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1" lang="en-US" altLang="ja-JP"/>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a:t>120</a:t>
            </a:r>
            <a:r>
              <a:rPr kumimoji="1" lang="ja-JP" altLang="en-US" sz="1400" b="0" i="0" u="none" strike="noStrike" kern="0" cap="none" spc="0" normalizeH="0" baseline="0" noProof="0">
                <a:ln>
                  <a:noFill/>
                </a:ln>
                <a:solidFill>
                  <a:srgbClr val="000000"/>
                </a:solidFill>
                <a:effectLst/>
                <a:uLnTx/>
                <a:uFillTx/>
                <a:latin typeface="Arial"/>
                <a:cs typeface="Arial"/>
                <a:sym typeface="Arial"/>
              </a:rPr>
              <a:t>～</a:t>
            </a:r>
            <a:r>
              <a:rPr kumimoji="1" lang="en-US" altLang="ja-JP" sz="1400" b="0" i="0" u="none" strike="noStrike" kern="0" cap="none" spc="0" normalizeH="0" baseline="0" noProof="0">
                <a:ln>
                  <a:noFill/>
                </a:ln>
                <a:solidFill>
                  <a:srgbClr val="000000"/>
                </a:solidFill>
                <a:effectLst/>
                <a:uLnTx/>
                <a:uFillTx/>
                <a:latin typeface="Arial"/>
                <a:cs typeface="Arial"/>
                <a:sym typeface="Arial"/>
              </a:rPr>
              <a:t>30</a:t>
            </a:r>
            <a:r>
              <a:rPr kumimoji="1" lang="ja-JP" altLang="en-US" sz="1400" b="0" i="0" u="none" strike="noStrike" kern="0" cap="none" spc="0" normalizeH="0" baseline="0" noProof="0">
                <a:ln>
                  <a:noFill/>
                </a:ln>
                <a:solidFill>
                  <a:srgbClr val="000000"/>
                </a:solidFill>
                <a:effectLst/>
                <a:uLnTx/>
                <a:uFillTx/>
                <a:latin typeface="Arial"/>
                <a:cs typeface="Arial"/>
                <a:sym typeface="Arial"/>
              </a:rPr>
              <a:t>万目標</a:t>
            </a:r>
          </a:p>
        </p:txBody>
      </p:sp>
      <p:graphicFrame>
        <p:nvGraphicFramePr>
          <p:cNvPr id="6" name="表 5">
            <a:extLst>
              <a:ext uri="{FF2B5EF4-FFF2-40B4-BE49-F238E27FC236}">
                <a16:creationId xmlns:a16="http://schemas.microsoft.com/office/drawing/2014/main" id="{C8079392-D46F-BB6F-43DC-150439358024}"/>
              </a:ext>
            </a:extLst>
          </p:cNvPr>
          <p:cNvGraphicFramePr>
            <a:graphicFrameLocks noGrp="1"/>
          </p:cNvGraphicFramePr>
          <p:nvPr>
            <p:extLst>
              <p:ext uri="{D42A27DB-BD31-4B8C-83A1-F6EECF244321}">
                <p14:modId xmlns:p14="http://schemas.microsoft.com/office/powerpoint/2010/main" val="555281240"/>
              </p:ext>
            </p:extLst>
          </p:nvPr>
        </p:nvGraphicFramePr>
        <p:xfrm>
          <a:off x="3174688" y="465874"/>
          <a:ext cx="8127999" cy="3233598"/>
        </p:xfrm>
        <a:graphic>
          <a:graphicData uri="http://schemas.openxmlformats.org/drawingml/2006/table">
            <a:tbl>
              <a:tblPr firstRow="1" bandRow="1">
                <a:tableStyleId>{5FA7AA36-D1FC-4EAE-9539-4A473F75BAE8}</a:tableStyleId>
              </a:tblPr>
              <a:tblGrid>
                <a:gridCol w="2709333">
                  <a:extLst>
                    <a:ext uri="{9D8B030D-6E8A-4147-A177-3AD203B41FA5}">
                      <a16:colId xmlns:a16="http://schemas.microsoft.com/office/drawing/2014/main" val="263943543"/>
                    </a:ext>
                  </a:extLst>
                </a:gridCol>
                <a:gridCol w="2709333">
                  <a:extLst>
                    <a:ext uri="{9D8B030D-6E8A-4147-A177-3AD203B41FA5}">
                      <a16:colId xmlns:a16="http://schemas.microsoft.com/office/drawing/2014/main" val="2277741305"/>
                    </a:ext>
                  </a:extLst>
                </a:gridCol>
                <a:gridCol w="2709333">
                  <a:extLst>
                    <a:ext uri="{9D8B030D-6E8A-4147-A177-3AD203B41FA5}">
                      <a16:colId xmlns:a16="http://schemas.microsoft.com/office/drawing/2014/main" val="1752439200"/>
                    </a:ext>
                  </a:extLst>
                </a:gridCol>
              </a:tblGrid>
              <a:tr h="3030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006066827"/>
                  </a:ext>
                </a:extLst>
              </a:tr>
              <a:tr h="601449">
                <a:tc>
                  <a:txBody>
                    <a:bodyPr/>
                    <a:lstStyle/>
                    <a:p>
                      <a:r>
                        <a:rPr lang="ja-JP" altLang="en-US"/>
                        <a:t>実験海上使用費</a:t>
                      </a:r>
                      <a:br>
                        <a:rPr lang="ja-JP" altLang="en-US"/>
                      </a:br>
                      <a:r>
                        <a:rPr lang="ja-JP" altLang="en-US"/>
                        <a:t>船の経費＋α？</a:t>
                      </a:r>
                      <a:endParaRPr kumimoji="1" lang="ja-JP" altLang="en-US"/>
                    </a:p>
                  </a:txBody>
                  <a:tcPr/>
                </a:tc>
                <a:tc>
                  <a:txBody>
                    <a:bodyPr/>
                    <a:lstStyle/>
                    <a:p>
                      <a:r>
                        <a:rPr lang="ja-JP" altLang="en-US"/>
                        <a:t>５千円☓計１４日☓６名（４２万円）＋２万円？（半日？）</a:t>
                      </a:r>
                      <a:endParaRPr kumimoji="1" lang="ja-JP" altLang="en-US"/>
                    </a:p>
                  </a:txBody>
                  <a:tcPr/>
                </a:tc>
                <a:tc>
                  <a:txBody>
                    <a:bodyPr/>
                    <a:lstStyle/>
                    <a:p>
                      <a:r>
                        <a:rPr lang="ja-JP" altLang="en-US"/>
                        <a:t>株）うみらぼ</a:t>
                      </a:r>
                      <a:endParaRPr kumimoji="1" lang="ja-JP" altLang="en-US"/>
                    </a:p>
                  </a:txBody>
                  <a:tcPr/>
                </a:tc>
                <a:extLst>
                  <a:ext uri="{0D108BD9-81ED-4DB2-BD59-A6C34878D82A}">
                    <a16:rowId xmlns:a16="http://schemas.microsoft.com/office/drawing/2014/main" val="3901006620"/>
                  </a:ext>
                </a:extLst>
              </a:tr>
              <a:tr h="601449">
                <a:tc>
                  <a:txBody>
                    <a:bodyPr/>
                    <a:lstStyle/>
                    <a:p>
                      <a:r>
                        <a:rPr lang="ja-JP" altLang="en-US"/>
                        <a:t>5Gモデム使用料（３ヶ月レンタル料＆技術支援料）</a:t>
                      </a:r>
                      <a:endParaRPr kumimoji="1" lang="ja-JP" altLang="en-US"/>
                    </a:p>
                  </a:txBody>
                  <a:tcPr/>
                </a:tc>
                <a:tc>
                  <a:txBody>
                    <a:bodyPr/>
                    <a:lstStyle/>
                    <a:p>
                      <a:r>
                        <a:rPr lang="ja-JP" altLang="en-US"/>
                        <a:t>20万円（交渉で少し減額可能か）</a:t>
                      </a:r>
                      <a:endParaRPr kumimoji="1" lang="ja-JP" altLang="en-US"/>
                    </a:p>
                  </a:txBody>
                  <a:tcPr/>
                </a:tc>
                <a:tc>
                  <a:txBody>
                    <a:bodyPr/>
                    <a:lstStyle/>
                    <a:p>
                      <a:r>
                        <a:rPr lang="ja-JP" altLang="en-US"/>
                        <a:t>株）NTTドコモ様</a:t>
                      </a:r>
                      <a:endParaRPr kumimoji="1" lang="ja-JP" altLang="en-US"/>
                    </a:p>
                  </a:txBody>
                  <a:tcPr/>
                </a:tc>
                <a:extLst>
                  <a:ext uri="{0D108BD9-81ED-4DB2-BD59-A6C34878D82A}">
                    <a16:rowId xmlns:a16="http://schemas.microsoft.com/office/drawing/2014/main" val="373368032"/>
                  </a:ext>
                </a:extLst>
              </a:tr>
              <a:tr h="431475">
                <a:tc>
                  <a:txBody>
                    <a:bodyPr/>
                    <a:lstStyle/>
                    <a:p>
                      <a:r>
                        <a:rPr lang="ja-JP" altLang="en-US"/>
                        <a:t>事前実験検経費</a:t>
                      </a:r>
                      <a:endParaRPr kumimoji="1" lang="ja-JP" altLang="en-US"/>
                    </a:p>
                  </a:txBody>
                  <a:tcPr/>
                </a:tc>
                <a:tc>
                  <a:txBody>
                    <a:bodyPr/>
                    <a:lstStyle/>
                    <a:p>
                      <a:r>
                        <a:rPr lang="ja-JP" altLang="en-US"/>
                        <a:t>８万円✕３名（２４万円）</a:t>
                      </a:r>
                      <a:endParaRPr kumimoji="1" lang="ja-JP" altLang="en-US"/>
                    </a:p>
                  </a:txBody>
                  <a:tcPr/>
                </a:tc>
                <a:tc>
                  <a:txBody>
                    <a:bodyPr/>
                    <a:lstStyle/>
                    <a:p>
                      <a:r>
                        <a:rPr lang="ja-JP" altLang="en-US"/>
                        <a:t>佐世保→英虞湾往復</a:t>
                      </a:r>
                      <a:endParaRPr kumimoji="1" lang="ja-JP" altLang="en-US"/>
                    </a:p>
                  </a:txBody>
                  <a:tcPr/>
                </a:tc>
                <a:extLst>
                  <a:ext uri="{0D108BD9-81ED-4DB2-BD59-A6C34878D82A}">
                    <a16:rowId xmlns:a16="http://schemas.microsoft.com/office/drawing/2014/main" val="3012092392"/>
                  </a:ext>
                </a:extLst>
              </a:tr>
              <a:tr h="431475">
                <a:tc>
                  <a:txBody>
                    <a:bodyPr/>
                    <a:lstStyle/>
                    <a:p>
                      <a:r>
                        <a:rPr lang="ja-JP" altLang="en-US"/>
                        <a:t>実証実験経費</a:t>
                      </a:r>
                      <a:endParaRPr kumimoji="1" lang="ja-JP" altLang="en-US"/>
                    </a:p>
                  </a:txBody>
                  <a:tcPr/>
                </a:tc>
                <a:tc>
                  <a:txBody>
                    <a:bodyPr/>
                    <a:lstStyle/>
                    <a:p>
                      <a:r>
                        <a:rPr lang="ja-JP" altLang="en-US"/>
                        <a:t>８万円✕２名（１６万円）</a:t>
                      </a:r>
                      <a:endParaRPr kumimoji="1" lang="ja-JP"/>
                    </a:p>
                  </a:txBody>
                  <a:tcPr/>
                </a:tc>
                <a:tc>
                  <a:txBody>
                    <a:bodyPr/>
                    <a:lstStyle/>
                    <a:p>
                      <a:r>
                        <a:rPr lang="ja-JP" altLang="en-US"/>
                        <a:t>鈴鹿高専→佐世保往復</a:t>
                      </a:r>
                      <a:endParaRPr kumimoji="1" lang="ja-JP" altLang="en-US"/>
                    </a:p>
                  </a:txBody>
                  <a:tcPr/>
                </a:tc>
                <a:extLst>
                  <a:ext uri="{0D108BD9-81ED-4DB2-BD59-A6C34878D82A}">
                    <a16:rowId xmlns:a16="http://schemas.microsoft.com/office/drawing/2014/main" val="1492699777"/>
                  </a:ext>
                </a:extLst>
              </a:tr>
              <a:tr h="431475">
                <a:tc>
                  <a:txBody>
                    <a:bodyPr/>
                    <a:lstStyle/>
                    <a:p>
                      <a:r>
                        <a:rPr lang="ja-JP" altLang="en-US"/>
                        <a:t>ロボット補修部品代</a:t>
                      </a:r>
                      <a:endParaRPr kumimoji="1" lang="ja-JP" altLang="en-US"/>
                    </a:p>
                  </a:txBody>
                  <a:tcPr/>
                </a:tc>
                <a:tc>
                  <a:txBody>
                    <a:bodyPr/>
                    <a:lstStyle/>
                    <a:p>
                      <a:r>
                        <a:rPr lang="ja-JP" altLang="en-US"/>
                        <a:t>２０万円（１５万でもOK）</a:t>
                      </a:r>
                      <a:endParaRPr kumimoji="1" lang="ja-JP" altLang="en-US"/>
                    </a:p>
                  </a:txBody>
                  <a:tcPr/>
                </a:tc>
                <a:tc>
                  <a:txBody>
                    <a:bodyPr/>
                    <a:lstStyle/>
                    <a:p>
                      <a:r>
                        <a:rPr lang="ja-JP" altLang="en-US"/>
                        <a:t>この程度で十分です。</a:t>
                      </a:r>
                      <a:endParaRPr kumimoji="1" lang="ja-JP" altLang="en-US"/>
                    </a:p>
                  </a:txBody>
                  <a:tcPr/>
                </a:tc>
                <a:extLst>
                  <a:ext uri="{0D108BD9-81ED-4DB2-BD59-A6C34878D82A}">
                    <a16:rowId xmlns:a16="http://schemas.microsoft.com/office/drawing/2014/main" val="2845811841"/>
                  </a:ext>
                </a:extLst>
              </a:tr>
              <a:tr h="431475">
                <a:tc>
                  <a:txBody>
                    <a:bodyPr/>
                    <a:lstStyle/>
                    <a:p>
                      <a:pPr lvl="0">
                        <a:buNone/>
                      </a:pPr>
                      <a:r>
                        <a:rPr lang="ja-JP" altLang="en-US"/>
                        <a:t>鈴鹿さんの方の作成費用</a:t>
                      </a:r>
                      <a:endParaRPr kumimoji="1" lang="ja-JP" altLang="en-US"/>
                    </a:p>
                  </a:txBody>
                  <a:tcPr/>
                </a:tc>
                <a:tc>
                  <a:txBody>
                    <a:bodyPr/>
                    <a:lstStyle/>
                    <a:p>
                      <a:pPr lvl="0">
                        <a:buNone/>
                      </a:pPr>
                      <a:r>
                        <a:rPr lang="ja-JP" altLang="en-US"/>
                        <a:t>２０万程度か？</a:t>
                      </a:r>
                      <a:endParaRPr kumimoji="1" lang="ja-JP" altLang="en-US"/>
                    </a:p>
                  </a:txBody>
                  <a:tcPr/>
                </a:tc>
                <a:tc>
                  <a:txBody>
                    <a:bodyPr/>
                    <a:lstStyle/>
                    <a:p>
                      <a:pPr lvl="0">
                        <a:buNone/>
                      </a:pPr>
                      <a:r>
                        <a:rPr lang="ja-JP" altLang="en-US"/>
                        <a:t>要相談</a:t>
                      </a:r>
                      <a:endParaRPr kumimoji="1" lang="ja-JP" altLang="en-US"/>
                    </a:p>
                  </a:txBody>
                  <a:tcPr/>
                </a:tc>
                <a:extLst>
                  <a:ext uri="{0D108BD9-81ED-4DB2-BD59-A6C34878D82A}">
                    <a16:rowId xmlns:a16="http://schemas.microsoft.com/office/drawing/2014/main" val="1411825244"/>
                  </a:ext>
                </a:extLst>
              </a:tr>
            </a:tbl>
          </a:graphicData>
        </a:graphic>
      </p:graphicFrame>
      <p:pic>
        <p:nvPicPr>
          <p:cNvPr id="7" name="図 6">
            <a:extLst>
              <a:ext uri="{FF2B5EF4-FFF2-40B4-BE49-F238E27FC236}">
                <a16:creationId xmlns:a16="http://schemas.microsoft.com/office/drawing/2014/main" id="{3B156669-A6B2-45E2-78A4-BFC2CFA5B743}"/>
              </a:ext>
            </a:extLst>
          </p:cNvPr>
          <p:cNvPicPr>
            <a:picLocks noChangeAspect="1"/>
          </p:cNvPicPr>
          <p:nvPr/>
        </p:nvPicPr>
        <p:blipFill>
          <a:blip r:embed="rId4"/>
          <a:stretch>
            <a:fillRect/>
          </a:stretch>
        </p:blipFill>
        <p:spPr>
          <a:xfrm>
            <a:off x="6188691" y="3872146"/>
            <a:ext cx="3874266" cy="2457795"/>
          </a:xfrm>
          <a:prstGeom prst="rect">
            <a:avLst/>
          </a:prstGeom>
        </p:spPr>
      </p:pic>
      <p:sp>
        <p:nvSpPr>
          <p:cNvPr id="5" name="TextBox 4">
            <a:extLst>
              <a:ext uri="{FF2B5EF4-FFF2-40B4-BE49-F238E27FC236}">
                <a16:creationId xmlns:a16="http://schemas.microsoft.com/office/drawing/2014/main" id="{29F60B33-CCEB-D8A7-24FF-30DFB26212A3}"/>
              </a:ext>
            </a:extLst>
          </p:cNvPr>
          <p:cNvSpPr txBox="1"/>
          <p:nvPr/>
        </p:nvSpPr>
        <p:spPr>
          <a:xfrm>
            <a:off x="9761144" y="5506607"/>
            <a:ext cx="1877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t>←前年度の予算案での表になります</a:t>
            </a:r>
            <a:endParaRPr lang="en-US"/>
          </a:p>
        </p:txBody>
      </p:sp>
      <p:sp>
        <p:nvSpPr>
          <p:cNvPr id="8" name="Speech Bubble: Rectangle with Corners Rounded 7">
            <a:extLst>
              <a:ext uri="{FF2B5EF4-FFF2-40B4-BE49-F238E27FC236}">
                <a16:creationId xmlns:a16="http://schemas.microsoft.com/office/drawing/2014/main" id="{D1BF9DB8-47AB-AE78-2926-01BA43DBF055}"/>
              </a:ext>
            </a:extLst>
          </p:cNvPr>
          <p:cNvSpPr/>
          <p:nvPr/>
        </p:nvSpPr>
        <p:spPr>
          <a:xfrm>
            <a:off x="9169388" y="3655247"/>
            <a:ext cx="2726846" cy="1575628"/>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出張費、技術支援経費、船の経費がどこにはいるのか検討ください。その他、運営経費でしょうか？１００万を超えて申請して、</a:t>
            </a:r>
            <a:br>
              <a:rPr lang="ja-JP" altLang="en-US">
                <a:ea typeface="ＭＳ Ｐゴシック"/>
                <a:cs typeface="Arial"/>
              </a:rPr>
            </a:br>
            <a:r>
              <a:rPr lang="ja-JP" altLang="en-US">
                <a:ea typeface="ＭＳ Ｐゴシック"/>
                <a:cs typeface="Arial"/>
              </a:rPr>
              <a:t>後で、調整の形と思います。</a:t>
            </a:r>
            <a:br>
              <a:rPr lang="ja-JP" altLang="en-US">
                <a:ea typeface="ＭＳ Ｐゴシック"/>
                <a:cs typeface="Arial"/>
              </a:rPr>
            </a:br>
            <a:r>
              <a:rPr lang="ja-JP" altLang="en-US">
                <a:ea typeface="ＭＳ Ｐゴシック"/>
                <a:cs typeface="Arial"/>
              </a:rPr>
              <a:t>出張費も学校で出せる可能性もあり。</a:t>
            </a:r>
          </a:p>
        </p:txBody>
      </p:sp>
      <p:graphicFrame>
        <p:nvGraphicFramePr>
          <p:cNvPr id="9" name="表 8">
            <a:extLst>
              <a:ext uri="{FF2B5EF4-FFF2-40B4-BE49-F238E27FC236}">
                <a16:creationId xmlns:a16="http://schemas.microsoft.com/office/drawing/2014/main" id="{B235E076-1C93-F32A-4694-AD29830A73CB}"/>
              </a:ext>
            </a:extLst>
          </p:cNvPr>
          <p:cNvGraphicFramePr>
            <a:graphicFrameLocks noGrp="1"/>
          </p:cNvGraphicFramePr>
          <p:nvPr>
            <p:extLst>
              <p:ext uri="{D42A27DB-BD31-4B8C-83A1-F6EECF244321}">
                <p14:modId xmlns:p14="http://schemas.microsoft.com/office/powerpoint/2010/main" val="3943361087"/>
              </p:ext>
            </p:extLst>
          </p:nvPr>
        </p:nvGraphicFramePr>
        <p:xfrm>
          <a:off x="553132" y="4217510"/>
          <a:ext cx="6420909" cy="2956560"/>
        </p:xfrm>
        <a:graphic>
          <a:graphicData uri="http://schemas.openxmlformats.org/drawingml/2006/table">
            <a:tbl>
              <a:tblPr firstRow="1" bandRow="1">
                <a:tableStyleId>{5940675A-B579-460E-94D1-54222C63F5DA}</a:tableStyleId>
              </a:tblPr>
              <a:tblGrid>
                <a:gridCol w="445021">
                  <a:extLst>
                    <a:ext uri="{9D8B030D-6E8A-4147-A177-3AD203B41FA5}">
                      <a16:colId xmlns:a16="http://schemas.microsoft.com/office/drawing/2014/main" val="2883391783"/>
                    </a:ext>
                  </a:extLst>
                </a:gridCol>
                <a:gridCol w="4916051">
                  <a:extLst>
                    <a:ext uri="{9D8B030D-6E8A-4147-A177-3AD203B41FA5}">
                      <a16:colId xmlns:a16="http://schemas.microsoft.com/office/drawing/2014/main" val="1699675498"/>
                    </a:ext>
                  </a:extLst>
                </a:gridCol>
                <a:gridCol w="1059837">
                  <a:extLst>
                    <a:ext uri="{9D8B030D-6E8A-4147-A177-3AD203B41FA5}">
                      <a16:colId xmlns:a16="http://schemas.microsoft.com/office/drawing/2014/main" val="3966409673"/>
                    </a:ext>
                  </a:extLst>
                </a:gridCol>
              </a:tblGrid>
              <a:tr h="323653">
                <a:tc>
                  <a:txBody>
                    <a:bodyPr/>
                    <a:lstStyle/>
                    <a:p>
                      <a:r>
                        <a:rPr kumimoji="1" lang="en-US" altLang="ja-JP"/>
                        <a:t>No.</a:t>
                      </a:r>
                      <a:endParaRPr kumimoji="1" lang="ja-JP" altLang="en-US"/>
                    </a:p>
                  </a:txBody>
                  <a:tcPr>
                    <a:solidFill>
                      <a:srgbClr val="CCFFFF"/>
                    </a:solidFill>
                  </a:tcPr>
                </a:tc>
                <a:tc>
                  <a:txBody>
                    <a:bodyPr/>
                    <a:lstStyle/>
                    <a:p>
                      <a:pPr algn="ctr"/>
                      <a:r>
                        <a:rPr kumimoji="1" lang="ja-JP" altLang="en-US" b="1"/>
                        <a:t>項目</a:t>
                      </a:r>
                    </a:p>
                  </a:txBody>
                  <a:tcPr>
                    <a:solidFill>
                      <a:srgbClr val="CCFFFF"/>
                    </a:solidFill>
                  </a:tcPr>
                </a:tc>
                <a:tc>
                  <a:txBody>
                    <a:bodyPr/>
                    <a:lstStyle/>
                    <a:p>
                      <a:r>
                        <a:rPr kumimoji="1" lang="ja-JP" altLang="en-US" b="1"/>
                        <a:t>費用　　　千円</a:t>
                      </a:r>
                    </a:p>
                  </a:txBody>
                  <a:tcPr>
                    <a:solidFill>
                      <a:srgbClr val="CCFFFF"/>
                    </a:solidFill>
                  </a:tcPr>
                </a:tc>
                <a:extLst>
                  <a:ext uri="{0D108BD9-81ED-4DB2-BD59-A6C34878D82A}">
                    <a16:rowId xmlns:a16="http://schemas.microsoft.com/office/drawing/2014/main" val="1832861245"/>
                  </a:ext>
                </a:extLst>
              </a:tr>
              <a:tr h="0">
                <a:tc>
                  <a:txBody>
                    <a:bodyPr/>
                    <a:lstStyle/>
                    <a:p>
                      <a:pPr algn="ctr"/>
                      <a:r>
                        <a:rPr kumimoji="1" lang="en-US" altLang="ja-JP"/>
                        <a:t>1</a:t>
                      </a:r>
                      <a:endParaRPr kumimoji="1" lang="ja-JP" altLang="en-US"/>
                    </a:p>
                  </a:txBody>
                  <a:tcPr/>
                </a:tc>
                <a:tc>
                  <a:txBody>
                    <a:bodyPr/>
                    <a:lstStyle/>
                    <a:p>
                      <a:pPr algn="ctr"/>
                      <a:r>
                        <a:rPr kumimoji="1" lang="ja-JP" altLang="en-US"/>
                        <a:t>ハード関連</a:t>
                      </a:r>
                    </a:p>
                  </a:txBody>
                  <a:tcPr/>
                </a:tc>
                <a:tc>
                  <a:txBody>
                    <a:bodyPr/>
                    <a:lstStyle/>
                    <a:p>
                      <a:endParaRPr kumimoji="1" lang="ja-JP" altLang="en-US"/>
                    </a:p>
                  </a:txBody>
                  <a:tcPr/>
                </a:tc>
                <a:extLst>
                  <a:ext uri="{0D108BD9-81ED-4DB2-BD59-A6C34878D82A}">
                    <a16:rowId xmlns:a16="http://schemas.microsoft.com/office/drawing/2014/main" val="3685232278"/>
                  </a:ext>
                </a:extLst>
              </a:tr>
              <a:tr h="0">
                <a:tc>
                  <a:txBody>
                    <a:bodyPr/>
                    <a:lstStyle/>
                    <a:p>
                      <a:pPr algn="ctr"/>
                      <a:r>
                        <a:rPr kumimoji="1" lang="en-US" altLang="ja-JP"/>
                        <a:t>2</a:t>
                      </a:r>
                      <a:endParaRPr kumimoji="1" lang="ja-JP" altLang="en-US"/>
                    </a:p>
                  </a:txBody>
                  <a:tcPr/>
                </a:tc>
                <a:tc>
                  <a:txBody>
                    <a:bodyPr/>
                    <a:lstStyle/>
                    <a:p>
                      <a:pPr algn="ctr"/>
                      <a:r>
                        <a:rPr kumimoji="1" lang="ja-JP" altLang="en-US"/>
                        <a:t>ソフト関連</a:t>
                      </a:r>
                    </a:p>
                  </a:txBody>
                  <a:tcPr/>
                </a:tc>
                <a:tc>
                  <a:txBody>
                    <a:bodyPr/>
                    <a:lstStyle/>
                    <a:p>
                      <a:endParaRPr kumimoji="1" lang="ja-JP" altLang="en-US"/>
                    </a:p>
                  </a:txBody>
                  <a:tcPr/>
                </a:tc>
                <a:extLst>
                  <a:ext uri="{0D108BD9-81ED-4DB2-BD59-A6C34878D82A}">
                    <a16:rowId xmlns:a16="http://schemas.microsoft.com/office/drawing/2014/main" val="2951966981"/>
                  </a:ext>
                </a:extLst>
              </a:tr>
              <a:tr h="0">
                <a:tc>
                  <a:txBody>
                    <a:bodyPr/>
                    <a:lstStyle/>
                    <a:p>
                      <a:pPr algn="ctr"/>
                      <a:r>
                        <a:rPr kumimoji="1" lang="en-US" altLang="ja-JP"/>
                        <a:t>3</a:t>
                      </a:r>
                      <a:endParaRPr kumimoji="1" lang="ja-JP" altLang="en-US"/>
                    </a:p>
                  </a:txBody>
                  <a:tcPr/>
                </a:tc>
                <a:tc>
                  <a:txBody>
                    <a:bodyPr/>
                    <a:lstStyle/>
                    <a:p>
                      <a:pPr algn="ctr"/>
                      <a:r>
                        <a:rPr kumimoji="1" lang="ja-JP" altLang="en-US"/>
                        <a:t>その他</a:t>
                      </a:r>
                    </a:p>
                  </a:txBody>
                  <a:tcPr/>
                </a:tc>
                <a:tc>
                  <a:txBody>
                    <a:bodyPr/>
                    <a:lstStyle/>
                    <a:p>
                      <a:endParaRPr kumimoji="1" lang="ja-JP" altLang="en-US"/>
                    </a:p>
                  </a:txBody>
                  <a:tcPr/>
                </a:tc>
                <a:extLst>
                  <a:ext uri="{0D108BD9-81ED-4DB2-BD59-A6C34878D82A}">
                    <a16:rowId xmlns:a16="http://schemas.microsoft.com/office/drawing/2014/main" val="1113791736"/>
                  </a:ext>
                </a:extLst>
              </a:tr>
              <a:tr h="0">
                <a:tc>
                  <a:txBody>
                    <a:bodyPr/>
                    <a:lstStyle/>
                    <a:p>
                      <a:pPr algn="ctr"/>
                      <a:r>
                        <a:rPr kumimoji="1" lang="en-US" altLang="ja-JP"/>
                        <a:t>4</a:t>
                      </a:r>
                      <a:endParaRPr kumimoji="1" lang="ja-JP" altLang="en-US"/>
                    </a:p>
                  </a:txBody>
                  <a:tcPr/>
                </a:tc>
                <a:tc>
                  <a:txBody>
                    <a:bodyPr/>
                    <a:lstStyle/>
                    <a:p>
                      <a:pPr algn="ctr"/>
                      <a:r>
                        <a:rPr kumimoji="1" lang="ja-JP" altLang="en-US"/>
                        <a:t>直接費</a:t>
                      </a:r>
                      <a:r>
                        <a:rPr kumimoji="1" lang="en-US" altLang="ja-JP"/>
                        <a:t>(</a:t>
                      </a:r>
                      <a:r>
                        <a:rPr kumimoji="1" lang="ja-JP" altLang="en-US"/>
                        <a:t>上記</a:t>
                      </a:r>
                      <a:r>
                        <a:rPr kumimoji="1" lang="en-US" altLang="ja-JP"/>
                        <a:t>1~3</a:t>
                      </a:r>
                      <a:r>
                        <a:rPr kumimoji="1" lang="ja-JP" altLang="en-US"/>
                        <a:t>の合計</a:t>
                      </a:r>
                      <a:r>
                        <a:rPr kumimoji="1" lang="en-US" altLang="ja-JP"/>
                        <a:t>)</a:t>
                      </a:r>
                      <a:endParaRPr kumimoji="1" lang="ja-JP" altLang="en-US"/>
                    </a:p>
                  </a:txBody>
                  <a:tcPr/>
                </a:tc>
                <a:tc>
                  <a:txBody>
                    <a:bodyPr/>
                    <a:lstStyle/>
                    <a:p>
                      <a:endParaRPr kumimoji="1" lang="ja-JP" altLang="en-US"/>
                    </a:p>
                  </a:txBody>
                  <a:tcPr/>
                </a:tc>
                <a:extLst>
                  <a:ext uri="{0D108BD9-81ED-4DB2-BD59-A6C34878D82A}">
                    <a16:rowId xmlns:a16="http://schemas.microsoft.com/office/drawing/2014/main" val="1629635711"/>
                  </a:ext>
                </a:extLst>
              </a:tr>
              <a:tr h="177487">
                <a:tc>
                  <a:txBody>
                    <a:bodyPr/>
                    <a:lstStyle/>
                    <a:p>
                      <a:pPr algn="ctr"/>
                      <a:r>
                        <a:rPr kumimoji="1" lang="en-US" altLang="ja-JP"/>
                        <a:t>5</a:t>
                      </a:r>
                      <a:endParaRPr kumimoji="1" lang="ja-JP" altLang="en-US"/>
                    </a:p>
                  </a:txBody>
                  <a:tcPr/>
                </a:tc>
                <a:tc>
                  <a:txBody>
                    <a:bodyPr/>
                    <a:lstStyle/>
                    <a:p>
                      <a:pPr algn="ctr"/>
                      <a:r>
                        <a:rPr kumimoji="1" lang="ja-JP" altLang="en-US"/>
                        <a:t>間接費</a:t>
                      </a:r>
                      <a:r>
                        <a:rPr kumimoji="1" lang="en-US" altLang="ja-JP"/>
                        <a:t>(</a:t>
                      </a:r>
                      <a:r>
                        <a:rPr kumimoji="1" lang="ja-JP" altLang="en-US"/>
                        <a:t>上記の直接費の</a:t>
                      </a:r>
                      <a:r>
                        <a:rPr kumimoji="1" lang="en-US" altLang="ja-JP">
                          <a:solidFill>
                            <a:srgbClr val="FF0000"/>
                          </a:solidFill>
                        </a:rPr>
                        <a:t>0%</a:t>
                      </a:r>
                      <a:r>
                        <a:rPr kumimoji="1" lang="en-US" altLang="ja-JP"/>
                        <a:t>)</a:t>
                      </a:r>
                      <a:endParaRPr kumimoji="1" lang="ja-JP" altLang="en-US"/>
                    </a:p>
                  </a:txBody>
                  <a:tcPr/>
                </a:tc>
                <a:tc>
                  <a:txBody>
                    <a:bodyPr/>
                    <a:lstStyle/>
                    <a:p>
                      <a:endParaRPr kumimoji="1" lang="ja-JP" altLang="en-US"/>
                    </a:p>
                  </a:txBody>
                  <a:tcPr/>
                </a:tc>
                <a:extLst>
                  <a:ext uri="{0D108BD9-81ED-4DB2-BD59-A6C34878D82A}">
                    <a16:rowId xmlns:a16="http://schemas.microsoft.com/office/drawing/2014/main" val="1898863948"/>
                  </a:ext>
                </a:extLst>
              </a:tr>
              <a:tr h="0">
                <a:tc>
                  <a:txBody>
                    <a:bodyPr/>
                    <a:lstStyle/>
                    <a:p>
                      <a:pPr algn="ctr"/>
                      <a:r>
                        <a:rPr kumimoji="1" lang="en-US" altLang="ja-JP"/>
                        <a:t>6</a:t>
                      </a:r>
                      <a:endParaRPr kumimoji="1" lang="ja-JP" altLang="en-US"/>
                    </a:p>
                  </a:txBody>
                  <a:tcPr/>
                </a:tc>
                <a:tc>
                  <a:txBody>
                    <a:bodyPr/>
                    <a:lstStyle/>
                    <a:p>
                      <a:pPr algn="ctr"/>
                      <a:r>
                        <a:rPr kumimoji="1" lang="ja-JP" altLang="en-US"/>
                        <a:t>直接費</a:t>
                      </a:r>
                      <a:r>
                        <a:rPr kumimoji="1" lang="en-US" altLang="ja-JP"/>
                        <a:t>+</a:t>
                      </a:r>
                      <a:r>
                        <a:rPr kumimoji="1" lang="ja-JP" altLang="en-US"/>
                        <a:t>間接費</a:t>
                      </a:r>
                    </a:p>
                  </a:txBody>
                  <a:tcPr/>
                </a:tc>
                <a:tc>
                  <a:txBody>
                    <a:bodyPr/>
                    <a:lstStyle/>
                    <a:p>
                      <a:endParaRPr kumimoji="1" lang="ja-JP" altLang="en-US"/>
                    </a:p>
                  </a:txBody>
                  <a:tcPr/>
                </a:tc>
                <a:extLst>
                  <a:ext uri="{0D108BD9-81ED-4DB2-BD59-A6C34878D82A}">
                    <a16:rowId xmlns:a16="http://schemas.microsoft.com/office/drawing/2014/main" val="663490022"/>
                  </a:ext>
                </a:extLst>
              </a:tr>
              <a:tr h="0">
                <a:tc>
                  <a:txBody>
                    <a:bodyPr/>
                    <a:lstStyle/>
                    <a:p>
                      <a:pPr algn="ctr"/>
                      <a:r>
                        <a:rPr kumimoji="1" lang="en-US" altLang="ja-JP"/>
                        <a:t>7</a:t>
                      </a:r>
                      <a:endParaRPr kumimoji="1" lang="ja-JP" altLang="en-US"/>
                    </a:p>
                  </a:txBody>
                  <a:tcPr/>
                </a:tc>
                <a:tc>
                  <a:txBody>
                    <a:bodyPr/>
                    <a:lstStyle/>
                    <a:p>
                      <a:pPr algn="ctr"/>
                      <a:r>
                        <a:rPr kumimoji="1" lang="ja-JP" altLang="en-US"/>
                        <a:t>消費税 </a:t>
                      </a:r>
                      <a:r>
                        <a:rPr kumimoji="1" lang="en-US" altLang="ja-JP"/>
                        <a:t>10%</a:t>
                      </a:r>
                      <a:endParaRPr kumimoji="1" lang="ja-JP" altLang="en-US"/>
                    </a:p>
                  </a:txBody>
                  <a:tcPr/>
                </a:tc>
                <a:tc>
                  <a:txBody>
                    <a:bodyPr/>
                    <a:lstStyle/>
                    <a:p>
                      <a:endParaRPr kumimoji="1" lang="ja-JP" altLang="en-US"/>
                    </a:p>
                  </a:txBody>
                  <a:tcPr/>
                </a:tc>
                <a:extLst>
                  <a:ext uri="{0D108BD9-81ED-4DB2-BD59-A6C34878D82A}">
                    <a16:rowId xmlns:a16="http://schemas.microsoft.com/office/drawing/2014/main" val="1151896419"/>
                  </a:ext>
                </a:extLst>
              </a:tr>
              <a:tr h="0">
                <a:tc>
                  <a:txBody>
                    <a:bodyPr/>
                    <a:lstStyle/>
                    <a:p>
                      <a:pPr algn="ctr"/>
                      <a:r>
                        <a:rPr kumimoji="1" lang="en-US" altLang="ja-JP"/>
                        <a:t>8</a:t>
                      </a:r>
                      <a:endParaRPr kumimoji="1" lang="ja-JP" altLang="en-US"/>
                    </a:p>
                  </a:txBody>
                  <a:tcPr>
                    <a:solidFill>
                      <a:srgbClr val="CCFFCC"/>
                    </a:solidFill>
                  </a:tcPr>
                </a:tc>
                <a:tc>
                  <a:txBody>
                    <a:bodyPr/>
                    <a:lstStyle/>
                    <a:p>
                      <a:pPr algn="ctr"/>
                      <a:r>
                        <a:rPr kumimoji="1" lang="ja-JP" altLang="en-US" b="1"/>
                        <a:t>総計</a:t>
                      </a:r>
                    </a:p>
                  </a:txBody>
                  <a:tcPr>
                    <a:solidFill>
                      <a:srgbClr val="CCFFCC"/>
                    </a:solidFill>
                  </a:tcPr>
                </a:tc>
                <a:tc>
                  <a:txBody>
                    <a:bodyPr/>
                    <a:lstStyle/>
                    <a:p>
                      <a:endParaRPr kumimoji="1" lang="ja-JP" altLang="en-US"/>
                    </a:p>
                  </a:txBody>
                  <a:tcPr>
                    <a:solidFill>
                      <a:srgbClr val="CCFFCC"/>
                    </a:solidFill>
                  </a:tcPr>
                </a:tc>
                <a:extLst>
                  <a:ext uri="{0D108BD9-81ED-4DB2-BD59-A6C34878D82A}">
                    <a16:rowId xmlns:a16="http://schemas.microsoft.com/office/drawing/2014/main" val="1313094130"/>
                  </a:ext>
                </a:extLst>
              </a:tr>
            </a:tbl>
          </a:graphicData>
        </a:graphic>
      </p:graphicFrame>
      <p:sp>
        <p:nvSpPr>
          <p:cNvPr id="10" name="四角形: 角を丸くする 9">
            <a:extLst>
              <a:ext uri="{FF2B5EF4-FFF2-40B4-BE49-F238E27FC236}">
                <a16:creationId xmlns:a16="http://schemas.microsoft.com/office/drawing/2014/main" id="{95142872-2EB8-C2A2-9500-5FF1D9269CAE}"/>
              </a:ext>
            </a:extLst>
          </p:cNvPr>
          <p:cNvSpPr/>
          <p:nvPr/>
        </p:nvSpPr>
        <p:spPr>
          <a:xfrm>
            <a:off x="157325" y="398950"/>
            <a:ext cx="3658973" cy="15784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このスライドを非表示スライドにしました</a:t>
            </a:r>
            <a:endParaRPr kumimoji="1" lang="en-US" altLang="ja-JP"/>
          </a:p>
          <a:p>
            <a:pPr algn="ctr"/>
            <a:r>
              <a:rPr kumimoji="1" lang="ja-JP" altLang="en-US"/>
              <a:t>次のスライドにまとめました</a:t>
            </a:r>
          </a:p>
        </p:txBody>
      </p:sp>
    </p:spTree>
    <p:extLst>
      <p:ext uri="{BB962C8B-B14F-4D97-AF65-F5344CB8AC3E}">
        <p14:creationId xmlns:p14="http://schemas.microsoft.com/office/powerpoint/2010/main" val="2568345960"/>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1_blank">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dbfb0cf-ada2-4966-9842-78e9c57467ee">
      <Terms xmlns="http://schemas.microsoft.com/office/infopath/2007/PartnerControls"/>
    </lcf76f155ced4ddcb4097134ff3c332f>
    <TaxCatchAll xmlns="46c0a021-bb35-4d3d-8550-6038dbfbec1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4144450F3F33E8408330B89C726DDE2A" ma:contentTypeVersion="11" ma:contentTypeDescription="新しいドキュメントを作成します。" ma:contentTypeScope="" ma:versionID="9c58ff35178bf34284e6fd6aa2204bce">
  <xsd:schema xmlns:xsd="http://www.w3.org/2001/XMLSchema" xmlns:xs="http://www.w3.org/2001/XMLSchema" xmlns:p="http://schemas.microsoft.com/office/2006/metadata/properties" xmlns:ns2="3dbfb0cf-ada2-4966-9842-78e9c57467ee" xmlns:ns3="46c0a021-bb35-4d3d-8550-6038dbfbec1b" targetNamespace="http://schemas.microsoft.com/office/2006/metadata/properties" ma:root="true" ma:fieldsID="c40ee04c6bcef6283a2a18429e2e2b0b" ns2:_="" ns3:_="">
    <xsd:import namespace="3dbfb0cf-ada2-4966-9842-78e9c57467ee"/>
    <xsd:import namespace="46c0a021-bb35-4d3d-8550-6038dbfbec1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bfb0cf-ada2-4966-9842-78e9c57467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c1ec0f05-8db9-4cb4-a53b-b8806002f24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6c0a021-bb35-4d3d-8550-6038dbfbec1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cc4e44f-2673-4902-9d9e-48203dfe64e4}" ma:internalName="TaxCatchAll" ma:showField="CatchAllData" ma:web="46c0a021-bb35-4d3d-8550-6038dbfbec1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C85B79-7FE2-47BF-A6DD-DC60314F399F}">
  <ds:schemaRefs>
    <ds:schemaRef ds:uri="46c0a021-bb35-4d3d-8550-6038dbfbec1b"/>
    <ds:schemaRef ds:uri="http://schemas.microsoft.com/office/2006/metadata/properties"/>
    <ds:schemaRef ds:uri="http://schemas.microsoft.com/office/infopath/2007/PartnerControls"/>
    <ds:schemaRef ds:uri="http://purl.org/dc/elements/1.1/"/>
    <ds:schemaRef ds:uri="http://schemas.microsoft.com/office/2006/documentManagement/types"/>
    <ds:schemaRef ds:uri="http://purl.org/dc/dcmitype/"/>
    <ds:schemaRef ds:uri="3dbfb0cf-ada2-4966-9842-78e9c57467ee"/>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7969BDF6-02FD-4DD4-80C5-AE01D9C0B198}">
  <ds:schemaRefs>
    <ds:schemaRef ds:uri="http://schemas.microsoft.com/sharepoint/v3/contenttype/forms"/>
  </ds:schemaRefs>
</ds:datastoreItem>
</file>

<file path=customXml/itemProps3.xml><?xml version="1.0" encoding="utf-8"?>
<ds:datastoreItem xmlns:ds="http://schemas.openxmlformats.org/officeDocument/2006/customXml" ds:itemID="{DFC9F469-61D4-42A4-9782-D2F9073712EC}">
  <ds:schemaRefs>
    <ds:schemaRef ds:uri="3dbfb0cf-ada2-4966-9842-78e9c57467ee"/>
    <ds:schemaRef ds:uri="46c0a021-bb35-4d3d-8550-6038dbfbec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otalTime>4</TotalTime>
  <Words>2525</Words>
  <Application>Microsoft Macintosh PowerPoint</Application>
  <PresentationFormat>ワイド画面</PresentationFormat>
  <Paragraphs>421</Paragraphs>
  <Slides>22</Slides>
  <Notes>20</Notes>
  <HiddenSlides>1</HiddenSlides>
  <MMClips>0</MMClips>
  <ScaleCrop>false</ScaleCrop>
  <HeadingPairs>
    <vt:vector size="6" baseType="variant">
      <vt:variant>
        <vt:lpstr>使用されているフォント</vt:lpstr>
      </vt:variant>
      <vt:variant>
        <vt:i4>16</vt:i4>
      </vt:variant>
      <vt:variant>
        <vt:lpstr>テーマ</vt:lpstr>
      </vt:variant>
      <vt:variant>
        <vt:i4>1</vt:i4>
      </vt:variant>
      <vt:variant>
        <vt:lpstr>スライド タイトル</vt:lpstr>
      </vt:variant>
      <vt:variant>
        <vt:i4>22</vt:i4>
      </vt:variant>
    </vt:vector>
  </HeadingPairs>
  <TitlesOfParts>
    <vt:vector size="39" baseType="lpstr">
      <vt:lpstr>HGP創英角ｺﾞｼｯｸUB</vt:lpstr>
      <vt:lpstr>HG創英角ｺﾞｼｯｸUB</vt:lpstr>
      <vt:lpstr>Hiragino Sans W4</vt:lpstr>
      <vt:lpstr>Hiragino Sans W7</vt:lpstr>
      <vt:lpstr>Meiryo UI</vt:lpstr>
      <vt:lpstr>ＭＳ Ｐゴシック</vt:lpstr>
      <vt:lpstr>ＭＳ Ｐゴシック</vt:lpstr>
      <vt:lpstr>Noto Sans Symbols</vt:lpstr>
      <vt:lpstr>Rounded M+</vt:lpstr>
      <vt:lpstr>Yu Gothic</vt:lpstr>
      <vt:lpstr>Yu Gothic</vt:lpstr>
      <vt:lpstr>Arial</vt:lpstr>
      <vt:lpstr>Calibri</vt:lpstr>
      <vt:lpstr>Lucida Calligraphy</vt:lpstr>
      <vt:lpstr>Segoe UI Historic</vt:lpstr>
      <vt:lpstr>Wingdings</vt:lpstr>
      <vt:lpstr>1_blank</vt:lpstr>
      <vt:lpstr>ブルーシーカーズ</vt:lpstr>
      <vt:lpstr>PowerPoint プレゼンテーション</vt:lpstr>
      <vt:lpstr>PowerPoint プレゼンテーション</vt:lpstr>
      <vt:lpstr>PowerPoint プレゼンテーション</vt:lpstr>
      <vt:lpstr>目次</vt:lpstr>
      <vt:lpstr>第１章　今回取り組む地域課題　　</vt:lpstr>
      <vt:lpstr>第１章　今回取り組む地域課題 　</vt:lpstr>
      <vt:lpstr>第１章　今回取り組む地域課題 　</vt:lpstr>
      <vt:lpstr>第１章　今回取り組む地域課題　</vt:lpstr>
      <vt:lpstr>第２章　技術実証の具体的な内容</vt:lpstr>
      <vt:lpstr>第２章　技術実証の具体的な内容</vt:lpstr>
      <vt:lpstr>第２章　技術実証の具体的な内容</vt:lpstr>
      <vt:lpstr>第２章　技術実証の具体的な内容（続き）</vt:lpstr>
      <vt:lpstr>第３章　必要予算</vt:lpstr>
      <vt:lpstr>第４章　重複応募の有無</vt:lpstr>
      <vt:lpstr>第５章　地域連携先</vt:lpstr>
      <vt:lpstr>第５章　地域連携先</vt:lpstr>
      <vt:lpstr>第５章　地域連携先</vt:lpstr>
      <vt:lpstr>第６章　近い将来の製品化又はサービス化の計画</vt:lpstr>
      <vt:lpstr>第６章　近い将来の製品化又はサービス化の計画</vt:lpstr>
      <vt:lpstr>PowerPoint プレゼンテーション</vt:lpstr>
      <vt:lpstr>第３章　必要予算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5I24 野下 航輝【鈴鹿】</cp:lastModifiedBy>
  <cp:revision>2</cp:revision>
  <dcterms:created xsi:type="dcterms:W3CDTF">2016-11-01T00:16:05Z</dcterms:created>
  <dcterms:modified xsi:type="dcterms:W3CDTF">2025-04-30T04:04:39Z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0x0101004144450F3F33E8408330B89C726DDE2A</vt:lpwstr>
  </property>
  <property fmtid="{D5CDD505-2E9C-101B-9397-08002B2CF9AE}" pid="3" name="MediaServiceImageTags">
    <vt:lpwstr/>
  </property>
</Properties>
</file>