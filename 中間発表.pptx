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handoutMasterIdLst>
    <p:handoutMasterId r:id="rId24"/>
  </p:handoutMasterIdLst>
  <p:sldIdLst>
    <p:sldId id="272" r:id="rId2"/>
    <p:sldId id="273" r:id="rId3"/>
    <p:sldId id="280" r:id="rId4"/>
    <p:sldId id="281" r:id="rId5"/>
    <p:sldId id="282" r:id="rId6"/>
    <p:sldId id="283" r:id="rId7"/>
    <p:sldId id="284" r:id="rId8"/>
    <p:sldId id="285" r:id="rId9"/>
    <p:sldId id="298" r:id="rId10"/>
    <p:sldId id="286" r:id="rId11"/>
    <p:sldId id="287" r:id="rId12"/>
    <p:sldId id="288" r:id="rId13"/>
    <p:sldId id="290" r:id="rId14"/>
    <p:sldId id="289" r:id="rId15"/>
    <p:sldId id="291" r:id="rId16"/>
    <p:sldId id="292" r:id="rId17"/>
    <p:sldId id="293" r:id="rId18"/>
    <p:sldId id="294" r:id="rId19"/>
    <p:sldId id="295" r:id="rId20"/>
    <p:sldId id="296" r:id="rId21"/>
    <p:sldId id="297" r:id="rId22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D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6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4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0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2026年1月25日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2:19:49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2:20:47.652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4182 3906 8027,'7'5'0,"-7"-5"0,-7 0 0,-8-10 0,-3 2 0,-2-5 0,-6 0 0,-2-4 0,-3 2 0,-1-2 0,1 4 0,-1-1 0,0-2 0,0 2 0,4 0 0,-1 3 0,6 2 0,-2 2 0,4 1 0,3 2 0,-2 2 0,2-5 0,2 5 0,-2-2 0,0 3 0,-3 1 0,0 0 0,0 0 0,0 0 0,-1 0 0,1-4 0,0 1 0,0 1 0,3-1 0,0 0 0,5 1 0,-7-3 0,3 2 0,-3 0 0,-2-2 0,1 1 0,0 3 0,0-2 0,-1 1 0,1 2 0,0 0 0,0 0 0,3 0 0,0 0 0,0 0 0,-7 0 0,2 0 0,-1 0 0,-2 0 0,1 0 0,-5 0 0,2 0 0,1 0 0,-1 0 0,4 0 0,-1 0 0,3 0 0,1 0 0,-1 0 0,1 0 0,0 0 0,0 0 0,-4 0 0,0 0 0,-1 2 0,2 1 0,1-2 0,-2 3 0,-1 1 0,2-2 0,-6 1 0,2-4 0,-4 3 0,-3 1 0,-3 4 0,-4-1 0,-1-1 0,1 1 0,-1 0 0,1 4 0,-1-2 0,1-1 0,-1 0 0,5-3 0,3 3 0,6 0 0,0-5 0,10 1 0,2-4 0,4 0 0,2 0 0,1 0 0,-1 1 0,0 3 0,-4-3 0,-3 2 0,-2 2 0,-1-1 0,0 3 0,0-4 0,1 5 0,2-1 0,-2-1 0,2 1 0,-1-3 0,2 3 0,-3-1 0,2 1 0,-2 2 0,-1-1 0,-5 1 0,-3 2 0,-1-1 0,-2 1 0,-4-1 0,1 1 0,-4 0 0,4-1 0,-2 1 0,2-1 0,3 1 0,0 0 0,2-1 0,5 1 0,-1-4 0,1 0 0,3 0 0,-3 4 0,-1-1 0,1 1 0,0 0 0,4-1 0,-4 1 0,1-1 0,-2 1 0,1 0 0,-3-1 0,2 1 0,-5-1 0,4 1 0,0 0 0,-4 4 0,3 3 0,-3 1 0,-1-2 0,4 3 0,0-2 0,4-1 0,-1 0 0,4 1 0,3 3 0,-2 2 0,3 1 0,-2 0 0,1 4 0,-2-1 0,2 2 0,0 1 0,0-1 0,-1 0 0,5-1 0,0 2 0,3-5 0,0 3 0,1-3 0,-1 3 0,1-3 0,-1 3 0,0-3 0,4 0 0,0-4 0,5 0 0,-2 0 0,0 1 0,0-1 0,0 0 0,4 0 0,-1-1 0,-2-2 0,2 2 0,-3-2 0,3 3 0,1 4 0,-4-3 0,1 3 0,-1 1 0,4-2 0,-3 6 0,-1-2 0,2 3 0,-3-3 0,2 1 0,-1-5 0,4 5 0,0-6 0,-3 7 0,-1-4 0,2 1 0,0-2 0,2 3 0,0-5 0,0 2 0,0-2 0,0-2 0,0 0 0,0 0 0,0-1 0,0-2 0,0 6 0,0-3 0,0 2 0,0-1 0,0 0 0,0 3 0,0-3 0,0 3 0,0-3 0,0 0 0,0-2 0,0-3 0,2 3 0,1-2 0,0 1 0,4-1 0,0 2 0,3-3 0,1 3 0,0 2 0,-1-1 0,1 0 0,1-1 0,2-2 0,2 2 0,5-2 0,1 2 0,-1 1 0,0 0 0,0 0 0,1 1 0,-1-1 0,4 4 0,-1-1 0,2 1 0,-2-5 0,1-2 0,4 1 0,-1-5 0,3 4 0,1-4 0,5 3 0,1-2 0,4 3 0,0 0 0,4 3 0,7 4 0,3-1 0,11 4 0,2-3 0,2 3 0,8-4 0,6 0 0,1-2 0,6-5 0,-1 2 0,1-5 0,-13 0 0,-5-3 0,-4 0 0,8-1 0,-4 0 0,-3-3 0,1 1 0,-5-4 0,11 3 0,-4-4 0,0 4 0,-3-3 0,-1 3 0,14-3 0,-5 3 0,3-4 0,-8 4 0,-3-3 0,6-1 0,0-3 0,0 0 0,12 0 0,-6 0 0,2 0 0,0 0 0,0 0 0,3 0 0,1 0 0,-2 0 0,-16 0 0,-4 0 0,-2-3 0,9-1 0,-1 0 0,-2 0 0,-2 2 0,-6-5 0,1 4 0,0 0 0,-2-2 0,-2 1 0,-3 1 0,-8 3 0,2 0 0,-5 0 0,0-4 0,-3 1 0,3-4 0,0 3 0,1-3 0,-1 4 0,1-6 0,2 2 0,2 1 0,-5-1 0,-1 4 0,-6-4 0,-3 3 0,-4-3 0,0 3 0,0-3 0,-4 0 0,1-3 0,-1-1 0,4 0 0,-2 1 0,-1-1 0,0 1 0,-4-1 0,0 0 0,-4 1 0,1-1 0,3 0 0,-3 1 0,3-1 0,2-1 0,2-2 0,-2 3 0,0-4 0,-1 4 0,2 0 0,-3 0 0,3 1 0,-3-1 0,0 1 0,-4-1 0,0 0 0,0 1 0,-4 3 0,-3 0 0,-2 1 0,-2-1 0,1-2 0,0 6 0,-5-5 0,-3 0 0,3 3 0,1-2 0,3-4 0,0-3 0,2-9 0,2 2 0,3-2 0,4 1 0,1 1 0,3 0 0,-3 0 0,3-1 0,-6 1 0,-1 0 0,-1 0 0,5-1 0,-6 5 0,-2-1 0,2 5 0,-2-1 0,0 0 0,-3 3 0,-4-2 0,0 6 0,0-7 0,3-4 0,2-5 0,2-2 0,1 0 0,6 4 0,-5-4 0,7 0 0,-3 2 0,2 0 0,-4 2 0,-3 5 0,5-4 0,-2 2 0,2-2 0,5-6 0,-1-2 0,1 0 0,-4 0 0,-1 5 0,-2-2 0,1 2 0,-5 2 0,1-4 0,0 1 0,2-6 0,8 2 0,-1-6 0,4-2 0,-1-3 0,1 4 0,-2 0 0,-4 3 0,2 4 0,1-1 0,-4 4 0,-3-3 0,0 5 0,3-2 0,0-2 0,0-2 0,1 2 0,-1-1 0,-1 4 0,-2 0 0,0 5 0,-3 1 0,2 4 0,-3-4 0,2 5 0,-2-1 0,-1 1 0,5-1 0,-4 1 0,4-5 0,-6 5 0,3-1 0,-2 2 0,1 2 0,2-4 0,5 0 0,1-2 0,-1 2 0,5-2 0,2-7 0,3-2 0,4 2 0,0-6 0,6 2 0,-3-1 0,4-3 0,0 3 0,-3 2 0,0 1 0,0-1 0,3 2 0,4-2 0,1 1 0,2 3 0,-3-3 0,1-1 0,-1 1 0,-1 2 0,5 5 0,-6-2 0,2 2 0,-2-2 0,-2-1 0,6-1 0,1 1 0,2-1 0,-2-3 0,3 3 0,-2-3 0,2 2 0,1 2 0,0 0 0,0 0 0,-1 4 0,-3 3 0,2 2 0,-5 2 0,-4-1 0,-3 1 0,-4 2 0,0 1 0,-2 5 0,-1-1 0,-5-2 0,-2 1 0,-3 1 0,-1 3 0,1 0 0,-1 0 0,4 0 0,-1 0 0,2 0 0,-2 0 0,1 0 0,3 0 0,-3 0 0,4 0 0,-1 0 0,4 0 0,4 0 0,2 0 0,4 0 0,2 0 0,1 0 0,-1 0 0,2 0 0,-4 0 0,-3 0 0,1 0 0,-4 0 0,-1 0 0,-3 0 0,0 0 0,0 0 0,0 0 0,0 0 0,3 0 0,0 0 0,4 0 0,-3 0 0,0 0 0,0 0 0,-5 0 0,1 0 0,0 0 0,-4 0 0,7-4 0,0 1 0,0-1 0,-3 4 0,0 0 0,0 0 0,-4 0 0,0 0 0,1 0 0,3 0 0,-1 0 0,1 0 0,4 0 0,-1 0 0,5-1 0,-1-1 0,2-2 0,2 1 0,3-1 0,1 0 0,1 2 0,-2 0 0,4-2 0,-5 3 0,1-3 0,-6 3 0,-1 1 0,-6 0 0,-2 0 0,0 0 0,-6 0 0,1 0 0,-1 0 0,-2 0 0,6 0 0,-1 0 0,4 0 0,0 0 0,-1 0 0,1 1 0,0 3 0,0-2 0,0 5 0,-1-4 0,1 0 0,4 2 0,-1-1 0,4 0 0,-4 0 0,4-3 0,-3 3 0,0-3 0,0-1 0,-2 0 0,5 0 0,0 0 0,3 0 0,1 0 0,-1 0 0,0 0 0,1 0 0,-1 0 0,1 0 0,-2 0 0,-2 0 0,2 0 0,-2 0 0,3 0 0,0 0 0,0 0 0,1 0 0,-1 0 0,0 0 0,-3 0 0,-3 0 0,-4 0 0,0 0 0,0 0 0,-5 0 0,-3 0 0,-1 0 0,-2 0 0,-1 0 0,-2 0 0,-2 0 0,-1 0 0,-3 0 0,6 0 0,1 0 0,6 0 0,2 0 0,5 0 0,-4 0 0,0 0 0,0 0 0,0 0 0,-2 0 0,-5 0 0,0 0 0,0 0 0,1 0 0,-1 0 0,0 0 0,0 0 0,1 0 0,-1 0 0,0 0 0,0 0 0,4 0 0,0 0 0,4-4 0,0 1 0,1-4 0,2 3 0,5-4 0,1 1 0,4 1 0,0-1 0,4 3 0,0-3 0,1 4 0,-1-4 0,-3-1 0,-1-2 0,0-1 0,-6 1 0,2-1 0,-3 0 0,4 1 0,-5-1 0,2 1 0,-8-1 0,-3 0 0,-3 1 0,0-1 0,-5 2 0,1 1 0,-5-1 0,1 2 0,-2-2 0,-2-2 0,1-1 0,0-2 0,3-1 0,2-7 0,3-1 0,-5 2 0,-4 1 0,-3-2 0,2 0 0,-2-3 0,3-5 0,0-6 0,5-3 0,-1 4 0,0-4 0,-4 4 0,0-1 0,-3 4 0,1 2 0,-4 1 0,0 0 0,0 4 0,-3-3 0,3 3 0,0-3 0,0 3 0,1-3 0,-2 3 0,-2 0 0,3 4 0,1 0 0,-2 0 0,1-2 0,-4 0 0,0-2 0,0 0 0,0 4 0,3-4 0,1 0 0,0-4 0,0 0 0,-3 0 0,3 1 0,-3-2 0,-1 5 0,0 1 0,0 2 0,0 1 0,0 0 0,0 0 0,0 0 0,0-1 0,0 1 0,0 0 0,0 0 0,-1-2 0,-3-2 0,3 3 0,-3-3 0,0 3 0,0 1 0,0-1 0,0 1 0,3 0 0,-3 0 0,0-4 0,0 0 0,-1 0 0,2 4 0,0 0 0,-4 0 0,4-1 0,-4 1 0,3-3 0,-3-1 0,5 0 0,-2 4 0,2 1 0,-2 2 0,3-2 0,-2 2 0,0-3 0,0-4 0,2 2 0,-3-6 0,2 5 0,-1-3 0,0 1 0,-2-3 0,2 4 0,0 2 0,-4 5 0,3-2 0,-3 2 0,0 2 0,-3-2 0,3 5 0,0-1 0,0-1 0,-4 1 0,0-4 0,1 4 0,-2-5 0,-2 1 0,1-2 0,-5-1 0,0 1 0,-3 2 0,0-5 0,0 2 0,-4-3 0,0 3 0,-1 0 0,1-1 0,-2 2 0,-4 3 0,-1-4 0,0 4 0,0 0 0,0-1 0,-3 5 0,-1-1 0,1 3 0,3 0 0,0-3 0,1 0 0,-1-1 0,0 5 0,-4-1 0,1 1 0,-5-4 0,1-1 0,0 1 0,-3 4 0,0-5 0,-7 1 0,-2 0 0,-4 4 0,-4-1 0,17 0 0,-27 0 0,17-2 0,-4-2 0,-6 1 0,6 4 0,-1-1 0,4 0 0,0 1 0,0-1 0,-2 4 0,-1 0 0,2 1 0,-3-1 0,-1-2 0,2 2 0,-5 1 0,5-1 0,-4 3 0,3-3 0,-4 4 0,1-5 0,1 5 0,-1-4 0,-3 3 0,-1-3 0,-4 4 0,8-4 0,-4 4 0,7 0 0,2 2 0,6 1 0,-3 0 0,2 0 0,-2 0 0,-1 0 0,-3 0 0,-1 0 0,-4 0 0,0 0 0,2 0 0,-1 0 0,1 0 0,-1 0 0,-1 0 0,4 0 0,-3 0 0,4 0 0,-6 0 0,2 0 0,-2 0 0,-2 0 0,0 0 0,2-2 0,2-1 0,-3-3 0,5-5 0,-2 1 0,4-1 0,3 0 0,3 1 0,-1-2 0,5-2 0,-4 2 0,0-2 0,2 2 0,-2 1 0,4 1 0,-3-1 0,4 2 0,-1 2 0,-3-3 0,0 3 0,-3-2 0,-1-2 0,0 4 0,0 0 0,1 3 0,2-3 0,0 4 0,4-4 0,-4 3 0,4-3 0,0 4 0,4-4 0,-4 3 0,0-3 0,0 3 0,3-3 0,1 1 0,-1-1 0,1-2 0,-1 2 0,5 1 0,-1-1 0,0 3 0,-4-3 0,2 5 0,2-2 0,-1 2 0,5-1 0,-1 1 0,4-1 0,1 2 0,-1 1 0,3-4 0,1 1 0,3-1 0,-3 4 0,-1 0 0,2-4 0,-2 1 0,1-1 0,-4 4 0,0 0 0,0 0 0,0 0 0,1 0 0,0 0 0,3 0 0,-2 0 0,5 0 0,0 0 0,0 0 0,1 0 0,-4 0 0,0 0 0,-4 0 0,3 0 0,1 0 0,4 0 0,0 0 0,1 2 0,2 1 0,3-2 0,1 3 0,3-3 0,-4-1 0,5 0 0,-1 0 0,-2 0 0,2 0 0,-1 0 0,1 0 0,2 4 0,-2-1 0,-3 2 0,0-2 0,0-1 0,-1 1 0,1 2 0,-4-2 0,-1 4 0,1-3 0,0 1 0,0-2 0,-1 0 0,1 2 0,0 0 0,4-1 0,-6-1 0,2 2 0,-2 1 0,-3-3 0,2 4 0,-6-3 0,2 3 0,-3 0 0,-1 4 0,0-4 0,1 0 0,-1-1 0,0 1 0,0 2 0,0-2 0,-3 3 0,0 0 0,-4-3 0,3 1 0,0-1 0,0 3 0,3 0 0,-2-3 0,5 1 0,2-5 0,4 5 0,0-5 0,0 4 0,-1-3 0,2 3 0,-6-4 0,5 2 0,-5-1 0,2-2 0,-1 5 0,1-5 0,2 2 0,3 1 0,-3-2 0,-1 2 0,1-2 0,0-1 0,4 1 0,-2 2 0,1-2 0,-1 6 0,5-2 0,-3-1 0,-4 1 0,3-4 0,-3 4 0,-2-1 0,-1 3 0,-3-2 0,3-5 0,-1 2 0,5-2 0,-5 1 0,1-1 0,-4 1 0,-1 2 0,-2-2 0,0 6 0,-3-2 0,2-1 0,-3 1 0,4-1 0,-4 1 0,5-1 0,-2-3 0,2 0 0,-1 4 0,2-4 0,-3 4 0,3-4 0,2 0 0,-1 2 0,0-2 0,0 2 0,0-1 0,0-2 0,0 5 0,-3-5 0,0 2 0,1 1 0,5-2 0,-1 2 0,1-2 0,2 0 0,-1 4 0,4-4 0,0 4 0,-2 1 0,1 2 0,-1 1 0,1-1 0,3 1 0,-3 0 0,2-1 0,2 1 0,1-1 0,2 1 0,-2 0 0,3-1 0,0 1 0,0-1 0,2 1 0,-1 0 0,1-1 0,0-4 0,5-2 0,-1 2 0,-3-2 0,0 3 0,0 2 0,3-6 0,-3 5 0,0 0 0,-2-3 0,2 2 0,3-4 0,-4 0 0,2 2 0,-1-1 0,2 0 0,-2 0 0,1 1 0,-1 2 0,2 1 0,-2-5 0,2 5 0,2-5 0,-1 2 0,1-2 0,3 2 0,-1 2 0,3-1 0,-3-2 0,-1-3 0,7 7 0,-5-4 0,4 4 0,-6-7 0,7 7 0,-6-4 0,5 3 0,-4-3 0,3 3 0,-3-4 0,4 5 0,-4-2 0,-2 0 0,1 4 0,1-3 0,-2 2 0,4-2 0,-3 0 0,1 2 0,-1 0 0,-2 2 0,3-1 0,0 1 0,0-1 0,-4 1 0,2 0 0,2-1 0,-2 1 0,6-1 0,-1 1 0,-1 0 0,2-1 0,-8 1 0,8-1 0,-4 1 0,-2 4 0,-1 3 0,-1 2 0,-3 1 0,2 1 0,2-1 0,-1-5 0,0-2 0,5-2 0,3-1 0,1-1 0,-2 1 0,3 0 0,-4-1 0,5 1 0,0 0 0,-5-1 0,0 2 0,-1 2 0,-3 3 0,6 4 0,-4 0 0,3 0 0,-3 1 0,4-1 0,-1 0 0,4 0 0,0 1 0,0-1 0,0 0 0,0 0 0,-3 0 0,-1 1 0,0-6 0,4-2 0,0-2 0,0-1 0,0-1 0,0 1 0,0-1 0,0 1 0,0 0 0,-3 4 0,-1 3 0,1 1 0,3-2 0,0 2 0,0-5 0,0 0 0,0-3 0,0 0 0,0-1 0,0 1 0,0 0 0,0-1 0,0 6 0,0 1 0,0 3 0,0 2 0,0-1 0,0 0 0,0-3 0,0-1 0,0 1 0,0 3 0,0-1 0,0-2 0,0 6 0,0-3 0,0 1 0,0-3 0,0-1 0,3-2 0,1 2 0,1 1 0,-2-5 0,-2 1 0,3-1 0,1-1 0,-2 5 0,5 0 0,-1 3 0,-1 1 0,1 3 0,-1 2 0,1 5 0,3-3 0,-3-1 0,1-1 0,-1 1 0,2 2 0,-6-6 0,4 1 0,-3-4 0,3 1 0,-4-1 0,1-1 0,-4-2 0,3 2 0,1-3 0,0 2 0,-4-1 0,1 2 0,2-2 0,-2-3 0,3-1 0,-3 3 0,-1 0 0,4 0 0,-1 1 0,1-4 0,-4 3 0,0-2 0,0 2 0,3-4 0,1 1 0,-1-2 0,-3-1 0,0-1 0,0 1 0,0 0 0,0 0 0,0 2 0,0 2 0,0 3 0,0 0 0,0-1 0,0 0 0,0-4 0,0 1 0,0-2 0,0-1 0,0-1 0,0 1 0,0 0 0,0-1 0,-1 4 0,-2 0 0,1 1 0,-1-5 0,-2 2 0,2 2 0,-1-2 0,4 2 0,-1-2 0,-3-1 0,3-1 0,-3 1 0,4-1 0,-4 1 0,0 0 0,-3-1 0,4 1 0,-4 0 0,3-1 0,-1 1 0,2-1 0,2 1 0,-5-2 0,2-1 0,-11 6 0,-7-3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2026年1月25日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AA36-3772-7026-E334-F89767C2B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F3DEAD-E0A4-5ADF-CB96-6A24F0D0D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00F2F2F-9870-5A70-86BE-79A979B28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DF6A93-919C-B6C7-BE84-70CBD522E0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8203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8F0F8-5F88-7EFB-C5F8-3D9504540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2AFB119-71AB-411D-1444-D2CF592D0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7115132-9A5E-F706-7477-FE311B26B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CF80A4-356E-E791-FEBB-4BAF2CCF2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0228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DC25-1B97-AEA0-7111-26633D520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6314E7E-D934-059D-8C9B-74F1F2AE4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7462D25-F74C-4BB2-6868-465EB903C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37C4CA-59A0-0ED4-AFFC-3AB4B9DD3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2560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AF506-D907-A981-E630-AEF330C21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CA279DE-3F73-4D74-A187-3E3481B73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89304E-6D5B-359F-3199-ACB2747B5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87A531-8529-B5DD-041D-A5F335700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1259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7F6D6-701C-6B27-EFAD-7AF005BB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B4FC8E0-9C77-C585-7A8A-01E2B0ED2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391C4BF-21AA-53CE-F26A-2FA7A77AE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2C63D5-514C-1502-9662-BD5E947B14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0145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D3071-D9F1-26EC-AA93-B47096C8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330E582-D8FC-A2B2-81A4-97E353786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228DB93-2EBF-920B-2CC1-0D26E6871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C9AAE5-55A2-2B42-E96C-50950C76F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56867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976A6-A9FA-11A8-DC19-FF3CA2B80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52FD10E-A0B5-6A4E-7727-27ABA1B3F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5D05BB-012D-C65B-2F43-617F575EE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DEF46B-0C68-1AE6-C6B6-627B5DE28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760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04A1E-8317-A3C0-84D1-27BF4A13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B33F7E-78A6-9B07-1681-92826744B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6E159A2-91C2-2B78-7F06-22A14B2C7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8BF640E-5B5C-BCD4-A943-6591B191A6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6017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7DA4-0F64-BD74-3047-BE6E60B8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336661-7B5F-E9DF-5B64-94933FC08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2D4EF05-2DC8-BB7E-73F0-88B29EBE7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B690D0-7216-F73B-AA9C-42A39D3964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0949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61E25-1DA3-BC6A-CCEC-6FF3B0FC1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81E3D88-4CDB-08F0-C0F6-75448C721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52DF173-6DF3-EE63-FED4-382618C2D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3FFA43-B2B5-EE11-17A1-8B4ACFEB5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1348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FC9C-2C86-DBC9-1CE2-48DF467F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BA04751-9E58-C579-15CB-55A56D858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F61C630-C594-2E7B-5418-A7F75EBE2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C0B3B2-3555-259B-185B-4441DE57C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9632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65F13-00B4-9642-6596-56F16F62D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FA035E-C166-11A0-D730-E704497A8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4BF2F44-FC17-C18D-0901-64D141C5B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73DBA6-699E-8224-10A2-1C8A513F48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14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9767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DF527-BD10-0EA2-EEFF-B957128C1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E0FA5FE-6A8F-8D9F-997A-4863A39C4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6B56653-55E2-0E05-0B30-811BEF525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B7CFC1-F233-6828-7AF0-9468CD7C61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15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37669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20A5-A382-D816-E829-3AB9E070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339D636-68EB-7F06-62FD-CBFA28FC2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092F00D-BDF6-4E04-0AF8-9EEC9C4FD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01BEF2-C29D-1744-1FBD-EF59B0C04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16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40108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1A2F-1736-81FA-8695-F3127035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F14ED3-DD61-AECE-1113-0FE1C69A0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927E4F1-F1B2-FA21-CF7D-D606496AE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0DEBBB-0671-65C0-F921-1E0E9BC41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17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3535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9810-D3A7-C8B8-A3C8-8BC42A3ED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B440DC-470B-225E-4C83-F9C846BB3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34E4DA2-80F0-411E-07F5-3C66902B5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A20B848-F9F3-EFDB-825A-2C6F6AD67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18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49597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90C7D-5109-9FAF-DF38-16BD09F6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83889F-AE30-6F72-1BB3-637B7B705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41A6099-9A2E-E9C5-296C-EABD640E36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F92989-0BD0-7D4A-77C5-76AA02113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19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2022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73B9-E214-AAB0-11E3-E9DB989AF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FD47139-8A27-8295-E8A4-B899CF027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2B63365-C7E6-EB89-8EFD-89E650390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2C2B0EA-08FC-A585-9BC0-F0E74C4D6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20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2386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B6F1F-ECF2-442A-4002-32C936B1D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3166031-13CE-D69D-DE94-C130E8F6F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6BB3485-5F37-3F7D-5A26-70BD1BF54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14CBC56-CF90-F060-9ECC-F57C0F4026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537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  <a:p>
            <a:pPr lvl="1" rtl="0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rtl="0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rtl="0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rtl="0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/>
              <a:t>マスター テキストの書式設定</a:t>
            </a:r>
          </a:p>
          <a:p>
            <a:pPr lvl="1" rtl="0" eaLnBrk="1" latinLnBrk="0" hangingPunct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 rtl="0" eaLnBrk="1" latinLnBrk="0" hangingPunct="1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 rtl="0" eaLnBrk="1" latinLnBrk="0" hangingPunct="1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 rtl="0" eaLnBrk="1" latinLnBrk="0" hangingPunct="1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2026年1月25日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 eaLnBrk="1" latinLnBrk="0" hangingPunct="1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/>
              <a:t>アイコンをクリックして図を追加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2026年1月25日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2 </a:t>
            </a:r>
            <a:r>
              <a:rPr kumimoji="1" lang="ja-JP" altLang="en-US" noProof="0" dirty="0"/>
              <a:t>レベル</a:t>
            </a:r>
          </a:p>
          <a:p>
            <a:pPr lvl="2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3 </a:t>
            </a:r>
            <a:r>
              <a:rPr kumimoji="1" lang="ja-JP" altLang="en-US" noProof="0" dirty="0"/>
              <a:t>レベル</a:t>
            </a:r>
          </a:p>
          <a:p>
            <a:pPr lvl="3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4 </a:t>
            </a:r>
            <a:r>
              <a:rPr kumimoji="1" lang="ja-JP" altLang="en-US" noProof="0" dirty="0"/>
              <a:t>レベル</a:t>
            </a:r>
          </a:p>
          <a:p>
            <a:pPr lvl="4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5 </a:t>
            </a:r>
            <a:r>
              <a:rPr kumimoji="1"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2 </a:t>
            </a:r>
            <a:r>
              <a:rPr kumimoji="1" lang="ja-JP" altLang="en-US" noProof="0" dirty="0"/>
              <a:t>レベル</a:t>
            </a:r>
          </a:p>
          <a:p>
            <a:pPr lvl="2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3 </a:t>
            </a:r>
            <a:r>
              <a:rPr kumimoji="1" lang="ja-JP" altLang="en-US" noProof="0" dirty="0"/>
              <a:t>レベル</a:t>
            </a:r>
          </a:p>
          <a:p>
            <a:pPr lvl="3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4 </a:t>
            </a:r>
            <a:r>
              <a:rPr kumimoji="1" lang="ja-JP" altLang="en-US" noProof="0" dirty="0"/>
              <a:t>レベル</a:t>
            </a:r>
          </a:p>
          <a:p>
            <a:pPr lvl="4"/>
            <a:r>
              <a:rPr kumimoji="1" lang="ja-JP" altLang="en-US" noProof="0" dirty="0"/>
              <a:t>第 </a:t>
            </a:r>
            <a:r>
              <a:rPr kumimoji="1" lang="en-US" altLang="ja-JP" noProof="0" dirty="0"/>
              <a:t>5 </a:t>
            </a:r>
            <a:r>
              <a:rPr kumimoji="1"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 eaLnBrk="1" latinLnBrk="0" hangingPunct="1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2026年1月25日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/>
              <a:t>フッターを追加</a:t>
            </a:r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>
            <a:extLst>
              <a:ext uri="{FF2B5EF4-FFF2-40B4-BE49-F238E27FC236}">
                <a16:creationId xmlns:a16="http://schemas.microsoft.com/office/drawing/2014/main" id="{A1483936-7207-619F-3499-EB39D22B7DBD}"/>
              </a:ext>
            </a:extLst>
          </p:cNvPr>
          <p:cNvSpPr txBox="1"/>
          <p:nvPr/>
        </p:nvSpPr>
        <p:spPr>
          <a:xfrm>
            <a:off x="662986" y="1895422"/>
            <a:ext cx="11109913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電磁センサ搭載水中ドローンによる海底沈殿した金属ゴミの探査 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A1FE5F0B-5A29-93FD-FA4A-EA2C6C65656C}"/>
              </a:ext>
            </a:extLst>
          </p:cNvPr>
          <p:cNvSpPr txBox="1"/>
          <p:nvPr/>
        </p:nvSpPr>
        <p:spPr>
          <a:xfrm>
            <a:off x="966298" y="4004448"/>
            <a:ext cx="5735534" cy="370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ja-JP" altLang="en-US" sz="20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令和</a:t>
            </a:r>
            <a:r>
              <a:rPr lang="en-US" altLang="ja-JP" sz="20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7</a:t>
            </a:r>
            <a:r>
              <a:rPr lang="ja-JP" altLang="en-US" sz="20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年度 卒業研究中間報告会</a:t>
            </a:r>
            <a:endParaRPr lang="en-US" sz="20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0BC1702-44ED-02B5-3E54-917595B00C08}"/>
              </a:ext>
            </a:extLst>
          </p:cNvPr>
          <p:cNvSpPr txBox="1"/>
          <p:nvPr/>
        </p:nvSpPr>
        <p:spPr>
          <a:xfrm>
            <a:off x="966298" y="4374870"/>
            <a:ext cx="5735534" cy="399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ja-JP" altLang="en-US" sz="20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電子情報工学科 </a:t>
            </a:r>
            <a:r>
              <a:rPr lang="en-US" altLang="ja-JP" sz="20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5</a:t>
            </a:r>
            <a:r>
              <a:rPr lang="ja-JP" altLang="en-US" sz="20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年</a:t>
            </a:r>
            <a:endParaRPr lang="en-US" sz="20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研究の背景</a:t>
            </a:r>
            <a:endParaRPr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rtl="0"/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研究の目的</a:t>
            </a:r>
          </a:p>
          <a:p>
            <a:pPr rtl="0"/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研究の進め方</a:t>
            </a:r>
          </a:p>
          <a:p>
            <a:pPr rtl="0"/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研究の現状</a:t>
            </a:r>
          </a:p>
          <a:p>
            <a:pPr rtl="0"/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今後の方針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AFF3A42-7C38-9D7D-57FF-BD70E6410476}"/>
              </a:ext>
            </a:extLst>
          </p:cNvPr>
          <p:cNvSpPr txBox="1"/>
          <p:nvPr/>
        </p:nvSpPr>
        <p:spPr>
          <a:xfrm>
            <a:off x="609600" y="866722"/>
            <a:ext cx="300664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発表内容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69A4CEE-6D90-58FA-9ED8-1F55C93F79E7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466EF-E67C-868D-D250-4B57CFC6B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59C5B9E-ACBA-143F-E410-1C281742F9DB}"/>
              </a:ext>
            </a:extLst>
          </p:cNvPr>
          <p:cNvSpPr txBox="1"/>
          <p:nvPr/>
        </p:nvSpPr>
        <p:spPr>
          <a:xfrm>
            <a:off x="609599" y="866722"/>
            <a:ext cx="352324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研究の背景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1B9533C-8A5F-E4C7-8CC8-6ED928C28059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D65FFB-1BEC-95EE-15A9-2A2400073F0B}"/>
              </a:ext>
            </a:extLst>
          </p:cNvPr>
          <p:cNvSpPr txBox="1"/>
          <p:nvPr/>
        </p:nvSpPr>
        <p:spPr>
          <a:xfrm>
            <a:off x="609599" y="1748325"/>
            <a:ext cx="851033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  <a:sym typeface="Arial"/>
              </a:rPr>
              <a:t>家電や沈没船などの金属ゴミによる環境汚染問題</a:t>
            </a:r>
            <a:endParaRPr kumimoji="0" lang="ja-JP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4D321F48-9E47-C7EC-7FEA-E050BD4F6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216" y="2862540"/>
            <a:ext cx="3026588" cy="2678530"/>
          </a:xfrm>
          <a:prstGeom prst="rect">
            <a:avLst/>
          </a:prstGeom>
        </p:spPr>
      </p:pic>
      <p:sp>
        <p:nvSpPr>
          <p:cNvPr id="18" name="TextBox 11">
            <a:extLst>
              <a:ext uri="{FF2B5EF4-FFF2-40B4-BE49-F238E27FC236}">
                <a16:creationId xmlns:a16="http://schemas.microsoft.com/office/drawing/2014/main" id="{6DD01F40-971D-CCA1-A668-C144B9D3492A}"/>
              </a:ext>
            </a:extLst>
          </p:cNvPr>
          <p:cNvSpPr txBox="1"/>
          <p:nvPr/>
        </p:nvSpPr>
        <p:spPr>
          <a:xfrm>
            <a:off x="7529762" y="6132066"/>
            <a:ext cx="4730416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グラフ引用：愛媛新聞</a:t>
            </a:r>
            <a:r>
              <a:rPr lang="en-US" altLang="ja-JP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ONLINE</a:t>
            </a:r>
            <a:br>
              <a:rPr lang="en-US" altLang="ja-JP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</a:br>
            <a:r>
              <a:rPr lang="en-US" altLang="ja-JP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https://www.ehime-np.co.jp/article/news202405310193</a:t>
            </a:r>
            <a:endParaRPr lang="ja-JP" altLang="en-US" sz="16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19" name="コンテンツ プレースホルダー 1">
            <a:extLst>
              <a:ext uri="{FF2B5EF4-FFF2-40B4-BE49-F238E27FC236}">
                <a16:creationId xmlns:a16="http://schemas.microsoft.com/office/drawing/2014/main" id="{146889A5-DA1F-1529-C969-C0DA0F775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389769"/>
            <a:ext cx="8059153" cy="4034180"/>
          </a:xfrm>
        </p:spPr>
        <p:txBody>
          <a:bodyPr rtlCol="0">
            <a:normAutofit fontScale="92500"/>
          </a:bodyPr>
          <a:lstStyle/>
          <a:p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志摩市の英虞湾では漁業が盛んに行われている</a:t>
            </a:r>
            <a:b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</a:b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特に真珠の養殖業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沈殿した金属ゴミから有害物質が溶出</a:t>
            </a:r>
            <a:b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</a:b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生態系、漁に影響し地域産業に打撃を与える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endParaRPr lang="ja-JP" altLang="en-US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しかし実際どれだけ英虞湾に船やゴミが沈んでいるかは</a:t>
            </a:r>
            <a:b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</a:b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わからない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endParaRPr lang="ja-JP" altLang="en-US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アコヤ貝の養殖用のカゴも沈む</a:t>
            </a:r>
            <a:endParaRPr lang="ja-JP" altLang="en-US" sz="24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2341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21BF5-6454-73F8-8F1E-008CF63A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EAFF95A8-6126-8257-F18B-F840647B292D}"/>
              </a:ext>
            </a:extLst>
          </p:cNvPr>
          <p:cNvSpPr txBox="1"/>
          <p:nvPr/>
        </p:nvSpPr>
        <p:spPr>
          <a:xfrm>
            <a:off x="609599" y="866722"/>
            <a:ext cx="352324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研究の背景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E6A1FE7-B973-0F2C-1BF4-CD7EC1E7DF6E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5F77C8-B91C-FBAB-17FB-2AA71BBDB007}"/>
              </a:ext>
            </a:extLst>
          </p:cNvPr>
          <p:cNvSpPr txBox="1"/>
          <p:nvPr/>
        </p:nvSpPr>
        <p:spPr>
          <a:xfrm>
            <a:off x="697811" y="1758827"/>
            <a:ext cx="5893542" cy="52322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  <a:sym typeface="Arial"/>
              </a:rPr>
              <a:t>人の潜水による調査には限界がある</a:t>
            </a:r>
            <a:endParaRPr kumimoji="0" lang="ja-JP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F51782D5-DD66-9ADB-AB65-BDE8762D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811" y="2455943"/>
            <a:ext cx="6852006" cy="4343400"/>
          </a:xfrm>
        </p:spPr>
        <p:txBody>
          <a:bodyPr rtlCol="0">
            <a:norm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海底のゴミは汚泥や砂で埋まっているため</a:t>
            </a:r>
            <a:br>
              <a:rPr lang="en-US" altLang="ja-JP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</a:b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肉眼で見つけづらい</a:t>
            </a:r>
            <a:endParaRPr lang="en-US" altLang="ja-JP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深いところでは身体的負担大</a:t>
            </a:r>
            <a:endParaRPr lang="en-US" altLang="ja-JP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潜水士は人手不足でコストも大きい</a:t>
            </a:r>
            <a:endParaRPr lang="en-US" altLang="ja-JP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endParaRPr lang="ja-JP" altLang="en-US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ゴミの現状がわからず潜水士を投入する予定すら</a:t>
            </a:r>
            <a:br>
              <a:rPr lang="en-US" altLang="ja-JP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</a:b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立てられない</a:t>
            </a:r>
          </a:p>
          <a:p>
            <a:endParaRPr lang="ja-JP" altLang="en-US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9DA0B7F-D3BF-908D-65D3-3569AD3A7B3A}"/>
              </a:ext>
            </a:extLst>
          </p:cNvPr>
          <p:cNvSpPr txBox="1"/>
          <p:nvPr/>
        </p:nvSpPr>
        <p:spPr>
          <a:xfrm>
            <a:off x="7682007" y="3451937"/>
            <a:ext cx="4298319" cy="117570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95000"/>
              <a:tabLst/>
              <a:defRPr/>
            </a:pPr>
            <a:r>
              <a:rPr kumimoji="1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安全かつ</a:t>
            </a:r>
            <a:r>
              <a:rPr kumimoji="1" lang="ja-JP" altLang="en-US" sz="3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低コストな</a:t>
            </a:r>
            <a:endParaRPr kumimoji="1" lang="en-US" altLang="ja-JP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95000"/>
              <a:tabLst/>
              <a:defRPr/>
            </a:pPr>
            <a:r>
              <a:rPr kumimoji="1" lang="ja-JP" altLang="en-US" sz="3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対策</a:t>
            </a:r>
            <a:r>
              <a:rPr kumimoji="1" lang="ja-JP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が求められている</a:t>
            </a:r>
          </a:p>
        </p:txBody>
      </p:sp>
      <p:sp>
        <p:nvSpPr>
          <p:cNvPr id="4" name="右矢印 3">
            <a:extLst>
              <a:ext uri="{FF2B5EF4-FFF2-40B4-BE49-F238E27FC236}">
                <a16:creationId xmlns:a16="http://schemas.microsoft.com/office/drawing/2014/main" id="{4405519B-71FA-3282-134F-C2E6EE843955}"/>
              </a:ext>
            </a:extLst>
          </p:cNvPr>
          <p:cNvSpPr/>
          <p:nvPr/>
        </p:nvSpPr>
        <p:spPr>
          <a:xfrm>
            <a:off x="6591352" y="3823790"/>
            <a:ext cx="792000" cy="432000"/>
          </a:xfrm>
          <a:prstGeom prst="rightArrow">
            <a:avLst/>
          </a:prstGeom>
          <a:gradFill>
            <a:gsLst>
              <a:gs pos="0">
                <a:srgbClr val="FF0000"/>
              </a:gs>
              <a:gs pos="100000">
                <a:srgbClr val="FF9D9B"/>
              </a:gs>
            </a:gsLst>
            <a:lin ang="5400000" scaled="1"/>
          </a:gra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945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783C0-AEEA-333F-13B7-38E54E0F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C5E2AB5-CC34-45C0-38BF-8CE1C39C2E53}"/>
              </a:ext>
            </a:extLst>
          </p:cNvPr>
          <p:cNvSpPr txBox="1"/>
          <p:nvPr/>
        </p:nvSpPr>
        <p:spPr>
          <a:xfrm>
            <a:off x="609599" y="866722"/>
            <a:ext cx="352324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研究の背景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1EC30CC-01BC-0BCA-8A58-3B5B23379F32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C5AFE4D7-FF6F-A0C3-40EB-304DA5AC01A6}"/>
              </a:ext>
            </a:extLst>
          </p:cNvPr>
          <p:cNvSpPr txBox="1"/>
          <p:nvPr/>
        </p:nvSpPr>
        <p:spPr>
          <a:xfrm>
            <a:off x="9119936" y="4074666"/>
            <a:ext cx="4730416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ドローンの画像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D988D30-B8FB-32D4-58EE-5AA21B677A30}"/>
              </a:ext>
            </a:extLst>
          </p:cNvPr>
          <p:cNvSpPr txBox="1"/>
          <p:nvPr/>
        </p:nvSpPr>
        <p:spPr>
          <a:xfrm>
            <a:off x="609599" y="1820830"/>
            <a:ext cx="11313696" cy="52322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  <a:sym typeface="Arial"/>
              </a:rPr>
              <a:t>電磁センサ搭載水中ドローンによるワイヤレス遠隔調査の実施を提案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562A154E-EB0E-EFDB-724D-7DBF15DA4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820" y="2648449"/>
            <a:ext cx="8109296" cy="2765762"/>
          </a:xfrm>
        </p:spPr>
        <p:txBody>
          <a:bodyPr rtlCol="0">
            <a:normAutofit/>
          </a:bodyPr>
          <a:lstStyle/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人の潜水なしで海底ゴミ</a:t>
            </a:r>
            <a:r>
              <a:rPr lang="ja-JP" altLang="en-US" sz="2400" kern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探索する</a:t>
            </a:r>
            <a:br>
              <a:rPr lang="en-US" altLang="ja-JP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</a:br>
            <a:r>
              <a:rPr lang="ja-JP" altLang="en-US" sz="2400" kern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→</a:t>
            </a: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人力より</a:t>
            </a:r>
            <a:r>
              <a:rPr lang="ja-JP" altLang="en-US" sz="2400" kern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安全で低コスト</a:t>
            </a:r>
            <a:endParaRPr lang="ja-JP" altLang="en-US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電磁センサの磁気による金属探知で非接触検出可能</a:t>
            </a:r>
          </a:p>
          <a:p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陸上でデータを確認できる</a:t>
            </a:r>
          </a:p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発見次第、人力によるゴミの確認及び引き上げも可能</a:t>
            </a:r>
          </a:p>
          <a:p>
            <a:pPr lvl="0">
              <a:buClr>
                <a:srgbClr val="000000"/>
              </a:buClr>
              <a:defRPr/>
            </a:pPr>
            <a:endParaRPr lang="ja-JP" altLang="en-US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endParaRPr lang="ja-JP" altLang="en-US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43262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139FF-1A26-9320-97DA-FFB7D053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3ECFC655-378F-FA45-9C74-7219D786C1AA}"/>
              </a:ext>
            </a:extLst>
          </p:cNvPr>
          <p:cNvSpPr txBox="1"/>
          <p:nvPr/>
        </p:nvSpPr>
        <p:spPr>
          <a:xfrm>
            <a:off x="609599" y="866722"/>
            <a:ext cx="352324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研究の背景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9D5E0AE-3122-CCD5-C241-27C89E5D335B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A11B2C20-2D63-AC15-2998-AF9FD5B703B0}"/>
              </a:ext>
            </a:extLst>
          </p:cNvPr>
          <p:cNvSpPr txBox="1"/>
          <p:nvPr/>
        </p:nvSpPr>
        <p:spPr>
          <a:xfrm>
            <a:off x="9316705" y="6211341"/>
            <a:ext cx="4730416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DC3CD8D-7572-63C5-D6AB-9B90689DAA62}"/>
              </a:ext>
            </a:extLst>
          </p:cNvPr>
          <p:cNvSpPr txBox="1"/>
          <p:nvPr/>
        </p:nvSpPr>
        <p:spPr>
          <a:xfrm>
            <a:off x="697811" y="1758827"/>
            <a:ext cx="6172222" cy="523220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1" lang="ja-JP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  <a:sym typeface="Arial"/>
              </a:rPr>
              <a:t>④データを蓄積、解析、今後に活用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FF6D9A47-FE8E-80A9-04D0-7184E8B32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811" y="2455943"/>
            <a:ext cx="7369743" cy="2120011"/>
          </a:xfrm>
        </p:spPr>
        <p:txBody>
          <a:bodyPr rtlCol="0">
            <a:normAutofit lnSpcReduction="10000"/>
          </a:bodyPr>
          <a:lstStyle/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目視での探索は場所の記憶が曖昧</a:t>
            </a:r>
          </a:p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ゴミの位置をマッピング、記録しておきいつでも回収可能</a:t>
            </a:r>
          </a:p>
          <a:p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0"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データを分析しゴミの場所の傾向から対策を練る</a:t>
            </a:r>
          </a:p>
          <a:p>
            <a:endParaRPr lang="ja-JP" altLang="en-US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CE1D3C0-0CAB-CD81-4BFF-A6A7DEF6A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05" y="1884237"/>
            <a:ext cx="3481268" cy="409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8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A572B-8BBA-A9B9-83DA-C4BC4863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F282242-E3BB-6ED0-B5EB-1E3DC5F77340}"/>
              </a:ext>
            </a:extLst>
          </p:cNvPr>
          <p:cNvSpPr txBox="1"/>
          <p:nvPr/>
        </p:nvSpPr>
        <p:spPr>
          <a:xfrm>
            <a:off x="609599" y="866722"/>
            <a:ext cx="352324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研究の目的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04974F6-5349-3C23-666C-C2589A7D10FB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695B375D-F6D9-7BFA-2942-D840B7871CA6}"/>
              </a:ext>
            </a:extLst>
          </p:cNvPr>
          <p:cNvSpPr txBox="1"/>
          <p:nvPr/>
        </p:nvSpPr>
        <p:spPr>
          <a:xfrm>
            <a:off x="9119936" y="4074666"/>
            <a:ext cx="4730416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0EC802B8-FF18-A475-FAA6-25AAAA1C7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8221580" cy="1296280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ja-JP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電磁センサ搭載水中ドローンによる</a:t>
            </a:r>
            <a:br>
              <a:rPr lang="en-US" altLang="ja-JP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</a:br>
            <a:r>
              <a:rPr lang="ja-JP" alt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沈殿金属ゴミ探査技術の開発及び検証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27A58FA6-3603-BEB5-77C9-696BA582FD59}"/>
              </a:ext>
            </a:extLst>
          </p:cNvPr>
          <p:cNvSpPr txBox="1">
            <a:spLocks/>
          </p:cNvSpPr>
          <p:nvPr/>
        </p:nvSpPr>
        <p:spPr>
          <a:xfrm>
            <a:off x="609598" y="3607065"/>
            <a:ext cx="8101265" cy="2120011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人力による調査を水中ドローンを用いた調査に置き換え可能かどうかを検証する</a:t>
            </a:r>
            <a:endParaRPr lang="en-US" altLang="ja-JP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地域課題の解決を目指す</a:t>
            </a:r>
            <a:endParaRPr lang="ja-JP" altLang="en-US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54535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68AE-7E91-937C-E97F-23915D00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2D8F920-05BB-3874-60E5-2F453B2F78B9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研究の進め方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B69445C-3A0B-1C28-4B42-658F125ACBB4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17DB46A-2E92-CA22-665C-B16FB8F9080C}"/>
              </a:ext>
            </a:extLst>
          </p:cNvPr>
          <p:cNvSpPr txBox="1"/>
          <p:nvPr/>
        </p:nvSpPr>
        <p:spPr>
          <a:xfrm>
            <a:off x="9467177" y="4120385"/>
            <a:ext cx="4730416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13208045-A7A6-A4DF-75BB-73FFBD8B9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54656"/>
            <a:ext cx="2470484" cy="661011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ja-JP" altLang="en-US" sz="36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実施項目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B59FFF3A-B127-B2BE-9D7C-FF6F9D57D0D9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8510337" cy="2591245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水中ドローン動作システム開発＆遠隔操作システム開発</a:t>
            </a:r>
            <a:endParaRPr lang="en-US" altLang="ja-JP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srgbClr val="000000"/>
                </a:solidFill>
                <a:latin typeface="Source Han Sans JP" panose="020B0600070205080204" charset="-128"/>
                <a:ea typeface="Source Han Sans JP" panose="020B0600070205080204" charset="-128"/>
                <a:cs typeface="Arial"/>
                <a:sym typeface="Arial"/>
              </a:rPr>
              <a:t>水中動作可能でドローン搭載に最適な電磁センサ開発</a:t>
            </a:r>
            <a:endParaRPr lang="en-US" altLang="ja-JP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kern="0" dirty="0">
              <a:solidFill>
                <a:srgbClr val="000000"/>
              </a:solidFill>
              <a:latin typeface="Source Han Sans JP" panose="020B0600070205080204" charset="-128"/>
              <a:ea typeface="Source Han Sans JP" panose="020B0600070205080204" charset="-128"/>
              <a:cs typeface="Arial"/>
              <a:sym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データを蓄積するためのシステムを構築・活用方法を検討</a:t>
            </a:r>
          </a:p>
        </p:txBody>
      </p:sp>
    </p:spTree>
    <p:extLst>
      <p:ext uri="{BB962C8B-B14F-4D97-AF65-F5344CB8AC3E}">
        <p14:creationId xmlns:p14="http://schemas.microsoft.com/office/powerpoint/2010/main" val="395259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8338B-4796-54EF-65EA-19645049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ACCE0B10-9E5A-5664-F840-BAD48D77CD04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研究の進め方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AD3B15D-EAED-D885-5DC5-F0641BFE6D79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B0F62CC3-2739-1C42-2F30-4468586EC9C5}"/>
              </a:ext>
            </a:extLst>
          </p:cNvPr>
          <p:cNvSpPr txBox="1"/>
          <p:nvPr/>
        </p:nvSpPr>
        <p:spPr>
          <a:xfrm>
            <a:off x="5855875" y="6412172"/>
            <a:ext cx="4730416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AD620A33-D765-9845-D6B4-3BD457A33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3615159" cy="661011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ja-JP" altLang="en-US" sz="360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システム構成</a:t>
            </a:r>
            <a:endParaRPr lang="ja-JP" altLang="en-US" sz="3600" dirty="0">
              <a:solidFill>
                <a:schemeClr val="accent2">
                  <a:lumMod val="75000"/>
                </a:schemeClr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F3A86FF5-6A82-BD7E-D861-6E5571B01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633" y="2698106"/>
            <a:ext cx="9722734" cy="352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7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BE42A-EC4D-4D47-A850-854D1DC2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02812AA-0F0B-3CE6-01CD-F0414A0A34F6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研究の進め方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8ABCC3-AB7D-85BC-5FE4-212F43AA164A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F8933ED6-F69F-EF93-7BEA-9244A6EECE24}"/>
              </a:ext>
            </a:extLst>
          </p:cNvPr>
          <p:cNvSpPr txBox="1"/>
          <p:nvPr/>
        </p:nvSpPr>
        <p:spPr>
          <a:xfrm>
            <a:off x="8962078" y="5859424"/>
            <a:ext cx="1157927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イメージ図</a:t>
            </a:r>
            <a:endParaRPr lang="ja-JP" altLang="en-US" sz="16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31999725-DF6B-6C1F-B401-ACA05057C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8931443" cy="661011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sz="36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水中ドローン動作システム開発＆遠隔操作システム開発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83B254EF-4357-3472-0DFE-5C53E74BE9FC}"/>
              </a:ext>
            </a:extLst>
          </p:cNvPr>
          <p:cNvSpPr txBox="1">
            <a:spLocks/>
          </p:cNvSpPr>
          <p:nvPr/>
        </p:nvSpPr>
        <p:spPr>
          <a:xfrm>
            <a:off x="609600" y="2919218"/>
            <a:ext cx="5883798" cy="2591245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水中ドローンの４つのスラスタを</a:t>
            </a:r>
            <a: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Arduino</a:t>
            </a: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とモータードライバで制御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コントローラーで操作できるようにする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まず有線で動かせるようにする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9" name="図 8" descr="ダイアグラム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596C329-590F-962E-E224-62A979F26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0" y="2285161"/>
            <a:ext cx="5918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2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78D4-4141-30A0-4902-0FF7C75F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64473FE-CDB7-A070-7A2A-1AA952268EB6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研究の進め方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52168D2-CFDB-CA7A-8387-C4191A837FD1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F2894D25-EE96-E2CC-D041-3DC71CC2C2AA}"/>
              </a:ext>
            </a:extLst>
          </p:cNvPr>
          <p:cNvSpPr txBox="1"/>
          <p:nvPr/>
        </p:nvSpPr>
        <p:spPr>
          <a:xfrm>
            <a:off x="7158583" y="6061992"/>
            <a:ext cx="1549259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ペリカンケース</a:t>
            </a:r>
            <a:endParaRPr lang="ja-JP" altLang="en-US" sz="16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0B00E76A-AA67-D0D5-6E88-078ECCB7B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8775033" cy="661011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sz="36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水中ドローン動作システム開発＆遠隔操作システム開発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C47292C4-2393-1B91-4E9C-563E08E8B503}"/>
              </a:ext>
            </a:extLst>
          </p:cNvPr>
          <p:cNvSpPr txBox="1">
            <a:spLocks/>
          </p:cNvSpPr>
          <p:nvPr/>
        </p:nvSpPr>
        <p:spPr>
          <a:xfrm>
            <a:off x="433949" y="2938275"/>
            <a:ext cx="5574226" cy="981450"/>
          </a:xfrm>
          <a:prstGeom prst="rect">
            <a:avLst/>
          </a:prstGeom>
        </p:spPr>
        <p:txBody>
          <a:bodyPr vert="horz" rtlCol="0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2</a:t>
            </a:r>
            <a:r>
              <a:rPr lang="ja-JP" altLang="en-US" sz="24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台のモバイルルーターを使用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一台はドローン側、もう一台は操作者の手元に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2E4BFB9C-A740-069A-8EB9-4B747008C4F8}"/>
              </a:ext>
            </a:extLst>
          </p:cNvPr>
          <p:cNvSpPr txBox="1">
            <a:spLocks/>
          </p:cNvSpPr>
          <p:nvPr/>
        </p:nvSpPr>
        <p:spPr>
          <a:xfrm>
            <a:off x="433949" y="4060651"/>
            <a:ext cx="5744902" cy="1293754"/>
          </a:xfrm>
          <a:prstGeom prst="rect">
            <a:avLst/>
          </a:prstGeom>
        </p:spPr>
        <p:txBody>
          <a:bodyPr vert="horz" rtlCol="0">
            <a:normAutofit fontScale="925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2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水面に浮くペリカンケースに</a:t>
            </a:r>
            <a:r>
              <a:rPr lang="en-US" altLang="ja-JP" sz="22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Raspberry Pi 5</a:t>
            </a:r>
            <a:r>
              <a:rPr lang="ja-JP" altLang="en-US" sz="22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、モバイルルーター、</a:t>
            </a:r>
            <a:r>
              <a:rPr lang="en-US" altLang="ja-JP" sz="22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Analog Discovery 2</a:t>
            </a:r>
            <a:r>
              <a:rPr lang="ja-JP" altLang="en-US" sz="22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を入れる</a:t>
            </a:r>
            <a:endParaRPr lang="en-US" altLang="ja-JP" sz="20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0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ケーブルを繋いでドローンに牽引させる</a:t>
            </a:r>
            <a:endParaRPr lang="en-US" altLang="ja-JP" sz="20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5" name="図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83640AEA-45E2-40F1-0805-2AC83BC22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851" y="2389769"/>
            <a:ext cx="5872222" cy="213132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A8932403-2CC3-6065-9F8D-10EF152B54D2}"/>
                  </a:ext>
                </a:extLst>
              </p14:cNvPr>
              <p14:cNvContentPartPr/>
              <p14:nvPr/>
            </p14:nvContentPartPr>
            <p14:xfrm>
              <a:off x="2973755" y="102924"/>
              <a:ext cx="360" cy="36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A8932403-2CC3-6065-9F8D-10EF152B54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56115" y="85284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3F6484EC-A9F1-4140-9E6D-7471B568EE73}"/>
                  </a:ext>
                </a:extLst>
              </p14:cNvPr>
              <p14:cNvContentPartPr/>
              <p14:nvPr/>
            </p14:nvContentPartPr>
            <p14:xfrm>
              <a:off x="6153673" y="2250620"/>
              <a:ext cx="5770080" cy="255276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3F6484EC-A9F1-4140-9E6D-7471B568EE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23073" y="2220020"/>
                <a:ext cx="5831280" cy="261396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図 19" descr="コンピューター関連の機械&#10;&#10;AI 生成コンテンツは誤りを含む可能性があります。">
            <a:extLst>
              <a:ext uri="{FF2B5EF4-FFF2-40B4-BE49-F238E27FC236}">
                <a16:creationId xmlns:a16="http://schemas.microsoft.com/office/drawing/2014/main" id="{9811E748-17D1-034E-4C47-A4055EFE6D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16" t="23361" r="15826" b="11461"/>
          <a:stretch>
            <a:fillRect/>
          </a:stretch>
        </p:blipFill>
        <p:spPr>
          <a:xfrm>
            <a:off x="8707842" y="4591794"/>
            <a:ext cx="3050209" cy="213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7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2F30E-DC30-AC0D-78E4-35EBA0A57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4F6321E-440A-33A0-73DB-617A81013F99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研究の進め方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5605C58-4DB1-FD98-19CC-85CB5C1978C9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7D9FC49E-4C26-4F20-665C-08AB2018CE85}"/>
              </a:ext>
            </a:extLst>
          </p:cNvPr>
          <p:cNvSpPr txBox="1"/>
          <p:nvPr/>
        </p:nvSpPr>
        <p:spPr>
          <a:xfrm>
            <a:off x="7979053" y="954446"/>
            <a:ext cx="2714347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金属管探傷用センサ</a:t>
            </a:r>
            <a:endParaRPr lang="en-US" altLang="ja-JP" sz="16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08BA5365-E6AF-D7E1-6F71-CEF0C5E7C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8510337" cy="661011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sz="36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水中動作可能でドローン搭載に最適な電磁センサ開発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D120A875-132A-5E78-38A3-61360D58A268}"/>
              </a:ext>
            </a:extLst>
          </p:cNvPr>
          <p:cNvSpPr txBox="1">
            <a:spLocks/>
          </p:cNvSpPr>
          <p:nvPr/>
        </p:nvSpPr>
        <p:spPr>
          <a:xfrm>
            <a:off x="534067" y="2706304"/>
            <a:ext cx="4025900" cy="3072060"/>
          </a:xfrm>
          <a:prstGeom prst="rect">
            <a:avLst/>
          </a:prstGeom>
        </p:spPr>
        <p:txBody>
          <a:bodyPr vert="horz" rtlCol="0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渦電流による金属探知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励磁コイルに交流電流を流すと磁界発生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→金属が近づくと金属内部に渦電流が発生する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→渦電流が新たな磁場を作りコイルのインピーダンスが変化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→検出用コイルの電圧の変化を測定する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5" name="図 4" descr="屋内, テーブル, 座る, 項目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855550A-013A-A107-EAD4-796D116A6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5" t="11968" r="30229" b="2966"/>
          <a:stretch>
            <a:fillRect/>
          </a:stretch>
        </p:blipFill>
        <p:spPr>
          <a:xfrm>
            <a:off x="9922825" y="0"/>
            <a:ext cx="2269175" cy="2636947"/>
          </a:xfrm>
          <a:prstGeom prst="rect">
            <a:avLst/>
          </a:prstGeom>
        </p:spPr>
      </p:pic>
      <p:pic>
        <p:nvPicPr>
          <p:cNvPr id="9" name="図 8" descr="グラフィカル ユーザー インターフェイス, 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ED33BE30-F584-C000-B720-A75D728B74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695" y="2517874"/>
            <a:ext cx="7382933" cy="4152900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C9CB9657-311E-05F4-F25A-0607850B5BC8}"/>
              </a:ext>
            </a:extLst>
          </p:cNvPr>
          <p:cNvSpPr txBox="1"/>
          <p:nvPr/>
        </p:nvSpPr>
        <p:spPr>
          <a:xfrm>
            <a:off x="3230865" y="6218471"/>
            <a:ext cx="163390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電圧変化の様子</a:t>
            </a:r>
            <a:endParaRPr lang="en-US" altLang="ja-JP" sz="16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85817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67817-61F9-7C82-DF27-6E5FEF977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8AA4CCA-D7A2-F37F-A566-174BB4E01F14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研究の進め方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726242-0C3A-B444-0BBA-38007623D119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4A191E7-1770-A7AF-9008-2F182FAC89D1}"/>
              </a:ext>
            </a:extLst>
          </p:cNvPr>
          <p:cNvSpPr txBox="1"/>
          <p:nvPr/>
        </p:nvSpPr>
        <p:spPr>
          <a:xfrm>
            <a:off x="9119936" y="5745511"/>
            <a:ext cx="1768978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試作したセンサ</a:t>
            </a:r>
            <a:endParaRPr lang="ja-JP" altLang="en-US" sz="16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2D134F6A-AD3F-ACF9-F16A-1666C989C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8510337" cy="661011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sz="36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水中動作可能でドローン搭載に最適な電磁センサ開発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9AF17BF6-6464-A3DF-1E54-48C09246A3FD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7908759" cy="2591245"/>
          </a:xfrm>
          <a:prstGeom prst="rect">
            <a:avLst/>
          </a:prstGeom>
        </p:spPr>
        <p:txBody>
          <a:bodyPr vert="horz" rtlCol="0">
            <a:normAutofit fontScale="925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センサを</a:t>
            </a:r>
            <a: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CAD</a:t>
            </a: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で作成して３</a:t>
            </a:r>
            <a: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D</a:t>
            </a: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プリンタで出力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励磁コイルと検出対象物の距離の問題が考えられるので</a:t>
            </a:r>
            <a:b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</a:b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最適なセンサの形状を探る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まず研究室の水槽にてセンサ単体の実験を行う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85087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C5B1-A55C-3A09-6F96-FC2CFE0C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9B8A049-6824-73D9-4BC9-2B0B2550B650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研究の進め方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35A6B70-F031-905A-6339-473BDCFB595E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E7C78E8E-7BCE-80C1-19F0-1FD30A50581C}"/>
              </a:ext>
            </a:extLst>
          </p:cNvPr>
          <p:cNvSpPr txBox="1"/>
          <p:nvPr/>
        </p:nvSpPr>
        <p:spPr>
          <a:xfrm>
            <a:off x="9007707" y="6475289"/>
            <a:ext cx="4730416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39E70432-A518-AE82-FF28-6B4CADB54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9119937" cy="661011"/>
          </a:xfrm>
        </p:spPr>
        <p:txBody>
          <a:bodyPr rtlCol="0">
            <a:normAutofit fontScale="70000" lnSpcReduction="20000"/>
          </a:bodyPr>
          <a:lstStyle/>
          <a:p>
            <a:pPr marL="0" indent="0">
              <a:buNone/>
            </a:pPr>
            <a:r>
              <a:rPr lang="ja-JP" altLang="en-US" sz="36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データを蓄積するためのシステムを構築・活用方法を検討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115D9786-3BCE-7B80-6C87-9AA4DEEA4C4A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7908759" cy="2591245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センサデータと位置情報を取得</a:t>
            </a:r>
            <a:b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</a:b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推定金属ゴミ存在箇所をマッピング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回収作業の効率化を図る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03533F1-FB30-7A43-0055-959F00B1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73" y="2381317"/>
            <a:ext cx="3481268" cy="409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3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B05EE-21F6-5B7E-0B01-28492912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0078DEA2-3D49-882A-9DD5-A0362508240F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研究の現状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8FFF0BD-F84F-EC9D-3D31-4C29F8E9FC7D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B5DABDB9-9700-BC21-CA00-1A2F2D2AFDB0}"/>
              </a:ext>
            </a:extLst>
          </p:cNvPr>
          <p:cNvSpPr txBox="1"/>
          <p:nvPr/>
        </p:nvSpPr>
        <p:spPr>
          <a:xfrm>
            <a:off x="8097976" y="6057902"/>
            <a:ext cx="3078024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志摩市役所にて話し合いの様子</a:t>
            </a:r>
            <a:endParaRPr lang="ja-JP" altLang="en-US" sz="16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C6D392F5-B560-A6E0-418B-405D7F7B8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9119937" cy="661011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行政・企業への協力依頼　問題の確認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CDD572B6-DA67-419F-4E19-14696EE28D89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5147733" cy="2591245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実際に訪問してお話を伺い、行政の目線から見た問題について共有していただいた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志摩市役所 様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うみらぼ株式会社 様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5" name="図 4" descr="会議室でパソコンをする男性&#10;&#10;AI 生成コンテンツは誤りを含む可能性があります。">
            <a:extLst>
              <a:ext uri="{FF2B5EF4-FFF2-40B4-BE49-F238E27FC236}">
                <a16:creationId xmlns:a16="http://schemas.microsoft.com/office/drawing/2014/main" id="{AB0E5FC2-10EC-89AC-3E5F-47AE55A1D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0"/>
          <a:stretch>
            <a:fillRect/>
          </a:stretch>
        </p:blipFill>
        <p:spPr>
          <a:xfrm>
            <a:off x="6637867" y="3177175"/>
            <a:ext cx="5147733" cy="269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5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4D06-A675-F45F-F2C7-80E0CF6E7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3AFC053-976E-7CAA-5B28-6210B5A81B99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研究の現状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C28E53-6838-2A31-82C8-105FE7A6F3CF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9423196-6A95-0FF7-7D02-A1BAEAE4AB9B}"/>
              </a:ext>
            </a:extLst>
          </p:cNvPr>
          <p:cNvSpPr txBox="1"/>
          <p:nvPr/>
        </p:nvSpPr>
        <p:spPr>
          <a:xfrm>
            <a:off x="9158673" y="2285161"/>
            <a:ext cx="1606052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ドローンの画像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F17A94F4-D1E4-2996-739A-753015B39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9119937" cy="661011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ドローン動作システムの開発・動作テスト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39B4F7C1-1625-29E3-8861-CBF151EDDE27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7122290" cy="3265014"/>
          </a:xfrm>
          <a:prstGeom prst="rect">
            <a:avLst/>
          </a:prstGeom>
        </p:spPr>
        <p:txBody>
          <a:bodyPr vert="horz" rtlCol="0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操作プログラムを作成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古いコントローラーを新しいものに交換、各種メンテナンス等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７月に学校のプールと琵琶湖にて動作テストを実施した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浸水などのトラブルで故障することはなくテストは成功した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lvl="1">
              <a:buClr>
                <a:srgbClr val="000000"/>
              </a:buClr>
              <a:defRPr/>
            </a:pPr>
            <a:r>
              <a:rPr lang="ja-JP" altLang="en-US" sz="22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一度回収用のビニールテープがスラスタに絡まった</a:t>
            </a:r>
            <a:endParaRPr lang="en-US" altLang="ja-JP" sz="22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667512" lvl="2" indent="0">
              <a:buClr>
                <a:srgbClr val="000000"/>
              </a:buClr>
              <a:buNone/>
              <a:defRPr/>
            </a:pPr>
            <a:r>
              <a:rPr lang="ja-JP" altLang="en-US" sz="19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→海底近くで水草が絡まる可能性が考えられるので対策必要</a:t>
            </a:r>
            <a:endParaRPr lang="en-US" altLang="ja-JP" sz="19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5" name="図 4" descr="屋内, 散らかった, テーブル, 項目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8D6397B-C0E3-2A2B-57D2-15C574160D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0" t="28324" r="11492" b="10677"/>
          <a:stretch>
            <a:fillRect/>
          </a:stretch>
        </p:blipFill>
        <p:spPr>
          <a:xfrm>
            <a:off x="7835571" y="2615667"/>
            <a:ext cx="4252257" cy="246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7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0493-F33D-DFEA-00CD-222CCDDF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726D36A-488B-4213-C62C-BFA935D578DA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研究の現状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214E6F9-7EF9-AFD5-9072-2DE5531E4F76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E6DFF75E-C25A-6844-277B-6C9A35EFBF5D}"/>
              </a:ext>
            </a:extLst>
          </p:cNvPr>
          <p:cNvSpPr txBox="1"/>
          <p:nvPr/>
        </p:nvSpPr>
        <p:spPr>
          <a:xfrm>
            <a:off x="9307763" y="6184232"/>
            <a:ext cx="125529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試作センサの画像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17F17400-8FE4-AA7B-975C-B6C217955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9119937" cy="661011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水中動作可能でドローン搭載に最適な電磁センサ開発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F8F6CE1D-5862-0855-D887-4A3AC01BBC20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8221580" cy="3265014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球状のプラスチック球にセンサを収め、それをドローン下部に取り付ける形を想定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海底にセンサを滑らせるようにして探査する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pic>
        <p:nvPicPr>
          <p:cNvPr id="2" name="図 1" descr="屋内, 自転車, 座る, 吊るす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E076F47-D409-855C-676B-7F91E0582C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8" r="10667"/>
          <a:stretch>
            <a:fillRect/>
          </a:stretch>
        </p:blipFill>
        <p:spPr>
          <a:xfrm rot="5400000">
            <a:off x="8798975" y="2551990"/>
            <a:ext cx="2913944" cy="284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86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8C1B9-BF6E-38A5-073C-93FB52F1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14CE9CB9-5F38-1B4B-E876-5AA40DB94CC7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今後の方針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CF3D4DE-5C54-8856-31C2-A2C2096F53C2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4F791A9B-466B-FA17-B9B0-FB23650B924E}"/>
              </a:ext>
            </a:extLst>
          </p:cNvPr>
          <p:cNvSpPr txBox="1"/>
          <p:nvPr/>
        </p:nvSpPr>
        <p:spPr>
          <a:xfrm>
            <a:off x="9320463" y="4305504"/>
            <a:ext cx="125529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F846C4D6-753D-EC35-55B6-F1E8CD18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9119937" cy="661011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これから実施することの順番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E8BD3904-5A1A-6C21-AB95-A27480A2391F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8221580" cy="1640750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電磁センサの作成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ドローン遠隔操作システムの構築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クラウド上のデータベースの構築及びデータの活用法検討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現地にて実験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55150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34B34-3071-FB96-8574-98CD8491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FA80FC21-34EA-08CE-6F7C-7B8408661774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今後の方針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C05B062-B5E1-0732-1BEE-C38B8C70F9F0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4197FD9-9427-2C9E-E60B-6A22E2D969C7}"/>
              </a:ext>
            </a:extLst>
          </p:cNvPr>
          <p:cNvSpPr txBox="1"/>
          <p:nvPr/>
        </p:nvSpPr>
        <p:spPr>
          <a:xfrm>
            <a:off x="9320463" y="4305504"/>
            <a:ext cx="125529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7A2C0C09-86F6-DA79-23D8-A8CC92653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9119937" cy="661011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電磁センサの作成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5A540460-05CA-4DC5-61D6-6536F1CE6F2A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8221580" cy="1640750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コイルを巻いて水槽で実験し、センサ形状・コイルインダクタンス等の諸元を決定する予定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本研究に最適な形を見つける</a:t>
            </a:r>
            <a:endParaRPr lang="en-US" altLang="ja-JP" sz="19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269191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93D6E-2019-8086-158A-B46FC953E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011134B-E804-68B4-9AE3-234C4E227579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今後の方針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75875B6-E2FE-734B-C439-BE99E414B6B5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E2119EC8-ADE4-3C99-F143-322A12768B46}"/>
              </a:ext>
            </a:extLst>
          </p:cNvPr>
          <p:cNvSpPr txBox="1"/>
          <p:nvPr/>
        </p:nvSpPr>
        <p:spPr>
          <a:xfrm>
            <a:off x="9320463" y="4305504"/>
            <a:ext cx="125529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BCF51407-7030-49F5-21D7-D2D338B69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9119937" cy="661011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ドローン遠隔操作システムの構築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D609341C-EAD7-2CDA-0B0D-C8F519A5B47B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8221580" cy="1640750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ペリカンケース内に</a:t>
            </a:r>
            <a: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Raspberry Pi 5</a:t>
            </a: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とモバイルルータを入れる</a:t>
            </a:r>
            <a:endParaRPr lang="en-US" altLang="ja-JP" sz="24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4092074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A0BA4-CA7E-4FB3-EC74-8683034DA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F107CE2-423D-E3B1-BB6E-804A9C56E2C4}"/>
              </a:ext>
            </a:extLst>
          </p:cNvPr>
          <p:cNvSpPr txBox="1"/>
          <p:nvPr/>
        </p:nvSpPr>
        <p:spPr>
          <a:xfrm>
            <a:off x="609599" y="866722"/>
            <a:ext cx="4227096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4800" b="1" spc="611" dirty="0">
                <a:solidFill>
                  <a:srgbClr val="3D3D3D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今後の方針</a:t>
            </a:r>
            <a:endParaRPr lang="en-US" sz="4800" b="1" spc="611" dirty="0">
              <a:solidFill>
                <a:srgbClr val="3D3D3D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776AF4E-E16E-28CC-46AD-AA663C2A451E}"/>
              </a:ext>
            </a:extLst>
          </p:cNvPr>
          <p:cNvSpPr/>
          <p:nvPr/>
        </p:nvSpPr>
        <p:spPr>
          <a:xfrm>
            <a:off x="-1" y="1605386"/>
            <a:ext cx="9119937" cy="45719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DF16156E-0A3C-EFF7-91A4-49071E9BE851}"/>
              </a:ext>
            </a:extLst>
          </p:cNvPr>
          <p:cNvSpPr txBox="1"/>
          <p:nvPr/>
        </p:nvSpPr>
        <p:spPr>
          <a:xfrm>
            <a:off x="9320463" y="4305504"/>
            <a:ext cx="1255295" cy="2462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ja-JP" altLang="en-US" sz="16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あ</a:t>
            </a:r>
          </a:p>
        </p:txBody>
      </p:sp>
      <p:sp>
        <p:nvSpPr>
          <p:cNvPr id="3" name="コンテンツ プレースホルダー 1">
            <a:extLst>
              <a:ext uri="{FF2B5EF4-FFF2-40B4-BE49-F238E27FC236}">
                <a16:creationId xmlns:a16="http://schemas.microsoft.com/office/drawing/2014/main" id="{28B97861-D2CB-C783-BCE8-5451F5EF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954656"/>
            <a:ext cx="9581148" cy="661011"/>
          </a:xfrm>
        </p:spPr>
        <p:txBody>
          <a:bodyPr rtlCol="0">
            <a:normAutofit fontScale="85000" lnSpcReduction="10000"/>
          </a:bodyPr>
          <a:lstStyle/>
          <a:p>
            <a:pPr marL="0" indent="0">
              <a:buNone/>
            </a:pPr>
            <a:r>
              <a:rPr lang="ja-JP" altLang="en-US" sz="3200" dirty="0">
                <a:solidFill>
                  <a:schemeClr val="accent2">
                    <a:lumMod val="75000"/>
                  </a:schemeClr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クラウド上のデータベースの構築及びデータの活用法検討</a:t>
            </a:r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50065D1B-407C-2655-E966-7B8EF63F8FE5}"/>
              </a:ext>
            </a:extLst>
          </p:cNvPr>
          <p:cNvSpPr txBox="1">
            <a:spLocks/>
          </p:cNvSpPr>
          <p:nvPr/>
        </p:nvSpPr>
        <p:spPr>
          <a:xfrm>
            <a:off x="609599" y="2919218"/>
            <a:ext cx="8221580" cy="1640750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95000"/>
              <a:buFont typeface="Wingdings 2"/>
              <a:buChar char=""/>
              <a:defRPr kumimoji="1" sz="26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>
                  <a:lumMod val="50000"/>
                </a:schemeClr>
              </a:buClr>
              <a:buSzPct val="85000"/>
              <a:buFont typeface="Wingdings 2"/>
              <a:buChar char=""/>
              <a:defRPr kumimoji="1" sz="24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>
                  <a:lumMod val="50000"/>
                </a:schemeClr>
              </a:buClr>
              <a:buSzPct val="70000"/>
              <a:buFont typeface="Wingdings 2"/>
              <a:buChar char=""/>
              <a:defRPr kumimoji="1" sz="21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>
                  <a:lumMod val="50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>
                  <a:lumMod val="75000"/>
                </a:schemeClr>
              </a:buClr>
              <a:buSzPct val="65000"/>
              <a:buFont typeface="Wingdings 2"/>
              <a:buChar char=""/>
              <a:defRPr kumimoji="1" sz="2000" kern="12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>
                  <a:lumMod val="50000"/>
                </a:schemeClr>
              </a:buClr>
              <a:buSzPct val="80000"/>
              <a:buFont typeface="Wingdings 2"/>
              <a:buChar char="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>
                  <a:lumMod val="75000"/>
                </a:schemeClr>
              </a:buClr>
              <a:buSzPct val="80000"/>
              <a:buFont typeface="Wingdings 2"/>
              <a:buChar char=""/>
              <a:defRPr kumimoji="1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None/>
              <a:defRPr kumimoji="1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0000"/>
              </a:buClr>
              <a:defRPr/>
            </a:pPr>
            <a:r>
              <a:rPr lang="en-US" altLang="ja-JP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GPS</a:t>
            </a:r>
            <a:r>
              <a:rPr lang="ja-JP" altLang="en-US" sz="2400" dirty="0">
                <a:solidFill>
                  <a:srgbClr val="3D3D3D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を使ってマッピングできるようにする</a:t>
            </a:r>
            <a:endParaRPr lang="en-US" altLang="ja-JP" sz="1900" dirty="0">
              <a:solidFill>
                <a:srgbClr val="3D3D3D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</p:spTree>
    <p:extLst>
      <p:ext uri="{BB962C8B-B14F-4D97-AF65-F5344CB8AC3E}">
        <p14:creationId xmlns:p14="http://schemas.microsoft.com/office/powerpoint/2010/main" val="257259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ブレーンストーミングのプレゼンテーション</Template>
  <TotalTime>497</TotalTime>
  <Words>987</Words>
  <Application>Microsoft Macintosh PowerPoint</Application>
  <PresentationFormat>ワイド画面</PresentationFormat>
  <Paragraphs>162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9" baseType="lpstr">
      <vt:lpstr>Meiryo UI</vt:lpstr>
      <vt:lpstr>ＭＳ 明朝</vt:lpstr>
      <vt:lpstr>Source Han Sans JP</vt:lpstr>
      <vt:lpstr>Source Han Sans JP Bold</vt:lpstr>
      <vt:lpstr>Arial</vt:lpstr>
      <vt:lpstr>Palatino Linotype</vt:lpstr>
      <vt:lpstr>Wingdings 2</vt:lpstr>
      <vt:lpstr>ブレーンストーミングのプレゼンテーション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5I24 野下 航輝【鈴鹿】</dc:creator>
  <cp:lastModifiedBy>5I24 野下 航輝【鈴鹿】</cp:lastModifiedBy>
  <cp:revision>10</cp:revision>
  <dcterms:created xsi:type="dcterms:W3CDTF">2025-10-06T14:05:05Z</dcterms:created>
  <dcterms:modified xsi:type="dcterms:W3CDTF">2026-01-25T07:37:26Z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