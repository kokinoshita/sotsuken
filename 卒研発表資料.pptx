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A00"/>
    <a:srgbClr val="FFA900"/>
    <a:srgbClr val="FFC300"/>
    <a:srgbClr val="FFFDD3"/>
    <a:srgbClr val="FDED98"/>
    <a:srgbClr val="F1F9FD"/>
    <a:srgbClr val="70AFF4"/>
    <a:srgbClr val="CB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26" autoAdjust="0"/>
    <p:restoredTop sz="82152" autoAdjust="0"/>
  </p:normalViewPr>
  <p:slideViewPr>
    <p:cSldViewPr snapToGrid="0">
      <p:cViewPr varScale="1">
        <p:scale>
          <a:sx n="106" d="100"/>
          <a:sy n="106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ECFB0-108C-4F1F-A536-5B2F235460B6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83694-5335-442F-A04C-536F5EC08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519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83694-5335-442F-A04C-536F5EC0857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0106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83694-5335-442F-A04C-536F5EC0857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672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6DBA-65BA-82F5-A6C2-104E0A32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5DBDF27-C16C-3A60-9F65-26AB5A2AD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F0A05C9-6D7E-4824-7293-3D3B63BCC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05D25C-E7EE-4A66-062B-150A0BA9E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83694-5335-442F-A04C-536F5EC0857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881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AA1B-4168-91AC-CCAB-105F7AA1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306BF4C-2FC1-C0F0-33C1-3FD27C254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D43B7E1-58AC-D7AB-9342-293CAB912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0C4C16-ABB5-0486-5539-EE3377235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83694-5335-442F-A04C-536F5EC08570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3181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7E241-25EB-1E12-C702-3C7CEB4ED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6122B34-02BE-007C-141E-CB1EC5339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5742980-7B1E-E7AF-6EEA-406FA0006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726C60-177F-1E98-98C9-C801E3F65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83694-5335-442F-A04C-536F5EC08570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6120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B07EE-8A6F-82D5-EFFB-B3BF142F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9B74C16-549C-9068-BA28-240DA72C8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2848BD-19BE-EA28-F34C-26ED64BE1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C1BB53-67A3-8B97-95D3-0934CF548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83694-5335-442F-A04C-536F5EC08570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69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63D41-53EB-5BA4-CD5E-1CFF201A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1EB009-2CAA-3FD5-504F-A4033231F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6EE9585-8797-C8AA-88EE-CDA5C23D4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D76DE6-08FC-B824-0166-D27508409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83694-5335-442F-A04C-536F5EC08570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60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71E59-ED69-C2B6-448C-3D5FC2C46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B25A0B-AC96-9346-7434-C204D8C26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54D389-B9A8-2C3D-A302-E9820351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B046-6CDB-6340-AC38-757B3DB9BDF9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CFB0A6-CF55-AA29-FD0F-C21377D4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DAB43D-C161-716D-0660-C95CFD832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4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E22AD-AC63-595B-03AD-4E45C096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1D24C0-AFD8-BAAB-EFE3-9C79F91B3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A5AF98-4CAD-DA49-073B-8C2A82CB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4CC-EE6B-0140-BD43-F915C82BEFAB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AE1CEF-4F31-9FA6-2AEC-01F7C4392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1E1179-51FF-1B69-3DFE-B44FCDC3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048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7E5B2F-73E7-B700-7AA8-5F229002D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D37802-DA96-23BA-97C8-50CBDA9A0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D97CFA-9263-1117-0AC5-A05FC169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97FEF-0000-AD4C-A9D9-B91A935CDD0E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805E50-84CC-5690-6FBC-5513BD72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F9150D-A7DA-268F-52B6-51276AEF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953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FAA09D-4589-5317-AD20-487007C4C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F693EA-6C7A-58AA-D47D-0571FFB64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1FD2CA-F63B-E60F-CE21-61C6E239A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F67C4D-51FB-32D3-738F-247BB56C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5A609-1729-8846-A963-9C74F42B2273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9C60D9-0B00-DA0C-649F-5F152E4F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EFD5F8-354E-299E-6E18-F3D19732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913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70AA26-5FB5-045E-C35E-E729E8FEF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DCD954-841F-77A4-2A0F-E6953B963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03F1A4-C751-531C-6F5B-80C837451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AB3279-E1EF-03B8-7FC5-ABD5DC4DA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1FE7DE6-33D1-8746-A952-E1A2E1E9A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85FCFFF-3DE7-DAF6-D046-0BCBCF45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40431-FF66-5B4F-9455-FB34ECBC7ECD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7F4EC5C-A1E7-8806-10D3-519180BB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988393-A485-791A-2137-0E681ECB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51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BAAAAB-49D1-AE01-9A4F-AED1FFBA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316B9BF-A91A-D4FF-DC58-3DE07E01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343D-C977-A547-9B38-6676DF0958F2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4287644-AA3E-9F68-F0FF-7F6F04C4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C7C0BE-93F7-CB5A-35A3-532B5919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024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28ABE5-25FD-728E-347E-8A3739935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2B98E-555D-B046-8927-957D6EB6D048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C257CA9-05EF-C116-7200-AFDBD5F43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A5CCBC-DDEA-EA5C-183C-D08ED849B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412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2D1DB8-2521-AF51-5C22-F499756F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245154-6CDE-2D72-6D75-B8F5A1EC1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A00069-DB05-1955-DD39-9F5AC9E0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59C5BA-6687-2192-E0C1-91A105B7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E15B-B79F-0545-9345-403613D55812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2554C0-956E-3A13-C994-B2CFD228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E691DF-2ED6-39A7-D4B3-16B2E976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87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B5BE2C-A420-533E-F381-C516AE86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03167B-0594-1AD4-5BAE-CB2B16009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2CA78BB-95E9-24E5-75E9-69052A90C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21BA2A-7A89-D1D0-2BA0-3004F5E24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9D27A-CC2D-A545-B3F8-DBF279EFC6F3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656F08-4E4F-EF7B-F04B-88487A38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BE4D61-710D-4C06-E909-29E0599C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3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665225-0C8F-51E1-5A3C-3193D99C2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F2D5FA-36C8-DA41-5071-623A5F40E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7F2DFD-948F-AB52-0FC2-AC78A5FB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1F44-41F3-F14C-B106-DD3FFDD09F22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813CCE-1D6A-5A54-FDB0-6A817B6E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3B348A-A881-9E19-F539-2325FFFF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960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6F09C6E-6D54-D229-F782-F81BDAB3E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D5D2522-A237-1EC5-612E-C6A1EF921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7898E4-0D7A-4DBC-BC20-2D88D40F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DA43-023C-1F4A-82E9-817EE662F239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81129B-64D9-0A25-8710-6BE0DBC04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243E7D-DD02-54A7-D3A7-D517AA8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8964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77B821-6AB9-3C0A-0F0D-7805F5A2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80C489-CA1B-EC55-1805-5EA737928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604960-DBED-4F7F-DABF-EE582AABA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94BD40-C591-1A4D-8E53-D30ED26E4AD1}" type="datetime1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A7F851-706C-34F9-B0E4-C33ACD3CD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68152B-39A5-9087-332E-936AFDDC7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52DCD-1B55-4ADD-BA91-F3FCF62926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508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B5022488-ECED-D768-94A1-B9AAE7246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4590"/>
            <a:ext cx="9144000" cy="1655762"/>
          </a:xfrm>
        </p:spPr>
        <p:txBody>
          <a:bodyPr/>
          <a:lstStyle/>
          <a:p>
            <a:r>
              <a:rPr lang="ja-JP" altLang="en-US">
                <a:latin typeface="Noto Sans JP" panose="020B0200000000000000" pitchFamily="50" charset="-128"/>
                <a:ea typeface="Noto Sans JP" panose="020B0200000000000000" pitchFamily="50" charset="-128"/>
              </a:rPr>
              <a:t>令和７年度 卒業研究発表会</a:t>
            </a:r>
            <a:endParaRPr lang="en-US" altLang="ja-JP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>
                <a:latin typeface="Noto Sans JP" panose="020B0200000000000000" pitchFamily="50" charset="-128"/>
                <a:ea typeface="Noto Sans JP" panose="020B0200000000000000" pitchFamily="50" charset="-128"/>
              </a:rPr>
              <a:t>板谷研究室所属</a:t>
            </a:r>
            <a:endParaRPr lang="en-US" altLang="ja-JP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altLang="ja-JP" dirty="0">
                <a:latin typeface="Noto Sans JP" panose="020B0200000000000000" pitchFamily="50" charset="-128"/>
                <a:ea typeface="Noto Sans JP" panose="020B0200000000000000" pitchFamily="50" charset="-128"/>
              </a:rPr>
              <a:t>5I 24 </a:t>
            </a:r>
            <a:r>
              <a:rPr lang="ja-JP" altLang="en-US" dirty="0">
                <a:latin typeface="Noto Sans JP" panose="020B0200000000000000" pitchFamily="50" charset="-128"/>
                <a:ea typeface="Noto Sans JP" panose="020B0200000000000000" pitchFamily="50" charset="-128"/>
              </a:rPr>
              <a:t>野下航輝</a:t>
            </a:r>
            <a:endParaRPr kumimoji="1" lang="ja-JP" altLang="en-US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BDF81884-83B8-7881-F2CE-4E0EB2F86F09}"/>
              </a:ext>
            </a:extLst>
          </p:cNvPr>
          <p:cNvSpPr/>
          <p:nvPr/>
        </p:nvSpPr>
        <p:spPr>
          <a:xfrm>
            <a:off x="-1668129" y="-3283030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C37DA678-7523-5470-47FD-A11B4D67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楕円 24">
            <a:extLst>
              <a:ext uri="{FF2B5EF4-FFF2-40B4-BE49-F238E27FC236}">
                <a16:creationId xmlns:a16="http://schemas.microsoft.com/office/drawing/2014/main" id="{641FFA12-7088-8F81-5ED3-1F5496CA317B}"/>
              </a:ext>
            </a:extLst>
          </p:cNvPr>
          <p:cNvSpPr/>
          <p:nvPr/>
        </p:nvSpPr>
        <p:spPr>
          <a:xfrm>
            <a:off x="9206942" y="4866986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24">
            <a:extLst>
              <a:ext uri="{FF2B5EF4-FFF2-40B4-BE49-F238E27FC236}">
                <a16:creationId xmlns:a16="http://schemas.microsoft.com/office/drawing/2014/main" id="{F6ECE387-E522-0926-2227-7EE0FD5DB5D2}"/>
              </a:ext>
            </a:extLst>
          </p:cNvPr>
          <p:cNvSpPr/>
          <p:nvPr/>
        </p:nvSpPr>
        <p:spPr>
          <a:xfrm>
            <a:off x="9942232" y="4182359"/>
            <a:ext cx="1790701" cy="1772358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A11D61-D937-EF41-21AE-4BE70E598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2611" y="1553991"/>
            <a:ext cx="12657221" cy="2387600"/>
          </a:xfrm>
        </p:spPr>
        <p:txBody>
          <a:bodyPr>
            <a:normAutofit/>
          </a:bodyPr>
          <a:lstStyle/>
          <a:p>
            <a:r>
              <a:rPr lang="ja-JP" altLang="en-US" sz="4800" b="1" spc="611">
                <a:solidFill>
                  <a:srgbClr val="3D3D3D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Source Han Sans JP Bold"/>
                <a:sym typeface="Source Han Sans JP Bold"/>
              </a:rPr>
              <a:t>電磁センサ搭載水中ドローンによる</a:t>
            </a:r>
            <a:br>
              <a:rPr lang="en-US" altLang="ja-JP" sz="4800" b="1" spc="611" dirty="0">
                <a:solidFill>
                  <a:srgbClr val="3D3D3D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Source Han Sans JP Bold"/>
                <a:sym typeface="Source Han Sans JP Bold"/>
              </a:rPr>
            </a:br>
            <a:r>
              <a:rPr lang="ja-JP" altLang="en-US" sz="4800" b="1" spc="611">
                <a:solidFill>
                  <a:srgbClr val="3D3D3D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Source Han Sans JP Bold"/>
                <a:sym typeface="Source Han Sans JP Bold"/>
              </a:rPr>
              <a:t>海底沈殿した金属ゴミの探査 </a:t>
            </a:r>
            <a:endParaRPr lang="en-US" altLang="ja-JP" sz="4800" b="1" spc="611" dirty="0">
              <a:solidFill>
                <a:srgbClr val="3D3D3D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Source Han Sans JP Bold"/>
              <a:sym typeface="Source Han Sans JP Bold"/>
            </a:endParaRPr>
          </a:p>
        </p:txBody>
      </p:sp>
    </p:spTree>
    <p:extLst>
      <p:ext uri="{BB962C8B-B14F-4D97-AF65-F5344CB8AC3E}">
        <p14:creationId xmlns:p14="http://schemas.microsoft.com/office/powerpoint/2010/main" val="198486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9AF8D-2E29-4C62-CAD1-5A5D0278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12CFB3-FE75-7EE3-0FBB-76C0DA1F8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247654"/>
            <a:ext cx="5476875" cy="874709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発表内容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366908A-0C95-7A5E-65BA-A817DC25A44D}"/>
              </a:ext>
            </a:extLst>
          </p:cNvPr>
          <p:cNvCxnSpPr/>
          <p:nvPr/>
        </p:nvCxnSpPr>
        <p:spPr>
          <a:xfrm>
            <a:off x="-895350" y="1122363"/>
            <a:ext cx="6734175" cy="0"/>
          </a:xfrm>
          <a:prstGeom prst="line">
            <a:avLst/>
          </a:prstGeom>
          <a:ln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78EAFDA-CC29-3F6F-269E-99340322D8C2}"/>
              </a:ext>
            </a:extLst>
          </p:cNvPr>
          <p:cNvSpPr txBox="1"/>
          <p:nvPr/>
        </p:nvSpPr>
        <p:spPr>
          <a:xfrm>
            <a:off x="3614584" y="1334432"/>
            <a:ext cx="49628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研究の背景</a:t>
            </a: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研究の目的</a:t>
            </a: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水槽での実験</a:t>
            </a: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プールでの実験</a:t>
            </a: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ja-JP" altLang="en-US" sz="2800">
                <a:latin typeface="Noto Sans JP" panose="020B0200000000000000" pitchFamily="50" charset="-128"/>
                <a:ea typeface="Noto Sans JP" panose="020B0200000000000000" pitchFamily="50" charset="-128"/>
              </a:rPr>
              <a:t>考察・まとめ</a:t>
            </a:r>
            <a:endParaRPr lang="en-US" altLang="ja-JP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E3A00433-E72B-06A2-7C72-7B31368A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3" name="楕円 24">
            <a:extLst>
              <a:ext uri="{FF2B5EF4-FFF2-40B4-BE49-F238E27FC236}">
                <a16:creationId xmlns:a16="http://schemas.microsoft.com/office/drawing/2014/main" id="{3B4497B9-6A4D-84A5-767B-AC9CCDD7D8E9}"/>
              </a:ext>
            </a:extLst>
          </p:cNvPr>
          <p:cNvSpPr/>
          <p:nvPr/>
        </p:nvSpPr>
        <p:spPr>
          <a:xfrm>
            <a:off x="-1465358" y="5933345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24">
            <a:extLst>
              <a:ext uri="{FF2B5EF4-FFF2-40B4-BE49-F238E27FC236}">
                <a16:creationId xmlns:a16="http://schemas.microsoft.com/office/drawing/2014/main" id="{01BF52C1-91D7-66F8-5D42-4C076B3E2C26}"/>
              </a:ext>
            </a:extLst>
          </p:cNvPr>
          <p:cNvSpPr/>
          <p:nvPr/>
        </p:nvSpPr>
        <p:spPr>
          <a:xfrm>
            <a:off x="7096125" y="-4249736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24">
            <a:extLst>
              <a:ext uri="{FF2B5EF4-FFF2-40B4-BE49-F238E27FC236}">
                <a16:creationId xmlns:a16="http://schemas.microsoft.com/office/drawing/2014/main" id="{CDC9218A-CDD9-6482-9425-A6E7C5BB8BB1}"/>
              </a:ext>
            </a:extLst>
          </p:cNvPr>
          <p:cNvSpPr/>
          <p:nvPr/>
        </p:nvSpPr>
        <p:spPr>
          <a:xfrm>
            <a:off x="10325483" y="-364585"/>
            <a:ext cx="1705877" cy="1698232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5737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7CC73-2B88-E357-9E7B-88B1D83E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1FF186-3AEE-A2A4-A67A-4FA86AC8E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247654"/>
            <a:ext cx="5476875" cy="874709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000" b="1">
                <a:latin typeface="Noto Sans JP" panose="020B0200000000000000" pitchFamily="50" charset="-128"/>
                <a:ea typeface="Noto Sans JP" panose="020B0200000000000000" pitchFamily="50" charset="-128"/>
              </a:rPr>
              <a:t>研究の背景</a:t>
            </a:r>
            <a:endParaRPr kumimoji="1" lang="ja-JP" altLang="en-US" sz="4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CC027F4-8A3C-B921-1E51-75A9B9EBF438}"/>
              </a:ext>
            </a:extLst>
          </p:cNvPr>
          <p:cNvCxnSpPr/>
          <p:nvPr/>
        </p:nvCxnSpPr>
        <p:spPr>
          <a:xfrm>
            <a:off x="-895350" y="1122363"/>
            <a:ext cx="6734175" cy="0"/>
          </a:xfrm>
          <a:prstGeom prst="line">
            <a:avLst/>
          </a:prstGeom>
          <a:ln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E55ED2EE-F3C8-7665-2029-DE87088E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3" name="楕円 24">
            <a:extLst>
              <a:ext uri="{FF2B5EF4-FFF2-40B4-BE49-F238E27FC236}">
                <a16:creationId xmlns:a16="http://schemas.microsoft.com/office/drawing/2014/main" id="{C8A9DD46-380E-C57D-B073-34D1D141FF22}"/>
              </a:ext>
            </a:extLst>
          </p:cNvPr>
          <p:cNvSpPr/>
          <p:nvPr/>
        </p:nvSpPr>
        <p:spPr>
          <a:xfrm>
            <a:off x="-1465358" y="5933345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24">
            <a:extLst>
              <a:ext uri="{FF2B5EF4-FFF2-40B4-BE49-F238E27FC236}">
                <a16:creationId xmlns:a16="http://schemas.microsoft.com/office/drawing/2014/main" id="{B648F396-29A3-9D28-0E62-B7BC6047CEBE}"/>
              </a:ext>
            </a:extLst>
          </p:cNvPr>
          <p:cNvSpPr/>
          <p:nvPr/>
        </p:nvSpPr>
        <p:spPr>
          <a:xfrm>
            <a:off x="7096125" y="-4249736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24">
            <a:extLst>
              <a:ext uri="{FF2B5EF4-FFF2-40B4-BE49-F238E27FC236}">
                <a16:creationId xmlns:a16="http://schemas.microsoft.com/office/drawing/2014/main" id="{D2E9ED8D-36B3-0BCF-ACBF-310C2ADD272E}"/>
              </a:ext>
            </a:extLst>
          </p:cNvPr>
          <p:cNvSpPr/>
          <p:nvPr/>
        </p:nvSpPr>
        <p:spPr>
          <a:xfrm>
            <a:off x="10325483" y="-364585"/>
            <a:ext cx="1705877" cy="1698232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4E930C7-7D39-7135-6116-9A3651BC3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191" y="3135531"/>
            <a:ext cx="2871169" cy="3220819"/>
          </a:xfrm>
          <a:prstGeom prst="rect">
            <a:avLst/>
          </a:prstGeom>
        </p:spPr>
      </p:pic>
      <p:sp>
        <p:nvSpPr>
          <p:cNvPr id="8" name="コンテンツ プレースホルダー 1">
            <a:extLst>
              <a:ext uri="{FF2B5EF4-FFF2-40B4-BE49-F238E27FC236}">
                <a16:creationId xmlns:a16="http://schemas.microsoft.com/office/drawing/2014/main" id="{5A5119F7-61EC-936B-9CDD-0C5FD3C7F6F9}"/>
              </a:ext>
            </a:extLst>
          </p:cNvPr>
          <p:cNvSpPr txBox="1">
            <a:spLocks/>
          </p:cNvSpPr>
          <p:nvPr/>
        </p:nvSpPr>
        <p:spPr>
          <a:xfrm>
            <a:off x="361950" y="1899165"/>
            <a:ext cx="8336882" cy="4034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spcBef>
                <a:spcPts val="0"/>
              </a:spcBef>
              <a:buFont typeface="Wingdings" pitchFamily="2" charset="2"/>
              <a:buChar char="l"/>
            </a:pPr>
            <a:r>
              <a:rPr lang="ja-JP" altLang="en-US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  <a:t>志摩市の英虞湾では漁業が盛んに行われている</a:t>
            </a:r>
            <a:br>
              <a:rPr lang="en-US" altLang="ja-JP" dirty="0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</a:br>
            <a:r>
              <a:rPr lang="ja-JP" altLang="en-US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  <a:t>特に真珠の養殖業</a:t>
            </a:r>
            <a:endParaRPr lang="en-US" altLang="ja-JP" dirty="0"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457200" indent="-457200" algn="l">
              <a:spcBef>
                <a:spcPts val="0"/>
              </a:spcBef>
              <a:buFont typeface="Wingdings" pitchFamily="2" charset="2"/>
              <a:buChar char="l"/>
            </a:pPr>
            <a:endParaRPr lang="en-US" altLang="ja-JP" dirty="0"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457200" indent="-457200" algn="l">
              <a:spcBef>
                <a:spcPts val="0"/>
              </a:spcBef>
              <a:buFont typeface="Wingdings" pitchFamily="2" charset="2"/>
              <a:buChar char="l"/>
            </a:pPr>
            <a:r>
              <a:rPr lang="ja-JP" altLang="en-US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  <a:t>沈殿した金属ゴミから有害物質が溶出</a:t>
            </a:r>
            <a:br>
              <a:rPr lang="en-US" altLang="ja-JP" dirty="0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</a:br>
            <a:r>
              <a:rPr lang="ja-JP" altLang="en-US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  <a:t>生態系、漁に影響し地域産業に打撃を与える</a:t>
            </a:r>
            <a:endParaRPr lang="en-US" altLang="ja-JP" dirty="0"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457200" indent="-457200" algn="l">
              <a:spcBef>
                <a:spcPts val="0"/>
              </a:spcBef>
              <a:buFont typeface="Wingdings" pitchFamily="2" charset="2"/>
              <a:buChar char="l"/>
            </a:pPr>
            <a:endParaRPr lang="ja-JP" altLang="en-US"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457200" indent="-457200" algn="l">
              <a:spcBef>
                <a:spcPts val="0"/>
              </a:spcBef>
              <a:buFont typeface="Wingdings" pitchFamily="2" charset="2"/>
              <a:buChar char="l"/>
            </a:pPr>
            <a:r>
              <a:rPr lang="ja-JP" altLang="en-US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  <a:t>しかし実際どれだけ英虞湾に船やゴミが沈んでいるかは</a:t>
            </a:r>
            <a:br>
              <a:rPr lang="en-US" altLang="ja-JP" dirty="0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</a:br>
            <a:r>
              <a:rPr lang="ja-JP" altLang="en-US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  <a:t>わからない</a:t>
            </a:r>
            <a:endParaRPr lang="en-US" altLang="ja-JP" dirty="0"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457200" indent="-457200" algn="l">
              <a:spcBef>
                <a:spcPts val="0"/>
              </a:spcBef>
              <a:buFont typeface="Wingdings" pitchFamily="2" charset="2"/>
              <a:buChar char="l"/>
            </a:pPr>
            <a:endParaRPr lang="ja-JP" altLang="en-US"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457200" indent="-457200" algn="l">
              <a:spcBef>
                <a:spcPts val="0"/>
              </a:spcBef>
              <a:buFont typeface="Wingdings" pitchFamily="2" charset="2"/>
              <a:buChar char="l"/>
            </a:pPr>
            <a:r>
              <a:rPr lang="ja-JP" altLang="en-US">
                <a:latin typeface="Noto Sans JP" panose="020B0200000000000000" pitchFamily="34" charset="-128"/>
                <a:ea typeface="Noto Sans JP" panose="020B0200000000000000" pitchFamily="34" charset="-128"/>
                <a:cs typeface="Source Han Sans JP"/>
                <a:sym typeface="Source Han Sans JP"/>
              </a:rPr>
              <a:t>アコヤ貝の養殖用のカゴも沈む</a:t>
            </a:r>
            <a:endParaRPr lang="ja-JP" altLang="en-US" dirty="0"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E77271C-86B5-27C0-DA1D-85B369408862}"/>
              </a:ext>
            </a:extLst>
          </p:cNvPr>
          <p:cNvSpPr txBox="1"/>
          <p:nvPr/>
        </p:nvSpPr>
        <p:spPr>
          <a:xfrm>
            <a:off x="361950" y="1333647"/>
            <a:ext cx="86241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家電や沈没船などの金属ゴミによる環境汚染問題</a:t>
            </a:r>
          </a:p>
          <a:p>
            <a:endParaRPr kumimoji="1" lang="ja-JP" altLang="en-US" sz="2800" b="1">
              <a:solidFill>
                <a:srgbClr val="FF8A00"/>
              </a:solidFill>
              <a:latin typeface="Noto Sans JP" panose="020B0200000000000000" pitchFamily="34" charset="-128"/>
              <a:ea typeface="Noto Sans JP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7504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6081-CE3B-5FF0-9127-9ABCE523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D03C18-FCF3-7062-0C4D-72DCE050A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247654"/>
            <a:ext cx="5476875" cy="874709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000" b="1">
                <a:latin typeface="Noto Sans JP" panose="020B0200000000000000" pitchFamily="50" charset="-128"/>
                <a:ea typeface="Noto Sans JP" panose="020B0200000000000000" pitchFamily="50" charset="-128"/>
              </a:rPr>
              <a:t>研究の背景</a:t>
            </a:r>
            <a:endParaRPr kumimoji="1" lang="ja-JP" altLang="en-US" sz="4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44FFAE3-5B7A-5DC2-D0D6-0C76BD4742C2}"/>
              </a:ext>
            </a:extLst>
          </p:cNvPr>
          <p:cNvCxnSpPr/>
          <p:nvPr/>
        </p:nvCxnSpPr>
        <p:spPr>
          <a:xfrm>
            <a:off x="-895350" y="1122363"/>
            <a:ext cx="6734175" cy="0"/>
          </a:xfrm>
          <a:prstGeom prst="line">
            <a:avLst/>
          </a:prstGeom>
          <a:ln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9B4CB38A-FD0F-F945-1CB0-927971E2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3" name="楕円 24">
            <a:extLst>
              <a:ext uri="{FF2B5EF4-FFF2-40B4-BE49-F238E27FC236}">
                <a16:creationId xmlns:a16="http://schemas.microsoft.com/office/drawing/2014/main" id="{FE83AD79-1543-1DEE-67DA-81D6440091EA}"/>
              </a:ext>
            </a:extLst>
          </p:cNvPr>
          <p:cNvSpPr/>
          <p:nvPr/>
        </p:nvSpPr>
        <p:spPr>
          <a:xfrm>
            <a:off x="-1465358" y="5933345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24">
            <a:extLst>
              <a:ext uri="{FF2B5EF4-FFF2-40B4-BE49-F238E27FC236}">
                <a16:creationId xmlns:a16="http://schemas.microsoft.com/office/drawing/2014/main" id="{D4E97F02-20D7-71DD-8000-A9F9747F9CA7}"/>
              </a:ext>
            </a:extLst>
          </p:cNvPr>
          <p:cNvSpPr/>
          <p:nvPr/>
        </p:nvSpPr>
        <p:spPr>
          <a:xfrm>
            <a:off x="7096125" y="-4249736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24">
            <a:extLst>
              <a:ext uri="{FF2B5EF4-FFF2-40B4-BE49-F238E27FC236}">
                <a16:creationId xmlns:a16="http://schemas.microsoft.com/office/drawing/2014/main" id="{BAB09054-E5CC-A872-BDF0-64B17E873C22}"/>
              </a:ext>
            </a:extLst>
          </p:cNvPr>
          <p:cNvSpPr/>
          <p:nvPr/>
        </p:nvSpPr>
        <p:spPr>
          <a:xfrm>
            <a:off x="10325483" y="-364585"/>
            <a:ext cx="1705877" cy="1698232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3408DDB-9F20-8284-334F-082FFE1EC2F7}"/>
              </a:ext>
            </a:extLst>
          </p:cNvPr>
          <p:cNvSpPr txBox="1"/>
          <p:nvPr/>
        </p:nvSpPr>
        <p:spPr>
          <a:xfrm>
            <a:off x="361950" y="1333647"/>
            <a:ext cx="8624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人の潜水による調査には限界がある</a:t>
            </a:r>
          </a:p>
        </p:txBody>
      </p:sp>
      <p:sp>
        <p:nvSpPr>
          <p:cNvPr id="9" name="コンテンツ プレースホルダー 1">
            <a:extLst>
              <a:ext uri="{FF2B5EF4-FFF2-40B4-BE49-F238E27FC236}">
                <a16:creationId xmlns:a16="http://schemas.microsoft.com/office/drawing/2014/main" id="{32EF970F-9BB8-AD8D-0B92-F84A8BBC000F}"/>
              </a:ext>
            </a:extLst>
          </p:cNvPr>
          <p:cNvSpPr txBox="1">
            <a:spLocks/>
          </p:cNvSpPr>
          <p:nvPr/>
        </p:nvSpPr>
        <p:spPr>
          <a:xfrm>
            <a:off x="361950" y="2256899"/>
            <a:ext cx="8336882" cy="4034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海底のゴミは汚泥や砂で埋まっているため</a:t>
            </a:r>
            <a:br>
              <a:rPr lang="en-US" altLang="ja-JP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</a:b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肉眼で見つけづらい</a:t>
            </a: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indent="-342900" algn="l">
              <a:spcBef>
                <a:spcPts val="0"/>
              </a:spcBef>
              <a:buFont typeface="Wingdings" pitchFamily="2" charset="2"/>
              <a:buChar char="l"/>
            </a:pPr>
            <a:endParaRPr lang="en-US" altLang="ja-JP" dirty="0">
              <a:solidFill>
                <a:srgbClr val="3D3D3D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342900" indent="-342900" algn="l">
              <a:spcBef>
                <a:spcPts val="0"/>
              </a:spcBef>
              <a:buFont typeface="Wingdings" pitchFamily="2" charset="2"/>
              <a:buChar char="l"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潜水士は人手不足でコストも大きい</a:t>
            </a: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indent="-342900" algn="l">
              <a:spcBef>
                <a:spcPts val="0"/>
              </a:spcBef>
              <a:buFont typeface="Wingdings" pitchFamily="2" charset="2"/>
              <a:buChar char="l"/>
            </a:pPr>
            <a:endParaRPr lang="en-US" altLang="ja-JP" dirty="0">
              <a:solidFill>
                <a:srgbClr val="3D3D3D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深いところでは身体的負担大</a:t>
            </a: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indent="-342900" algn="l">
              <a:spcBef>
                <a:spcPts val="0"/>
              </a:spcBef>
              <a:buFont typeface="Wingdings" pitchFamily="2" charset="2"/>
              <a:buChar char="l"/>
            </a:pPr>
            <a:endParaRPr lang="ja-JP" altLang="en-US">
              <a:solidFill>
                <a:srgbClr val="3D3D3D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ゴミの現状がわからず潜水士を投入する予定すら</a:t>
            </a:r>
            <a:br>
              <a:rPr lang="en-US" altLang="ja-JP" kern="0" dirty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</a:b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立てられない</a:t>
            </a:r>
            <a:endParaRPr lang="ja-JP" altLang="en-US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</p:txBody>
      </p:sp>
      <p:sp>
        <p:nvSpPr>
          <p:cNvPr id="13" name="コンテンツ プレースホルダー 1">
            <a:extLst>
              <a:ext uri="{FF2B5EF4-FFF2-40B4-BE49-F238E27FC236}">
                <a16:creationId xmlns:a16="http://schemas.microsoft.com/office/drawing/2014/main" id="{8185E290-6C76-2D19-220E-6560A5569E8C}"/>
              </a:ext>
            </a:extLst>
          </p:cNvPr>
          <p:cNvSpPr txBox="1">
            <a:spLocks/>
          </p:cNvSpPr>
          <p:nvPr/>
        </p:nvSpPr>
        <p:spPr>
          <a:xfrm>
            <a:off x="7816014" y="3242821"/>
            <a:ext cx="4332371" cy="993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buClr>
                <a:srgbClr val="000000"/>
              </a:buClr>
              <a:defRPr/>
            </a:pPr>
            <a:r>
              <a:rPr lang="ja-JP" altLang="en-US" sz="3200" kern="0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安全かつ低コストな</a:t>
            </a:r>
            <a:endParaRPr lang="en-US" altLang="ja-JP" sz="3200" kern="0" dirty="0">
              <a:solidFill>
                <a:srgbClr val="FF8A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defRPr/>
            </a:pPr>
            <a:r>
              <a:rPr lang="ja-JP" altLang="en-US" sz="3200" kern="0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対策が求められている</a:t>
            </a:r>
            <a:endParaRPr lang="ja-JP" altLang="en-US" sz="3200" kern="0" dirty="0">
              <a:solidFill>
                <a:srgbClr val="FF8A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5DDADB2C-FCE5-66B4-CE2F-AD3BD98BB400}"/>
              </a:ext>
            </a:extLst>
          </p:cNvPr>
          <p:cNvSpPr/>
          <p:nvPr/>
        </p:nvSpPr>
        <p:spPr>
          <a:xfrm>
            <a:off x="6725653" y="3479729"/>
            <a:ext cx="962526" cy="589547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090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9BC5-5B2D-E74D-30E9-BD7B530D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70C494-E7D1-F65D-1DDD-8FFAFA5B8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247654"/>
            <a:ext cx="5476875" cy="874709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000" b="1">
                <a:latin typeface="Noto Sans JP" panose="020B0200000000000000" pitchFamily="50" charset="-128"/>
                <a:ea typeface="Noto Sans JP" panose="020B0200000000000000" pitchFamily="50" charset="-128"/>
              </a:rPr>
              <a:t>研究の背景</a:t>
            </a:r>
            <a:endParaRPr kumimoji="1" lang="ja-JP" altLang="en-US" sz="4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F1A773B9-5006-0088-8B68-72E256B895C0}"/>
              </a:ext>
            </a:extLst>
          </p:cNvPr>
          <p:cNvCxnSpPr/>
          <p:nvPr/>
        </p:nvCxnSpPr>
        <p:spPr>
          <a:xfrm>
            <a:off x="-895350" y="1122363"/>
            <a:ext cx="6734175" cy="0"/>
          </a:xfrm>
          <a:prstGeom prst="line">
            <a:avLst/>
          </a:prstGeom>
          <a:ln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A3BBE7B0-9BEC-04AC-46F8-438B665B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3" name="楕円 24">
            <a:extLst>
              <a:ext uri="{FF2B5EF4-FFF2-40B4-BE49-F238E27FC236}">
                <a16:creationId xmlns:a16="http://schemas.microsoft.com/office/drawing/2014/main" id="{28A696E5-384F-1097-D3CF-E7E3D0383EAE}"/>
              </a:ext>
            </a:extLst>
          </p:cNvPr>
          <p:cNvSpPr/>
          <p:nvPr/>
        </p:nvSpPr>
        <p:spPr>
          <a:xfrm>
            <a:off x="-1465358" y="5933345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24">
            <a:extLst>
              <a:ext uri="{FF2B5EF4-FFF2-40B4-BE49-F238E27FC236}">
                <a16:creationId xmlns:a16="http://schemas.microsoft.com/office/drawing/2014/main" id="{51877A7F-76A7-9BBE-9CB6-30AB6C546159}"/>
              </a:ext>
            </a:extLst>
          </p:cNvPr>
          <p:cNvSpPr/>
          <p:nvPr/>
        </p:nvSpPr>
        <p:spPr>
          <a:xfrm>
            <a:off x="7096125" y="-4249736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24">
            <a:extLst>
              <a:ext uri="{FF2B5EF4-FFF2-40B4-BE49-F238E27FC236}">
                <a16:creationId xmlns:a16="http://schemas.microsoft.com/office/drawing/2014/main" id="{06AFCEAB-90DD-14BB-AA5E-0D178FE84000}"/>
              </a:ext>
            </a:extLst>
          </p:cNvPr>
          <p:cNvSpPr/>
          <p:nvPr/>
        </p:nvSpPr>
        <p:spPr>
          <a:xfrm>
            <a:off x="10325483" y="-364585"/>
            <a:ext cx="1705877" cy="1698232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36D9A5D-3343-5A33-8234-4FFBA449B1FF}"/>
              </a:ext>
            </a:extLst>
          </p:cNvPr>
          <p:cNvSpPr txBox="1"/>
          <p:nvPr/>
        </p:nvSpPr>
        <p:spPr>
          <a:xfrm>
            <a:off x="361950" y="1333647"/>
            <a:ext cx="8624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電磁センサ搭載水中ドローンによる遠隔調査を提案</a:t>
            </a:r>
          </a:p>
        </p:txBody>
      </p:sp>
      <p:sp>
        <p:nvSpPr>
          <p:cNvPr id="9" name="コンテンツ プレースホルダー 1">
            <a:extLst>
              <a:ext uri="{FF2B5EF4-FFF2-40B4-BE49-F238E27FC236}">
                <a16:creationId xmlns:a16="http://schemas.microsoft.com/office/drawing/2014/main" id="{E1F4EB57-50B4-1F13-8F05-B6382443FA83}"/>
              </a:ext>
            </a:extLst>
          </p:cNvPr>
          <p:cNvSpPr txBox="1">
            <a:spLocks/>
          </p:cNvSpPr>
          <p:nvPr/>
        </p:nvSpPr>
        <p:spPr>
          <a:xfrm>
            <a:off x="361950" y="2256899"/>
            <a:ext cx="8336882" cy="4034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人の潜水なしで海底ゴミ探索する</a:t>
            </a:r>
            <a:b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</a:b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→人力より安全で低コスト</a:t>
            </a: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endParaRPr lang="ja-JP" altLang="en-US" kern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電磁センサの磁気による金属探知で非接触検出可能</a:t>
            </a:r>
          </a:p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endParaRPr lang="ja-JP" altLang="en-US" kern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陸上でデータを確認できる</a:t>
            </a: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endParaRPr lang="ja-JP" altLang="en-US" kern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lvl="0" indent="-342900" algn="l">
              <a:spcBef>
                <a:spcPts val="0"/>
              </a:spcBef>
              <a:buClr>
                <a:srgbClr val="000000"/>
              </a:buClr>
              <a:buFont typeface="Wingdings" pitchFamily="2" charset="2"/>
              <a:buChar char="l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発見次第、人力によるゴミの確認及び引き上げも可能</a:t>
            </a:r>
          </a:p>
        </p:txBody>
      </p:sp>
    </p:spTree>
    <p:extLst>
      <p:ext uri="{BB962C8B-B14F-4D97-AF65-F5344CB8AC3E}">
        <p14:creationId xmlns:p14="http://schemas.microsoft.com/office/powerpoint/2010/main" val="56512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8CCB0-B744-99B8-1502-0A24CC1C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01E89C-4D94-CCDD-9E5A-441D76222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247654"/>
            <a:ext cx="5476875" cy="874709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000" b="1">
                <a:latin typeface="Noto Sans JP" panose="020B0200000000000000" pitchFamily="50" charset="-128"/>
                <a:ea typeface="Noto Sans JP" panose="020B0200000000000000" pitchFamily="50" charset="-128"/>
              </a:rPr>
              <a:t>研究の目的</a:t>
            </a:r>
            <a:endParaRPr kumimoji="1" lang="ja-JP" altLang="en-US" sz="4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6B4D865-B458-51B4-C0C4-690EB3701D56}"/>
              </a:ext>
            </a:extLst>
          </p:cNvPr>
          <p:cNvCxnSpPr/>
          <p:nvPr/>
        </p:nvCxnSpPr>
        <p:spPr>
          <a:xfrm>
            <a:off x="-895350" y="1122363"/>
            <a:ext cx="6734175" cy="0"/>
          </a:xfrm>
          <a:prstGeom prst="line">
            <a:avLst/>
          </a:prstGeom>
          <a:ln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D3ACFBB4-807E-B366-328F-FD72057F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3" name="楕円 24">
            <a:extLst>
              <a:ext uri="{FF2B5EF4-FFF2-40B4-BE49-F238E27FC236}">
                <a16:creationId xmlns:a16="http://schemas.microsoft.com/office/drawing/2014/main" id="{94F85C44-B35D-6D3D-3273-D5A3EEC7D055}"/>
              </a:ext>
            </a:extLst>
          </p:cNvPr>
          <p:cNvSpPr/>
          <p:nvPr/>
        </p:nvSpPr>
        <p:spPr>
          <a:xfrm>
            <a:off x="-1465358" y="5933345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24">
            <a:extLst>
              <a:ext uri="{FF2B5EF4-FFF2-40B4-BE49-F238E27FC236}">
                <a16:creationId xmlns:a16="http://schemas.microsoft.com/office/drawing/2014/main" id="{6134089E-2D61-624A-CDDD-98E6B22EE63C}"/>
              </a:ext>
            </a:extLst>
          </p:cNvPr>
          <p:cNvSpPr/>
          <p:nvPr/>
        </p:nvSpPr>
        <p:spPr>
          <a:xfrm>
            <a:off x="7096125" y="-4249736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24">
            <a:extLst>
              <a:ext uri="{FF2B5EF4-FFF2-40B4-BE49-F238E27FC236}">
                <a16:creationId xmlns:a16="http://schemas.microsoft.com/office/drawing/2014/main" id="{5DA0E021-C28B-3700-506D-50ADEB9B3920}"/>
              </a:ext>
            </a:extLst>
          </p:cNvPr>
          <p:cNvSpPr/>
          <p:nvPr/>
        </p:nvSpPr>
        <p:spPr>
          <a:xfrm>
            <a:off x="10325483" y="-364585"/>
            <a:ext cx="1705877" cy="1698232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2DD896-A246-EBC7-6A14-F9DF0A0E4E22}"/>
              </a:ext>
            </a:extLst>
          </p:cNvPr>
          <p:cNvSpPr txBox="1"/>
          <p:nvPr/>
        </p:nvSpPr>
        <p:spPr>
          <a:xfrm>
            <a:off x="361950" y="1333647"/>
            <a:ext cx="86241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電磁センサ搭載水中ドローンによる</a:t>
            </a:r>
            <a:b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</a:br>
            <a: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沈殿金属ゴミ探査技術の開発及び検証</a:t>
            </a:r>
          </a:p>
        </p:txBody>
      </p:sp>
      <p:sp>
        <p:nvSpPr>
          <p:cNvPr id="9" name="コンテンツ プレースホルダー 1">
            <a:extLst>
              <a:ext uri="{FF2B5EF4-FFF2-40B4-BE49-F238E27FC236}">
                <a16:creationId xmlns:a16="http://schemas.microsoft.com/office/drawing/2014/main" id="{A49F9DBA-CB1D-ACD9-7728-04C12A94E225}"/>
              </a:ext>
            </a:extLst>
          </p:cNvPr>
          <p:cNvSpPr txBox="1">
            <a:spLocks/>
          </p:cNvSpPr>
          <p:nvPr/>
        </p:nvSpPr>
        <p:spPr>
          <a:xfrm>
            <a:off x="361950" y="3123124"/>
            <a:ext cx="8336882" cy="2206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人力による調査を水中ドローンを用いた調査に置き換え可能かどうかを検証する</a:t>
            </a: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indent="-342900" algn="l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indent="-342900" algn="l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地域課題の解決を目指す</a:t>
            </a:r>
            <a:endParaRPr lang="ja-JP" altLang="en-US">
              <a:solidFill>
                <a:srgbClr val="3D3D3D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86C4B4C-ECF7-F7E8-B12C-BA14144EBFE4}"/>
              </a:ext>
            </a:extLst>
          </p:cNvPr>
          <p:cNvSpPr txBox="1"/>
          <p:nvPr/>
        </p:nvSpPr>
        <p:spPr>
          <a:xfrm>
            <a:off x="9541042" y="429527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水中ドローンの画像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4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1648-7BC9-83CC-FC5E-E5698229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E9721-3144-2F09-DD3F-B2EF2741E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0" y="247654"/>
            <a:ext cx="5476875" cy="874709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000" b="1">
                <a:latin typeface="Noto Sans JP" panose="020B0200000000000000" pitchFamily="50" charset="-128"/>
                <a:ea typeface="Noto Sans JP" panose="020B0200000000000000" pitchFamily="50" charset="-128"/>
              </a:rPr>
              <a:t>研究の目的</a:t>
            </a:r>
            <a:endParaRPr kumimoji="1" lang="ja-JP" altLang="en-US" sz="4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53B28F2-1AFC-26A1-EF53-AB6CF85EA272}"/>
              </a:ext>
            </a:extLst>
          </p:cNvPr>
          <p:cNvCxnSpPr/>
          <p:nvPr/>
        </p:nvCxnSpPr>
        <p:spPr>
          <a:xfrm>
            <a:off x="-895350" y="1122363"/>
            <a:ext cx="6734175" cy="0"/>
          </a:xfrm>
          <a:prstGeom prst="line">
            <a:avLst/>
          </a:prstGeom>
          <a:ln>
            <a:solidFill>
              <a:srgbClr val="FFC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A23F7014-3256-A1D0-351E-CF4AA6C0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52DCD-1B55-4ADD-BA91-F3FCF629260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3" name="楕円 24">
            <a:extLst>
              <a:ext uri="{FF2B5EF4-FFF2-40B4-BE49-F238E27FC236}">
                <a16:creationId xmlns:a16="http://schemas.microsoft.com/office/drawing/2014/main" id="{CCF74DFF-C0FC-E808-1B94-26262ADEE2FC}"/>
              </a:ext>
            </a:extLst>
          </p:cNvPr>
          <p:cNvSpPr/>
          <p:nvPr/>
        </p:nvSpPr>
        <p:spPr>
          <a:xfrm>
            <a:off x="-1465358" y="5933345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楕円 24">
            <a:extLst>
              <a:ext uri="{FF2B5EF4-FFF2-40B4-BE49-F238E27FC236}">
                <a16:creationId xmlns:a16="http://schemas.microsoft.com/office/drawing/2014/main" id="{83941674-155D-FA04-8351-08CAFD4974A8}"/>
              </a:ext>
            </a:extLst>
          </p:cNvPr>
          <p:cNvSpPr/>
          <p:nvPr/>
        </p:nvSpPr>
        <p:spPr>
          <a:xfrm>
            <a:off x="7096125" y="-4249736"/>
            <a:ext cx="5381625" cy="5372099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楕円 24">
            <a:extLst>
              <a:ext uri="{FF2B5EF4-FFF2-40B4-BE49-F238E27FC236}">
                <a16:creationId xmlns:a16="http://schemas.microsoft.com/office/drawing/2014/main" id="{47B7077A-1010-7E12-39E4-79837D8076A7}"/>
              </a:ext>
            </a:extLst>
          </p:cNvPr>
          <p:cNvSpPr/>
          <p:nvPr/>
        </p:nvSpPr>
        <p:spPr>
          <a:xfrm>
            <a:off x="10325483" y="-364585"/>
            <a:ext cx="1705877" cy="1698232"/>
          </a:xfrm>
          <a:prstGeom prst="ellipse">
            <a:avLst/>
          </a:prstGeom>
          <a:gradFill flip="none" rotWithShape="1">
            <a:gsLst>
              <a:gs pos="0">
                <a:srgbClr val="FFFDD3"/>
              </a:gs>
              <a:gs pos="32000">
                <a:srgbClr val="FDED98"/>
              </a:gs>
              <a:gs pos="100000">
                <a:srgbClr val="FFC30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3F87DD6-D7F2-D0AE-3D80-E76763F19901}"/>
              </a:ext>
            </a:extLst>
          </p:cNvPr>
          <p:cNvSpPr txBox="1"/>
          <p:nvPr/>
        </p:nvSpPr>
        <p:spPr>
          <a:xfrm>
            <a:off x="361950" y="1333647"/>
            <a:ext cx="86241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電磁センサ搭載水中ドローンによる</a:t>
            </a:r>
            <a:b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</a:br>
            <a:r>
              <a:rPr kumimoji="1" lang="ja-JP" altLang="en-US" sz="2800" b="1">
                <a:solidFill>
                  <a:srgbClr val="FF8A00"/>
                </a:solidFill>
                <a:latin typeface="Noto Sans JP" panose="020B0200000000000000" pitchFamily="34" charset="-128"/>
                <a:ea typeface="Noto Sans JP" panose="020B0200000000000000" pitchFamily="34" charset="-128"/>
              </a:rPr>
              <a:t>沈殿金属ゴミ探査技術の開発及び検証</a:t>
            </a:r>
          </a:p>
        </p:txBody>
      </p:sp>
      <p:sp>
        <p:nvSpPr>
          <p:cNvPr id="9" name="コンテンツ プレースホルダー 1">
            <a:extLst>
              <a:ext uri="{FF2B5EF4-FFF2-40B4-BE49-F238E27FC236}">
                <a16:creationId xmlns:a16="http://schemas.microsoft.com/office/drawing/2014/main" id="{298B63B8-36AC-4B95-AA51-68C307186B01}"/>
              </a:ext>
            </a:extLst>
          </p:cNvPr>
          <p:cNvSpPr txBox="1">
            <a:spLocks/>
          </p:cNvSpPr>
          <p:nvPr/>
        </p:nvSpPr>
        <p:spPr>
          <a:xfrm>
            <a:off x="361950" y="3123124"/>
            <a:ext cx="8336882" cy="2206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人力による調査を水中ドローンを用いた調査に置き換え可能かどうかを検証する</a:t>
            </a: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indent="-342900" algn="l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altLang="ja-JP" kern="0" dirty="0">
              <a:solidFill>
                <a:srgbClr val="000000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Arial"/>
              <a:sym typeface="Arial"/>
            </a:endParaRPr>
          </a:p>
          <a:p>
            <a:pPr marL="342900" indent="-342900" algn="l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ja-JP" altLang="en-US" kern="0">
                <a:solidFill>
                  <a:srgbClr val="000000"/>
                </a:solidFill>
                <a:latin typeface="Noto Sans JP" panose="020B0200000000000000" pitchFamily="34" charset="-128"/>
                <a:ea typeface="Noto Sans JP" panose="020B0200000000000000" pitchFamily="34" charset="-128"/>
                <a:cs typeface="Arial"/>
                <a:sym typeface="Arial"/>
              </a:rPr>
              <a:t>地域課題の解決を目指す</a:t>
            </a:r>
            <a:endParaRPr lang="ja-JP" altLang="en-US">
              <a:solidFill>
                <a:srgbClr val="3D3D3D"/>
              </a:solidFill>
              <a:latin typeface="Noto Sans JP" panose="020B0200000000000000" pitchFamily="34" charset="-128"/>
              <a:ea typeface="Noto Sans JP" panose="020B0200000000000000" pitchFamily="34" charset="-128"/>
              <a:cs typeface="Source Han Sans JP"/>
              <a:sym typeface="Source Han Sans JP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93E6608-15FC-0987-3E08-3804971FF1A5}"/>
              </a:ext>
            </a:extLst>
          </p:cNvPr>
          <p:cNvSpPr txBox="1"/>
          <p:nvPr/>
        </p:nvSpPr>
        <p:spPr>
          <a:xfrm>
            <a:off x="9541042" y="429527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水中ドローンの画像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381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367</Words>
  <Application>Microsoft Macintosh PowerPoint</Application>
  <PresentationFormat>ワイド画面</PresentationFormat>
  <Paragraphs>70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Noto Sans JP</vt:lpstr>
      <vt:lpstr>游ゴシック</vt:lpstr>
      <vt:lpstr>游ゴシック Light</vt:lpstr>
      <vt:lpstr>Arial</vt:lpstr>
      <vt:lpstr>Wingdings</vt:lpstr>
      <vt:lpstr>Office テーマ</vt:lpstr>
      <vt:lpstr>電磁センサ搭載水中ドローンによる 海底沈殿した金属ゴミの探査 </vt:lpstr>
      <vt:lpstr>発表内容</vt:lpstr>
      <vt:lpstr>研究の背景</vt:lpstr>
      <vt:lpstr>研究の背景</vt:lpstr>
      <vt:lpstr>研究の背景</vt:lpstr>
      <vt:lpstr>研究の目的</vt:lpstr>
      <vt:lpstr>研究の目的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5I24 野下 航輝【鈴鹿】</dc:creator>
  <cp:lastModifiedBy>5I24 野下 航輝【鈴鹿】</cp:lastModifiedBy>
  <cp:revision>56</cp:revision>
  <dcterms:created xsi:type="dcterms:W3CDTF">2026-01-08T14:16:42Z</dcterms:created>
  <dcterms:modified xsi:type="dcterms:W3CDTF">2026-01-25T07:37:39Z</dcterms:modified>
</cp:coreProperties>
</file>